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21"/>
    <p:sldId id="271" r:id="rId22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  <Relationship Id="rId21" Type="http://schemas.openxmlformats.org/officeDocument/2006/relationships/slide" Target="slides/slide15.xml"/>
  <Relationship Id="rId22" Type="http://schemas.openxmlformats.org/officeDocument/2006/relationships/slide" Target="slides/slide16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Boulangerie/apps/web/public/logo-lomo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2888" y="685800"/>
            <a:ext cx="1645920" cy="164592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51460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Boulangerie </a:t>
            </a:r>
            <a:pPr algn="ctr" indent="0" marL="0">
              <a:buNone/>
            </a:pPr>
            <a:r>
              <a:rPr lang="en-US" sz="3200" b="1" dirty="0">
                <a:solidFill>
                  <a:srgbClr val="DA9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Lomoto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0" y="3127248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BAF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Pain Lia o Tonda »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998568" y="3794760"/>
            <a:ext cx="2194560" cy="0"/>
          </a:xfrm>
          <a:prstGeom prst="line">
            <a:avLst/>
          </a:prstGeom>
          <a:noFill/>
          <a:ln w="12700">
            <a:solidFill>
              <a:srgbClr val="DA9F4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0" y="40233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A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utilisateur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0" y="44348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Chargé des commandes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0" y="53492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A9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clients (écriture) · Commissions (lecture)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0" y="626364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 gestion commerciale — édition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guide est fait pour vous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6492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guide s'adresse à vous si vous occupez le poste de Chargé des commandes à la Boulangerie Lomoto.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vous accompagne pas à pas dans votre usage quotidien de l'application : enregistrer les commandes des clients, gérer les règlements de dette, et consulter les commissions qu'elles génèrent.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3977640"/>
            <a:ext cx="384048" cy="384048"/>
          </a:xfrm>
          <a:prstGeom prst="ellipse">
            <a:avLst/>
          </a:prstGeom>
          <a:solidFill>
            <a:srgbClr val="F3E3C3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1008" dirty="0"/>
          </a:p>
        </p:txBody>
      </p:sp>
      <p:sp>
        <p:nvSpPr>
          <p:cNvPr id="9" name="Text 7"/>
          <p:cNvSpPr/>
          <p:nvPr/>
        </p:nvSpPr>
        <p:spPr>
          <a:xfrm>
            <a:off x="1417320" y="397764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connecter avec votre adresse professionnelle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4507992"/>
            <a:ext cx="384048" cy="384048"/>
          </a:xfrm>
          <a:prstGeom prst="ellipse">
            <a:avLst/>
          </a:prstGeom>
          <a:solidFill>
            <a:srgbClr val="F3E3C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50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🧺</a:t>
            </a:r>
            <a:endParaRPr lang="en-US" sz="1008" dirty="0"/>
          </a:p>
        </p:txBody>
      </p:sp>
      <p:sp>
        <p:nvSpPr>
          <p:cNvPr id="12" name="Text 10"/>
          <p:cNvSpPr/>
          <p:nvPr/>
        </p:nvSpPr>
        <p:spPr>
          <a:xfrm>
            <a:off x="1417320" y="450799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Enregistrer une commande pour chaque client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5038344"/>
            <a:ext cx="384048" cy="384048"/>
          </a:xfrm>
          <a:prstGeom prst="ellipse">
            <a:avLst/>
          </a:prstGeom>
          <a:solidFill>
            <a:srgbClr val="F3E3C3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5038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1008" dirty="0"/>
          </a:p>
        </p:txBody>
      </p:sp>
      <p:sp>
        <p:nvSpPr>
          <p:cNvPr id="15" name="Text 13"/>
          <p:cNvSpPr/>
          <p:nvPr/>
        </p:nvSpPr>
        <p:spPr>
          <a:xfrm>
            <a:off x="1417320" y="503834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Encaisser un règlement sur une dette existante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8680" y="5568696"/>
            <a:ext cx="384048" cy="384048"/>
          </a:xfrm>
          <a:prstGeom prst="ellipse">
            <a:avLst/>
          </a:prstGeom>
          <a:solidFill>
            <a:srgbClr val="F3E3C3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568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</a:t>
            </a:r>
            <a:endParaRPr lang="en-US" sz="1008" dirty="0"/>
          </a:p>
        </p:txBody>
      </p:sp>
      <p:sp>
        <p:nvSpPr>
          <p:cNvPr id="18" name="Text 16"/>
          <p:cNvSpPr/>
          <p:nvPr/>
        </p:nvSpPr>
        <p:spPr>
          <a:xfrm>
            <a:off x="1417320" y="556869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les commissions « Maman » générées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680960" y="2526030"/>
            <a:ext cx="4096512" cy="2628900"/>
          </a:xfrm>
          <a:prstGeom prst="roundRect">
            <a:avLst>
              <a:gd name="adj" fmla="val 2087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20" name="Image 0" descr="/tmp/claude-0/-home-user-Boulangerie/f122e8ab-b408-5ce6-930c-e0c5bddf9e4c/scratchpad/captures/chargedescommandes/../caissiere/01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617470"/>
            <a:ext cx="3913632" cy="24460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Chargé des commandes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ACCÈS DANS L'APPLICATION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vous pouvez faire — et voir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670048" cy="434340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94767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AD5416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214884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Écriture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04088" y="256032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créez et modifiez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04088" y="3200400"/>
            <a:ext cx="22677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clients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37560" y="1691640"/>
            <a:ext cx="2670048" cy="434340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38728" y="194767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DA9F4E"/>
          </a:solidFill>
          <a:ln/>
        </p:spPr>
      </p:sp>
      <p:sp>
        <p:nvSpPr>
          <p:cNvPr id="11" name="Text 9"/>
          <p:cNvSpPr/>
          <p:nvPr/>
        </p:nvSpPr>
        <p:spPr>
          <a:xfrm>
            <a:off x="3538728" y="214884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seule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38728" y="256032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consultez, sans modifier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38728" y="3200400"/>
            <a:ext cx="22677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200" y="1691640"/>
            <a:ext cx="2670048" cy="434340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73368" y="194767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0F1923"/>
          </a:solidFill>
          <a:ln/>
        </p:spPr>
      </p:sp>
      <p:sp>
        <p:nvSpPr>
          <p:cNvPr id="16" name="Text 14"/>
          <p:cNvSpPr/>
          <p:nvPr/>
        </p:nvSpPr>
        <p:spPr>
          <a:xfrm>
            <a:off x="6373368" y="214884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Toujours accessible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73368" y="256032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que soit votre rôle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3368" y="3200400"/>
            <a:ext cx="22677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(catalogue)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(votre historique)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propos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06840" y="1691640"/>
            <a:ext cx="2670048" cy="434340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08008" y="194767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8A8F98"/>
          </a:solidFill>
          <a:ln/>
        </p:spPr>
      </p:sp>
      <p:sp>
        <p:nvSpPr>
          <p:cNvPr id="21" name="Text 19"/>
          <p:cNvSpPr/>
          <p:nvPr/>
        </p:nvSpPr>
        <p:spPr>
          <a:xfrm>
            <a:off x="9208008" y="214884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Hors de votre périmètre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08008" y="256032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Grisé dans le menu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208008" y="3200400"/>
            <a:ext cx="22677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Caisse, Stocks, Production,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Fournisseurs, Équipe,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Travailleurs, Paramètres,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Approbations, État système,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d'audit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610819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supérieur (le Caissier(ère)), le DG et les Admins voient toujours plus que vous — c'est la hiérarchie de permissions, pas une anomalie.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Chargé des commandes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 ÉTAPE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connecter à l'application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457200" cy="457200"/>
          </a:xfrm>
          <a:prstGeom prst="ellipse">
            <a:avLst/>
          </a:prstGeom>
          <a:solidFill>
            <a:srgbClr val="0F1923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A9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67335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Ouvrez l'application dans votre navigateur (ordinateur, tablette ou téléphone).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606040"/>
            <a:ext cx="457200" cy="457200"/>
          </a:xfrm>
          <a:prstGeom prst="ellipse">
            <a:avLst/>
          </a:prstGeom>
          <a:solidFill>
            <a:srgbClr val="0F1923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A9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258775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Saisissez votre adresse professionnelle — format prenom.nom@boulangerie-lomoto.com.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520440"/>
            <a:ext cx="457200" cy="457200"/>
          </a:xfrm>
          <a:prstGeom prst="ellipse">
            <a:avLst/>
          </a:prstGeom>
          <a:solidFill>
            <a:srgbClr val="0F1923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A9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350215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Saisissez le mot de passe qui vous a été communiqué par l'Administrateur.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434840"/>
            <a:ext cx="457200" cy="457200"/>
          </a:xfrm>
          <a:prstGeom prst="ellipse">
            <a:avLst/>
          </a:prstGeom>
          <a:solidFill>
            <a:srgbClr val="0F1923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A9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441655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« Se connecter ».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5394960"/>
            <a:ext cx="5303520" cy="777240"/>
          </a:xfrm>
          <a:prstGeom prst="roundRect">
            <a:avLst>
              <a:gd name="adj" fmla="val 7059"/>
            </a:avLst>
          </a:prstGeom>
          <a:solidFill>
            <a:srgbClr val="F3E3C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4864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4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identifiant de connexion est toujours l'adresse professionnelle liée à votre fiche — vous ne pouvez pas la choisir ni la modifier vous-même.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0760" y="2080260"/>
            <a:ext cx="566928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19" name="Image 0" descr="/tmp/claude-0/-home-user-Boulangerie/f122e8ab-b408-5ce6-930c-e0c5bddf9e4c/scratchpad/captures/chargedescommandes/../caissiere/01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2171700"/>
            <a:ext cx="5486400" cy="34290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Chargé des commandes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REPÉRER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menu et la navigation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09294" y="1371600"/>
            <a:ext cx="1650492" cy="5074920"/>
          </a:xfrm>
          <a:prstGeom prst="roundRect">
            <a:avLst>
              <a:gd name="adj" fmla="val 3324"/>
            </a:avLst>
          </a:prstGeom>
          <a:solidFill>
            <a:srgbClr val="FFFFFF"/>
          </a:solidFill>
          <a:ln w="12700">
            <a:solidFill>
              <a:srgbClr val="0F1923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5" name="Image 0" descr="/tmp/claude-0/-home-user-Boulangerie/f122e8ab-b408-5ce6-930c-e0c5bddf9e4c/scratchpad/captures/chargedescommandes/02-me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0734" y="1463040"/>
            <a:ext cx="1467612" cy="4892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977640" y="160020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DA9F4E"/>
          </a:solidFill>
          <a:ln/>
        </p:spPr>
      </p:sp>
      <p:sp>
        <p:nvSpPr>
          <p:cNvPr id="7" name="Text 4"/>
          <p:cNvSpPr/>
          <p:nvPr/>
        </p:nvSpPr>
        <p:spPr>
          <a:xfrm>
            <a:off x="4315968" y="15087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clair et cliquable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315968" y="1892808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(votre écriture), Commissions, Tableau de bord, Produits, Rapports, Assistant, À propos.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977640" y="310896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8A8F98"/>
          </a:solidFill>
          <a:ln/>
        </p:spPr>
      </p:sp>
      <p:sp>
        <p:nvSpPr>
          <p:cNvPr id="10" name="Text 7"/>
          <p:cNvSpPr/>
          <p:nvPr/>
        </p:nvSpPr>
        <p:spPr>
          <a:xfrm>
            <a:off x="4315968" y="30175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Grisé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315968" y="3401568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 de votre périmètre — Caisse, Stocks, Production, Fournisseurs, Équipe, Travailleurs, Paramètres, Approbations, État système, Journal d'audit.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977640" y="50749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: votre nom et votre rôle sont toujours visibles en bas de la barre latérale, avec le bouton « Se déconnecter ».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Chargé des commandes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COMMANDES — ÉCRITURE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Enregistrer une commande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385352"/>
            <a:ext cx="5577840" cy="5093137"/>
          </a:xfrm>
          <a:prstGeom prst="roundRect">
            <a:avLst>
              <a:gd name="adj" fmla="val 1077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5" name="Image 0" descr="/tmp/claude-0/-home-user-Boulangerie/f122e8ab-b408-5ce6-930c-e0c5bddf9e4c/scratchpad/captures/chargedescommandes/04-commandes-dialog-nouvel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76792"/>
            <a:ext cx="5394960" cy="49102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09360" y="15087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A9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675120" y="150876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Choisissez le client dans la liste — la qualité (Dépositaire, Maman, VC) fixe le prix par bac.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309360" y="23774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A9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75120" y="23774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Saisissez le nombre de bacs reçus.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309360" y="32461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A9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675120" y="324612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Saisissez le montant réellement encaissé — le brut, l'avance utilisée, le montant à percevoir et une éventuelle nouvelle avance se calculent tout seuls.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309360" y="4206240"/>
            <a:ext cx="5257800" cy="1417320"/>
          </a:xfrm>
          <a:prstGeom prst="roundRect">
            <a:avLst>
              <a:gd name="adj" fmla="val 4516"/>
            </a:avLst>
          </a:prstGeom>
          <a:solidFill>
            <a:srgbClr val="F3E3C3"/>
          </a:solidFill>
          <a:ln/>
        </p:spPr>
      </p:sp>
      <p:sp>
        <p:nvSpPr>
          <p:cNvPr id="13" name="Text 10"/>
          <p:cNvSpPr/>
          <p:nvPr/>
        </p:nvSpPr>
        <p:spPr>
          <a:xfrm>
            <a:off x="6537960" y="4315968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chiffré —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4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comptoir (Vente cash, 4.350 Fc/bac), 18 bacs reçus, 78.300 Fc encaissés :
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5B4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× 4.350 = 78.300 Fc de montant brut, intégralement reçu → 0 Fc de dette, 0 Fc de nouvelle avance.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Chargé des commandes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COMMANDES — ÉCRITURE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Piège à éviter : le doublon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427500"/>
            <a:ext cx="5577840" cy="5008840"/>
          </a:xfrm>
          <a:prstGeom prst="roundRect">
            <a:avLst>
              <a:gd name="adj" fmla="val 1095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5" name="Image 0" descr="/tmp/claude-0/-home-user-Boulangerie/f122e8ab-b408-5ce6-930c-e0c5bddf9e4c/scratchpad/captures/chargedescommandes/05-commandes-dialog-doubl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18940"/>
            <a:ext cx="5394960" cy="4825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09360" y="1508760"/>
            <a:ext cx="5257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vous enregistrez une seconde commande pour un client qui en a déjà une aujourd'hui, l'application ne crée jamais de doublon silencieux : elle vous arrête et vous demande de choisir.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309360" y="269748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09360" y="301752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Additionne votre nouvelle saisie à la commande déjà enregistrée — utile si le client est repassé chercher plus de bacs dans la journée.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309360" y="384048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Remplacer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309360" y="416052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Écrase l'ancienne saisie, qui était une erreur — utile si vous vous êtes trompé de chiffres la première fois.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309360" y="5074920"/>
            <a:ext cx="5257800" cy="777240"/>
          </a:xfrm>
          <a:prstGeom prst="roundRect">
            <a:avLst>
              <a:gd name="adj" fmla="val 8235"/>
            </a:avLst>
          </a:prstGeom>
          <a:solidFill>
            <a:srgbClr val="F3E3C3"/>
          </a:solidFill>
          <a:ln/>
        </p:spPr>
      </p:sp>
      <p:sp>
        <p:nvSpPr>
          <p:cNvPr id="12" name="Text 9"/>
          <p:cNvSpPr/>
          <p:nvPr/>
        </p:nvSpPr>
        <p:spPr>
          <a:xfrm>
            <a:off x="6537960" y="516636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4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numéro de commande, lui, ne change jamais — aucune seconde commande n'est créée, quel que soit votre choix.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Chargé des commandes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COMMANDES — ÉCRITURE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Encaisser un règlement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964888"/>
            <a:ext cx="5577840" cy="3934063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5" name="Image 0" descr="/tmp/claude-0/-home-user-Boulangerie/f122e8ab-b408-5ce6-930c-e0c5bddf9e4c/scratchpad/captures/chargedescommandes/06-commandes-dialog-regl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056328"/>
            <a:ext cx="5394960" cy="37511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09360" y="1508760"/>
            <a:ext cx="5257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une commande qui porte encore une dette, le bouton « Régler » ouvre ce formulaire. Le montant saisi s'ajoute au montant déjà reçu — la dette (et une éventuelle avance générée) se recalculent automatiquement.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309360" y="2926080"/>
            <a:ext cx="5257800" cy="1280160"/>
          </a:xfrm>
          <a:prstGeom prst="roundRect">
            <a:avLst>
              <a:gd name="adj" fmla="val 5000"/>
            </a:avLst>
          </a:prstGeom>
          <a:solidFill>
            <a:srgbClr val="F3E3C3"/>
          </a:solidFill>
          <a:ln/>
        </p:spPr>
      </p:sp>
      <p:sp>
        <p:nvSpPr>
          <p:cNvPr id="8" name="Text 5"/>
          <p:cNvSpPr/>
          <p:nvPr/>
        </p:nvSpPr>
        <p:spPr>
          <a:xfrm>
            <a:off x="6537960" y="3035808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chiffré —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4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n°20, dette de 20.000 Fc. Un règlement de 20.000 Fc est encaissé intégralement :
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5B4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20.000 − 20.000 = 0 Fc — la commande passe « soldée ».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309360" y="443484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règlement partiel est tout aussi valide : la dette diminue simplement du montant versé, sans jamais repasser sous 0.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Chargé des commandes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COMMISSIONS — LECTURE SEULE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Consulter les commissions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DA9F4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916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seule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224028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dédiée aux commandes des clientes « Maman » — les seules à générer une commission. Le calcul est entièrement automatique : 1.650 Fc par bac reçu, dès que vous enregistrez la commande.</a:t>
            </a:r>
            <a:endParaRPr lang="en-US" sz="1300" dirty="0"/>
          </a:p>
          <a:p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commande Maman apparaît ici immédiatement après sa création, sans action supplémentaire de votre part.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4590288"/>
            <a:ext cx="82296" cy="82296"/>
          </a:xfrm>
          <a:prstGeom prst="ellipse">
            <a:avLst/>
          </a:prstGeom>
          <a:solidFill>
            <a:srgbClr val="AD5416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4526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des commissions sur la période affichée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4992624"/>
            <a:ext cx="82296" cy="82296"/>
          </a:xfrm>
          <a:prstGeom prst="ellipse">
            <a:avLst/>
          </a:prstGeom>
          <a:solidFill>
            <a:srgbClr val="AD5416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" y="492861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possible en PDF ou impression directe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80760" y="2080260"/>
            <a:ext cx="566928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12" name="Image 0" descr="/tmp/claude-0/-home-user-Boulangerie/f122e8ab-b408-5ce6-930c-e0c5bddf9e4c/scratchpad/captures/chargedescommandes/08-commissions-lis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2171700"/>
            <a:ext cx="5486400" cy="3429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Chargé des commandes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RESTER INFORMÉ(E)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 en temps réel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cloche en haut à droite affiche un badge dès qu'une dette que vous suivez traîne depuis la veille — l'alerte « Priorité haute » ressort en rouge sur le Tableau de bord comme dans le fil d'activité.</a:t>
            </a:r>
            <a:endParaRPr lang="en-US" sz="1300" dirty="0"/>
          </a:p>
          <a:p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propres commandes ne se notifient pas vous-même — c'est votre supérieur, le Caissier(ère), et les Admins qui en sont informés en temps réel.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4087368"/>
            <a:ext cx="82296" cy="82296"/>
          </a:xfrm>
          <a:prstGeom prst="ellipse">
            <a:avLst/>
          </a:prstGeom>
          <a:solidFill>
            <a:srgbClr val="AD5416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4023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Tout lire » marque toutes les notifications comme vues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4489704"/>
            <a:ext cx="82296" cy="82296"/>
          </a:xfrm>
          <a:prstGeom prst="ellipse">
            <a:avLst/>
          </a:prstGeom>
          <a:solidFill>
            <a:srgbClr val="AD5416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442569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à installer : ça fonctionne tant que vous êtes connecté(e)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80760" y="2080260"/>
            <a:ext cx="566928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10" name="Image 0" descr="/tmp/claude-0/-home-user-Boulangerie/f122e8ab-b408-5ce6-930c-e0c5bddf9e4c/scratchpad/captures/chargedescommandes/09-notifications-ouver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2171700"/>
            <a:ext cx="5486400" cy="3429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Chargé des commandes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D'AIDE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Écrire à un Administrateur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Assistant, écrivez votre question dans la zone de texte en bas de l'écran puis cliquez sur « Envoyer ». Vous pouvez aussi joindre une capture d'écran pour montrer exactement ce que vous voyez.</a:t>
            </a:r>
            <a:endParaRPr lang="en-US" sz="1300" dirty="0"/>
          </a:p>
          <a:p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message part directement à la file des Administrateurs — n'importe lequel des trois comptes Admin peut vous répondre, en temps réel.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4178808"/>
            <a:ext cx="82296" cy="82296"/>
          </a:xfrm>
          <a:prstGeom prst="ellipse">
            <a:avLst/>
          </a:prstGeom>
          <a:solidFill>
            <a:srgbClr val="AD5416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4114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conversation active à la fois, tout l'historique reste visible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4581144"/>
            <a:ext cx="82296" cy="82296"/>
          </a:xfrm>
          <a:prstGeom prst="ellipse">
            <a:avLst/>
          </a:prstGeom>
          <a:solidFill>
            <a:srgbClr val="AD5416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45171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Utile pour toute question sur une règle de saisie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80760" y="2080260"/>
            <a:ext cx="566928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10" name="Image 0" descr="/tmp/claude-0/-home-user-Boulangerie/f122e8ab-b408-5ce6-930c-e0c5bddf9e4c/scratchpad/captures/chargedescommandes/11-assistant-convers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2171700"/>
            <a:ext cx="5486400" cy="3429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Chargé des commandes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HISTORIQUE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Consulter vos rapports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L'écran Rapports affiche votre propre journal d'activité — chaque commande enregistrée, chaque règlement encaissé, avec la date et un résumé clair.</a:t>
            </a:r>
            <a:endParaRPr lang="en-US" sz="1300" dirty="0"/>
          </a:p>
          <a:p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Filtrez par type d'action ou par période, puis imprimez ou téléchargez en PDF pour vos archives.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4041648"/>
            <a:ext cx="82296" cy="82296"/>
          </a:xfrm>
          <a:prstGeom prst="ellipse">
            <a:avLst/>
          </a:prstGeom>
          <a:solidFill>
            <a:srgbClr val="AD5416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3977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strictement personnel — pas de subordonné à votre poste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4443984"/>
            <a:ext cx="82296" cy="82296"/>
          </a:xfrm>
          <a:prstGeom prst="ellipse">
            <a:avLst/>
          </a:prstGeom>
          <a:solidFill>
            <a:srgbClr val="AD5416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43799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ligne indique quand et un résumé chiffré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80760" y="2080260"/>
            <a:ext cx="566928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10" name="Image 0" descr="/tmp/claude-0/-home-user-Boulangerie/f122e8ab-b408-5ce6-930c-e0c5bddf9e4c/scratchpad/captures/chargedescommandes/10-rapports-personne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2171700"/>
            <a:ext cx="5486400" cy="3429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Chargé des commandes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A9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Votre routine quotidienne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35075" y="3451860"/>
            <a:ext cx="9321546" cy="0"/>
          </a:xfrm>
          <a:prstGeom prst="line">
            <a:avLst/>
          </a:prstGeom>
          <a:noFill/>
          <a:ln w="19050">
            <a:solidFill>
              <a:srgbClr val="DA9F4E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000735" y="3017520"/>
            <a:ext cx="868680" cy="868680"/>
          </a:xfrm>
          <a:prstGeom prst="ellipse">
            <a:avLst/>
          </a:prstGeom>
          <a:solidFill>
            <a:srgbClr val="1C2B3A"/>
          </a:solidFill>
          <a:ln w="25400">
            <a:solidFill>
              <a:srgbClr val="DA9F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0735" y="3017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dirty="0">
                <a:solidFill>
                  <a:srgbClr val="000000"/>
                </a:solidFill>
              </a:rPr>
              <a:t>🔑</a:t>
            </a:r>
            <a:endParaRPr lang="en-US" sz="2280" dirty="0"/>
          </a:p>
        </p:txBody>
      </p:sp>
      <p:sp>
        <p:nvSpPr>
          <p:cNvPr id="7" name="Shape 5"/>
          <p:cNvSpPr/>
          <p:nvPr/>
        </p:nvSpPr>
        <p:spPr>
          <a:xfrm>
            <a:off x="1649959" y="2926080"/>
            <a:ext cx="310896" cy="310896"/>
          </a:xfrm>
          <a:prstGeom prst="ellipse">
            <a:avLst/>
          </a:prstGeom>
          <a:solidFill>
            <a:srgbClr val="DA9F4E"/>
          </a:solidFill>
          <a:ln w="19050">
            <a:solidFill>
              <a:srgbClr val="0F19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9959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4114800"/>
            <a:ext cx="18643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4480560"/>
            <a:ext cx="168142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A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 professionnelle + mot de passe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65044" y="3017520"/>
            <a:ext cx="868680" cy="868680"/>
          </a:xfrm>
          <a:prstGeom prst="ellipse">
            <a:avLst/>
          </a:prstGeom>
          <a:solidFill>
            <a:srgbClr val="1C2B3A"/>
          </a:solidFill>
          <a:ln w="25400">
            <a:solidFill>
              <a:srgbClr val="DA9F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65044" y="3017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dirty="0">
                <a:solidFill>
                  <a:srgbClr val="000000"/>
                </a:solidFill>
              </a:rPr>
              <a:t>🧺</a:t>
            </a:r>
            <a:endParaRPr lang="en-US" sz="2280" dirty="0"/>
          </a:p>
        </p:txBody>
      </p:sp>
      <p:sp>
        <p:nvSpPr>
          <p:cNvPr id="13" name="Shape 11"/>
          <p:cNvSpPr/>
          <p:nvPr/>
        </p:nvSpPr>
        <p:spPr>
          <a:xfrm>
            <a:off x="3514268" y="2926080"/>
            <a:ext cx="310896" cy="310896"/>
          </a:xfrm>
          <a:prstGeom prst="ellipse">
            <a:avLst/>
          </a:prstGeom>
          <a:solidFill>
            <a:srgbClr val="DA9F4E"/>
          </a:solidFill>
          <a:ln w="19050">
            <a:solidFill>
              <a:srgbClr val="0F19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14268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67229" y="4114800"/>
            <a:ext cx="18643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58669" y="4480560"/>
            <a:ext cx="168142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A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entrée par client, par jour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29353" y="3017520"/>
            <a:ext cx="868680" cy="868680"/>
          </a:xfrm>
          <a:prstGeom prst="ellipse">
            <a:avLst/>
          </a:prstGeom>
          <a:solidFill>
            <a:srgbClr val="1C2B3A"/>
          </a:solidFill>
          <a:ln w="25400">
            <a:solidFill>
              <a:srgbClr val="DA9F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29353" y="3017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dirty="0">
                <a:solidFill>
                  <a:srgbClr val="000000"/>
                </a:solidFill>
              </a:rPr>
              <a:t>⚠️</a:t>
            </a:r>
            <a:endParaRPr lang="en-US" sz="2280" dirty="0"/>
          </a:p>
        </p:txBody>
      </p:sp>
      <p:sp>
        <p:nvSpPr>
          <p:cNvPr id="19" name="Shape 17"/>
          <p:cNvSpPr/>
          <p:nvPr/>
        </p:nvSpPr>
        <p:spPr>
          <a:xfrm>
            <a:off x="5378577" y="2926080"/>
            <a:ext cx="310896" cy="310896"/>
          </a:xfrm>
          <a:prstGeom prst="ellipse">
            <a:avLst/>
          </a:prstGeom>
          <a:solidFill>
            <a:srgbClr val="DA9F4E"/>
          </a:solidFill>
          <a:ln w="19050">
            <a:solidFill>
              <a:srgbClr val="0F19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78577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31538" y="4114800"/>
            <a:ext cx="18643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322978" y="4480560"/>
            <a:ext cx="168142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A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ou remplacer, jamais en double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93662" y="3017520"/>
            <a:ext cx="868680" cy="868680"/>
          </a:xfrm>
          <a:prstGeom prst="ellipse">
            <a:avLst/>
          </a:prstGeom>
          <a:solidFill>
            <a:srgbClr val="1C2B3A"/>
          </a:solidFill>
          <a:ln w="25400">
            <a:solidFill>
              <a:srgbClr val="DA9F4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93662" y="3017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dirty="0">
                <a:solidFill>
                  <a:srgbClr val="000000"/>
                </a:solidFill>
              </a:rPr>
              <a:t>💰</a:t>
            </a:r>
            <a:endParaRPr lang="en-US" sz="2280" dirty="0"/>
          </a:p>
        </p:txBody>
      </p:sp>
      <p:sp>
        <p:nvSpPr>
          <p:cNvPr id="25" name="Shape 23"/>
          <p:cNvSpPr/>
          <p:nvPr/>
        </p:nvSpPr>
        <p:spPr>
          <a:xfrm>
            <a:off x="7242886" y="2926080"/>
            <a:ext cx="310896" cy="310896"/>
          </a:xfrm>
          <a:prstGeom prst="ellipse">
            <a:avLst/>
          </a:prstGeom>
          <a:solidFill>
            <a:srgbClr val="DA9F4E"/>
          </a:solidFill>
          <a:ln w="19050">
            <a:solidFill>
              <a:srgbClr val="0F19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42886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95848" y="4114800"/>
            <a:ext cx="18643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Règlements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87288" y="4480560"/>
            <a:ext cx="168142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A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Dettes encaissées au fil de l'eau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457971" y="3017520"/>
            <a:ext cx="868680" cy="868680"/>
          </a:xfrm>
          <a:prstGeom prst="ellipse">
            <a:avLst/>
          </a:prstGeom>
          <a:solidFill>
            <a:srgbClr val="1C2B3A"/>
          </a:solidFill>
          <a:ln w="25400">
            <a:solidFill>
              <a:srgbClr val="DA9F4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57971" y="3017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dirty="0">
                <a:solidFill>
                  <a:srgbClr val="000000"/>
                </a:solidFill>
              </a:rPr>
              <a:t>🔔</a:t>
            </a:r>
            <a:endParaRPr lang="en-US" sz="2280" dirty="0"/>
          </a:p>
        </p:txBody>
      </p:sp>
      <p:sp>
        <p:nvSpPr>
          <p:cNvPr id="31" name="Shape 29"/>
          <p:cNvSpPr/>
          <p:nvPr/>
        </p:nvSpPr>
        <p:spPr>
          <a:xfrm>
            <a:off x="9107195" y="2926080"/>
            <a:ext cx="310896" cy="310896"/>
          </a:xfrm>
          <a:prstGeom prst="ellipse">
            <a:avLst/>
          </a:prstGeom>
          <a:solidFill>
            <a:srgbClr val="DA9F4E"/>
          </a:solidFill>
          <a:ln w="19050">
            <a:solidFill>
              <a:srgbClr val="0F19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07195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960157" y="4114800"/>
            <a:ext cx="18643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051597" y="4480560"/>
            <a:ext cx="168142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A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Dette qui traîne = priorité haute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322281" y="3017520"/>
            <a:ext cx="868680" cy="868680"/>
          </a:xfrm>
          <a:prstGeom prst="ellipse">
            <a:avLst/>
          </a:prstGeom>
          <a:solidFill>
            <a:srgbClr val="1C2B3A"/>
          </a:solidFill>
          <a:ln w="25400">
            <a:solidFill>
              <a:srgbClr val="DA9F4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322281" y="3017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dirty="0">
                <a:solidFill>
                  <a:srgbClr val="000000"/>
                </a:solidFill>
              </a:rPr>
              <a:t>📊</a:t>
            </a:r>
            <a:endParaRPr lang="en-US" sz="2280" dirty="0"/>
          </a:p>
        </p:txBody>
      </p:sp>
      <p:sp>
        <p:nvSpPr>
          <p:cNvPr id="37" name="Shape 35"/>
          <p:cNvSpPr/>
          <p:nvPr/>
        </p:nvSpPr>
        <p:spPr>
          <a:xfrm>
            <a:off x="10971505" y="2926080"/>
            <a:ext cx="310896" cy="310896"/>
          </a:xfrm>
          <a:prstGeom prst="ellipse">
            <a:avLst/>
          </a:prstGeom>
          <a:solidFill>
            <a:srgbClr val="DA9F4E"/>
          </a:solidFill>
          <a:ln w="19050">
            <a:solidFill>
              <a:srgbClr val="0F192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971505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824466" y="4114800"/>
            <a:ext cx="18643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915906" y="4480560"/>
            <a:ext cx="168142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A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de votre journée, export si besoin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Chargé des commandes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Boulangerie/apps/web/public/logo-lomo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5768" y="1371600"/>
            <a:ext cx="1280160" cy="128016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346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!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1981048" y="3703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A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question, un doute sur un écran ? Ouvrez l'Assistant et écrivez à un Administrateur.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998568" y="4434840"/>
            <a:ext cx="2194560" cy="0"/>
          </a:xfrm>
          <a:prstGeom prst="line">
            <a:avLst/>
          </a:prstGeom>
          <a:noFill/>
          <a:ln w="12700">
            <a:solidFill>
              <a:srgbClr val="DA9F4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0" y="46634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A9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Boulangerie Lomoto · « Pain Lia o Tonda »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Chargé des commandes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SOUS-MODULE DE COMMANDES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Gérer les clients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DA9F4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916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Écriture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224028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bouton « Gérer les clients », en haut de l'écran Commandes, ouvre un écran à part avec la liste complète de vos clients — pour ne pas encombrer la saisie quotidienne des commandes.</a:t>
            </a:r>
            <a:endParaRPr lang="en-US" sz="1300" dirty="0"/>
          </a:p>
          <a:p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ligne affiche le téléphone, la qualité (Dépositaire, Maman, VC) et, pour les Dépositaires, la zone de dépôt utilisée dans le Schéma de commande du Responsable de production.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4590288"/>
            <a:ext cx="82296" cy="82296"/>
          </a:xfrm>
          <a:prstGeom prst="ellipse">
            <a:avLst/>
          </a:prstGeom>
          <a:solidFill>
            <a:srgbClr val="AD5416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4526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Rechercher un client par nom, en temps réel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4992624"/>
            <a:ext cx="82296" cy="82296"/>
          </a:xfrm>
          <a:prstGeom prst="ellipse">
            <a:avLst/>
          </a:prstGeom>
          <a:solidFill>
            <a:srgbClr val="AD5416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" y="492861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bloquée si le client a déjà des commandes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80760" y="2080260"/>
            <a:ext cx="566928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12" name="Image 0" descr="/tmp/claude-0/-home-user-Boulangerie/f122e8ab-b408-5ce6-930c-e0c5bddf9e4c/scratchpad/captures/chargedescommandes/12-clients-lis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1582" y="2171700"/>
            <a:ext cx="4987636" cy="3429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Chargé des commandes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SOUS-MODULE DE COMMANDES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Modifier un client : la zone de dépôt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DA9F4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916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Écriture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224028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modifiant un client Dépositaire, une liste déroulante « Zone de dépôt » apparaît — un simple regroupement géographique (aucun effet sur le prix ni la commission), utilisé pour trier l'affichage du Schéma de commande par tournée.</a:t>
            </a:r>
            <a:endParaRPr lang="en-US" sz="1300" dirty="0"/>
          </a:p>
          <a:p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zone dont vous avez besoin n'existe pas encore, elle doit être créée depuis l'écran Production par le Responsable de production ou un Administrateur — vous pourrez alors l'assigner ici en un clic.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4590288"/>
            <a:ext cx="82296" cy="82296"/>
          </a:xfrm>
          <a:prstGeom prst="ellipse">
            <a:avLst/>
          </a:prstGeom>
          <a:solidFill>
            <a:srgbClr val="AD5416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4526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Dépositaire peut rester « Sans zone », sans conséquence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4992624"/>
            <a:ext cx="82296" cy="82296"/>
          </a:xfrm>
          <a:prstGeom prst="ellipse">
            <a:avLst/>
          </a:prstGeom>
          <a:solidFill>
            <a:srgbClr val="AD5416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" y="492861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zone n'a aucun effet sur le calcul de la commande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80760" y="2080260"/>
            <a:ext cx="566928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12" name="Image 0" descr="/tmp/claude-0/-home-user-Boulangerie/f122e8ab-b408-5ce6-930c-e0c5bddf9e4c/scratchpad/captures/chargedescommandes/13-clients-dialog-modifi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8277" y="2171700"/>
            <a:ext cx="4694246" cy="3429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Chargé des commandes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Guide utilisateur — Chargé des commandes</dc:title>
  <dc:subject>PptxGenJS Presentation</dc:subject>
  <dc:creator>Boulangerie Lomoto</dc:creator>
  <cp:lastModifiedBy>Boulangerie Lomoto</cp:lastModifiedBy>
  <cp:revision>1</cp:revision>
  <dcterms:created xsi:type="dcterms:W3CDTF">2026-08-06T21:41:01Z</dcterms:created>
  <dcterms:modified xsi:type="dcterms:W3CDTF">2026-08-06T21:41:01Z</dcterms:modified>
</cp:coreProperties>
</file>