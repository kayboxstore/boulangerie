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9" r:id="rId20"/>
    <p:sldId id="270" r:id="rId21"/>
    <p:sldId id="271" r:id="rId22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  <Relationship Id="rId20" Type="http://schemas.openxmlformats.org/officeDocument/2006/relationships/slide" Target="slides/slide14.xml"/>
  <Relationship Id="rId21" Type="http://schemas.openxmlformats.org/officeDocument/2006/relationships/slide" Target="slides/slide15.xml"/>
  <Relationship Id="rId22" Type="http://schemas.openxmlformats.org/officeDocument/2006/relationships/slide" Target="slides/slide16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oulangerie/apps/web/public/logo-lomo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72888" y="685800"/>
            <a:ext cx="1645920" cy="1645920"/>
          </a:xfrm>
          <a:prstGeom prst="ellipse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514600"/>
            <a:ext cx="12191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Boulangerie </a:t>
            </a:r>
            <a:pPr algn="ctr" indent="0" marL="0">
              <a:buNone/>
            </a:pPr>
            <a:r>
              <a:rPr lang="en-US" sz="3200" b="1" dirty="0">
                <a:solidFill>
                  <a:srgbClr val="DA9F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Lomoto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0" y="3127248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BAF9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 Pain Lia o Tonda »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4998568" y="3794760"/>
            <a:ext cx="2194560" cy="0"/>
          </a:xfrm>
          <a:prstGeom prst="line">
            <a:avLst/>
          </a:prstGeom>
          <a:noFill/>
          <a:ln w="12700">
            <a:solidFill>
              <a:srgbClr val="DA9F4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0" y="402336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AF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utilisateur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0" y="443484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Responsable de production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0" y="53492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A9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(écriture)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0" y="626364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de gestion commerciale — édition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D5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BIENVENUE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9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guide est fait pour vous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649224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CBAF9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7452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guide s'adresse à vous si vous occupez le poste de Responsable de production à la Boulangerie Lomoto.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6974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vous accompagne pas à pas dans votre usage quotidien de l'application : planifier la production du lendemain, enregistrer ce qui a réellement été produit, et suivre les écarts entre les deux.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68680" y="3977640"/>
            <a:ext cx="384048" cy="384048"/>
          </a:xfrm>
          <a:prstGeom prst="ellipse">
            <a:avLst/>
          </a:prstGeom>
          <a:solidFill>
            <a:srgbClr val="F3E3C3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8" b="1" dirty="0">
                <a:solidFill>
                  <a:srgbClr val="AD5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</a:t>
            </a:r>
            <a:endParaRPr lang="en-US" sz="1008" dirty="0"/>
          </a:p>
        </p:txBody>
      </p:sp>
      <p:sp>
        <p:nvSpPr>
          <p:cNvPr id="9" name="Text 7"/>
          <p:cNvSpPr/>
          <p:nvPr/>
        </p:nvSpPr>
        <p:spPr>
          <a:xfrm>
            <a:off x="1417320" y="397764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connecter avec votre adresse professionnelle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68680" y="4507992"/>
            <a:ext cx="384048" cy="384048"/>
          </a:xfrm>
          <a:prstGeom prst="ellipse">
            <a:avLst/>
          </a:prstGeom>
          <a:solidFill>
            <a:srgbClr val="F3E3C3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8" b="1" dirty="0">
                <a:solidFill>
                  <a:srgbClr val="AD5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🗓</a:t>
            </a:r>
            <a:endParaRPr lang="en-US" sz="1008" dirty="0"/>
          </a:p>
        </p:txBody>
      </p:sp>
      <p:sp>
        <p:nvSpPr>
          <p:cNvPr id="12" name="Text 10"/>
          <p:cNvSpPr/>
          <p:nvPr/>
        </p:nvSpPr>
        <p:spPr>
          <a:xfrm>
            <a:off x="1417320" y="450799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Planifier la production du jour suivant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8680" y="5038344"/>
            <a:ext cx="384048" cy="384048"/>
          </a:xfrm>
          <a:prstGeom prst="ellipse">
            <a:avLst/>
          </a:prstGeom>
          <a:solidFill>
            <a:srgbClr val="F3E3C3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5038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8" b="1" dirty="0">
                <a:solidFill>
                  <a:srgbClr val="AD5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🍞</a:t>
            </a:r>
            <a:endParaRPr lang="en-US" sz="1008" dirty="0"/>
          </a:p>
        </p:txBody>
      </p:sp>
      <p:sp>
        <p:nvSpPr>
          <p:cNvPr id="15" name="Text 13"/>
          <p:cNvSpPr/>
          <p:nvPr/>
        </p:nvSpPr>
        <p:spPr>
          <a:xfrm>
            <a:off x="1417320" y="503834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Enregistrer chaque production réalisée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68680" y="5568696"/>
            <a:ext cx="384048" cy="384048"/>
          </a:xfrm>
          <a:prstGeom prst="ellipse">
            <a:avLst/>
          </a:prstGeom>
          <a:solidFill>
            <a:srgbClr val="F3E3C3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5568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8" b="1" dirty="0">
                <a:solidFill>
                  <a:srgbClr val="AD5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</a:t>
            </a:r>
            <a:endParaRPr lang="en-US" sz="1008" dirty="0"/>
          </a:p>
        </p:txBody>
      </p:sp>
      <p:sp>
        <p:nvSpPr>
          <p:cNvPr id="18" name="Text 16"/>
          <p:cNvSpPr/>
          <p:nvPr/>
        </p:nvSpPr>
        <p:spPr>
          <a:xfrm>
            <a:off x="1417320" y="5568696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Suivre les écarts entre prévu et réalisé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680960" y="2526030"/>
            <a:ext cx="4096512" cy="2628900"/>
          </a:xfrm>
          <a:prstGeom prst="roundRect">
            <a:avLst>
              <a:gd name="adj" fmla="val 2087"/>
            </a:avLst>
          </a:prstGeom>
          <a:solidFill>
            <a:srgbClr val="FFFFFF"/>
          </a:solidFill>
          <a:ln w="12700">
            <a:solidFill>
              <a:srgbClr val="CBAF91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28000"/>
              </a:srgbClr>
            </a:outerShdw>
          </a:effectLst>
        </p:spPr>
      </p:sp>
      <p:pic>
        <p:nvPicPr>
          <p:cNvPr id="20" name="Image 0" descr="/tmp/claude-0/-home-user-Boulangerie/f122e8ab-b408-5ce6-930c-e0c5bddf9e4c/scratchpad/captures/production/../caissiere/01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617470"/>
            <a:ext cx="3913632" cy="244602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Boulangerie Lomoto — Guide Responsable de production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D5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ACCÈS DANS L'APPLICATION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9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vous pouvez faire — et voir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2670048" cy="4343400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 w="12700">
            <a:solidFill>
              <a:srgbClr val="CBAF9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1947672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AD5416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2148840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9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Écriture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04088" y="256032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créez et modifiez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04088" y="3200400"/>
            <a:ext cx="226771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37560" y="1691640"/>
            <a:ext cx="2670048" cy="4343400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 w="12700">
            <a:solidFill>
              <a:srgbClr val="CBAF9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38728" y="1947672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A9F4E"/>
          </a:solidFill>
          <a:ln/>
        </p:spPr>
      </p:sp>
      <p:sp>
        <p:nvSpPr>
          <p:cNvPr id="11" name="Text 9"/>
          <p:cNvSpPr/>
          <p:nvPr/>
        </p:nvSpPr>
        <p:spPr>
          <a:xfrm>
            <a:off x="3538728" y="2148840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9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seule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38728" y="256032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consultez, sans modifier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538728" y="3200400"/>
            <a:ext cx="226771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i="1" dirty="0">
                <a:solidFill>
                  <a:srgbClr val="9AA1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module en lecture seule pour votre rôle — en dehors de la Production, tout le reste vous est fermé.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72200" y="1691640"/>
            <a:ext cx="2670048" cy="4343400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 w="12700">
            <a:solidFill>
              <a:srgbClr val="CBAF9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73368" y="1947672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0F1923"/>
          </a:solidFill>
          <a:ln/>
        </p:spPr>
      </p:sp>
      <p:sp>
        <p:nvSpPr>
          <p:cNvPr id="16" name="Text 14"/>
          <p:cNvSpPr/>
          <p:nvPr/>
        </p:nvSpPr>
        <p:spPr>
          <a:xfrm>
            <a:off x="6373368" y="2148840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9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Toujours accessible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373368" y="256032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 que soit votre rôle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373368" y="3200400"/>
            <a:ext cx="226771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de bord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Produits (catalogue)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Rapports (votre historique)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propos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06840" y="1691640"/>
            <a:ext cx="2670048" cy="4343400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 w="12700">
            <a:solidFill>
              <a:srgbClr val="CBAF9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208008" y="1947672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8A8F98"/>
          </a:solidFill>
          <a:ln/>
        </p:spPr>
      </p:sp>
      <p:sp>
        <p:nvSpPr>
          <p:cNvPr id="21" name="Text 19"/>
          <p:cNvSpPr/>
          <p:nvPr/>
        </p:nvSpPr>
        <p:spPr>
          <a:xfrm>
            <a:off x="9208008" y="2148840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9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Hors de votre périmètre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208008" y="256032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Grisé dans le menu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208008" y="3200400"/>
            <a:ext cx="226771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9AA1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Caisse, Commandes,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9AA1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Commissions, Stocks,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9AA1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Fournisseurs, Équipe,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9AA1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Travailleurs, Paramètres,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9AA1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Approbations, État système,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9AA1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d'audit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02920" y="610819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DG et les Admins voient toujours plus que vous — c'est la hiérarchie de permissions de l'application, pas une anomalie.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Boulangerie Lomoto — Guide Responsable de production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D5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PREMIÈRE ÉTAPE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9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connecter à l'application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457200" cy="457200"/>
          </a:xfrm>
          <a:prstGeom prst="ellipse">
            <a:avLst/>
          </a:prstGeom>
          <a:solidFill>
            <a:srgbClr val="0F1923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A9F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43000" y="167335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Ouvrez l'application dans votre navigateur (ordinateur, tablette ou téléphone).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606040"/>
            <a:ext cx="457200" cy="457200"/>
          </a:xfrm>
          <a:prstGeom prst="ellipse">
            <a:avLst/>
          </a:prstGeom>
          <a:solidFill>
            <a:srgbClr val="0F1923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A9F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258775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Saisissez votre adresse professionnelle — format prenom.nom@boulangerie-lomoto.com.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520440"/>
            <a:ext cx="457200" cy="457200"/>
          </a:xfrm>
          <a:prstGeom prst="ellipse">
            <a:avLst/>
          </a:prstGeom>
          <a:solidFill>
            <a:srgbClr val="0F1923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A9F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43000" y="350215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Saisissez le mot de passe qui vous a été communiqué par l'Administrateur.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4434840"/>
            <a:ext cx="457200" cy="457200"/>
          </a:xfrm>
          <a:prstGeom prst="ellipse">
            <a:avLst/>
          </a:prstGeom>
          <a:solidFill>
            <a:srgbClr val="0F1923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A9F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43000" y="441655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Cliquez sur « Se connecter ».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5394960"/>
            <a:ext cx="5303520" cy="777240"/>
          </a:xfrm>
          <a:prstGeom prst="roundRect">
            <a:avLst>
              <a:gd name="adj" fmla="val 7059"/>
            </a:avLst>
          </a:prstGeom>
          <a:solidFill>
            <a:srgbClr val="F3E3C3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548640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43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identifiant de connexion est toujours l'adresse professionnelle liée à votre fiche — vous ne pouvez pas la choisir ni la modifier vous-même.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80760" y="2080260"/>
            <a:ext cx="566928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 w="12700">
            <a:solidFill>
              <a:srgbClr val="CBAF91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28000"/>
              </a:srgbClr>
            </a:outerShdw>
          </a:effectLst>
        </p:spPr>
      </p:sp>
      <p:pic>
        <p:nvPicPr>
          <p:cNvPr id="19" name="Image 0" descr="/tmp/claude-0/-home-user-Boulangerie/f122e8ab-b408-5ce6-930c-e0c5bddf9e4c/scratchpad/captures/production/../caissiere/01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2171700"/>
            <a:ext cx="5486400" cy="342900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Boulangerie Lomoto — Guide Responsable de production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D5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REPÉRER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9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menu et la navigation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209294" y="1371600"/>
            <a:ext cx="1650492" cy="5074920"/>
          </a:xfrm>
          <a:prstGeom prst="roundRect">
            <a:avLst>
              <a:gd name="adj" fmla="val 3324"/>
            </a:avLst>
          </a:prstGeom>
          <a:solidFill>
            <a:srgbClr val="FFFFFF"/>
          </a:solidFill>
          <a:ln w="12700">
            <a:solidFill>
              <a:srgbClr val="0F1923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28000"/>
              </a:srgbClr>
            </a:outerShdw>
          </a:effectLst>
        </p:spPr>
      </p:sp>
      <p:pic>
        <p:nvPicPr>
          <p:cNvPr id="5" name="Image 0" descr="/tmp/claude-0/-home-user-Boulangerie/f122e8ab-b408-5ce6-930c-e0c5bddf9e4c/scratchpad/captures/production/02-me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0734" y="1463040"/>
            <a:ext cx="1467612" cy="48920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977640" y="160020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DA9F4E"/>
          </a:solidFill>
          <a:ln/>
        </p:spPr>
      </p:sp>
      <p:sp>
        <p:nvSpPr>
          <p:cNvPr id="7" name="Text 4"/>
          <p:cNvSpPr/>
          <p:nvPr/>
        </p:nvSpPr>
        <p:spPr>
          <a:xfrm>
            <a:off x="4315968" y="150876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clair et cliquable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315968" y="1892808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(votre écriture), Tableau de bord, Produits, Rapports, Assistant, À propos.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977640" y="310896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8A8F98"/>
          </a:solidFill>
          <a:ln/>
        </p:spPr>
      </p:sp>
      <p:sp>
        <p:nvSpPr>
          <p:cNvPr id="10" name="Text 7"/>
          <p:cNvSpPr/>
          <p:nvPr/>
        </p:nvSpPr>
        <p:spPr>
          <a:xfrm>
            <a:off x="4315968" y="30175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Grisé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315968" y="3401568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 de votre périmètre — Caisse, Commandes, Commissions, Stocks, Fournisseurs, Équipe, Travailleurs, Paramètres, Approbations, État système, Journal d'audit.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977640" y="507492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Astuce : votre nom et votre rôle sont toujours visibles en bas de la barre latérale, avec le bouton « Se déconnecter ».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Boulangerie Lomoto — Guide Responsable de production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D5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PRODUCTION — ÉCRITURE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9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Planifier la production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704442" y="1371600"/>
            <a:ext cx="2991917" cy="5120640"/>
          </a:xfrm>
          <a:prstGeom prst="roundRect">
            <a:avLst>
              <a:gd name="adj" fmla="val 1834"/>
            </a:avLst>
          </a:prstGeom>
          <a:solidFill>
            <a:srgbClr val="FFFFFF"/>
          </a:solidFill>
          <a:ln w="12700">
            <a:solidFill>
              <a:srgbClr val="CBAF91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28000"/>
              </a:srgbClr>
            </a:outerShdw>
          </a:effectLst>
        </p:spPr>
      </p:sp>
      <p:pic>
        <p:nvPicPr>
          <p:cNvPr id="5" name="Image 0" descr="/tmp/claude-0/-home-user-Boulangerie/f122e8ab-b408-5ce6-930c-e0c5bddf9e4c/scratchpad/captures/production/04-dialog-plan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5882" y="1463040"/>
            <a:ext cx="2809037" cy="4937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309360" y="14173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A9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675120" y="14173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Choisissez la date planifiée — en pratique, la veille pour le lendemain. Une planification déjà saisie pour cette date est remplacée.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309360" y="2194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A9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675120" y="219456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Indiquez le nombre total de bacs commandés, puis le détail par produit concerné.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309360" y="29718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A9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675120" y="297180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Prévoyez les ingrédients nécessaires : sacs de farine, paquets de levure, huile, sel — cette prévision sert de référence pour l'écart du lendemain.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309360" y="37490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A9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675120" y="374904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Ajoutez une observation si besoin, puis Enregistrer.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309360" y="4572000"/>
            <a:ext cx="5257800" cy="1371600"/>
          </a:xfrm>
          <a:prstGeom prst="roundRect">
            <a:avLst>
              <a:gd name="adj" fmla="val 4667"/>
            </a:avLst>
          </a:prstGeom>
          <a:solidFill>
            <a:srgbClr val="F3E3C3"/>
          </a:solidFill>
          <a:ln/>
        </p:spPr>
      </p:sp>
      <p:sp>
        <p:nvSpPr>
          <p:cNvPr id="15" name="Text 12"/>
          <p:cNvSpPr/>
          <p:nvPr/>
        </p:nvSpPr>
        <p:spPr>
          <a:xfrm>
            <a:off x="6537960" y="4681728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AD5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chiffré — 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5B43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bacs commandés (27 Pain bac standard + 15 Baguette), 2 sacs de farine, 3 paquets de levure, 4 L d'huile, 2 kg de sel prévus.
</a:t>
            </a:r>
            <a:pPr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5B43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planning devient la colonne « Prévu » de la diapositive 8.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Boulangerie Lomoto — Guide Responsable de production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D5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PRODUCTION — ÉCRITURE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9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Enregistrer une production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450080" y="1371600"/>
            <a:ext cx="3500640" cy="5120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CBAF91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28000"/>
              </a:srgbClr>
            </a:outerShdw>
          </a:effectLst>
        </p:spPr>
      </p:sp>
      <p:pic>
        <p:nvPicPr>
          <p:cNvPr id="5" name="Image 0" descr="/tmp/claude-0/-home-user-Boulangerie/f122e8ab-b408-5ce6-930c-e0c5bddf9e4c/scratchpad/captures/production/05-dialog-produ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1520" y="1463040"/>
            <a:ext cx="3317760" cy="4937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309360" y="14173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A9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675120" y="14173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Indiquez le nombre total de bacs produits.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309360" y="2194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A9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675120" y="219456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Répartissez-les par destination : Dépositaires, Mamans, Vente cash (VC), bacs restants, bacs foutus.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309360" y="29718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A9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675120" y="297180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don a eu lieu, renseignez le nombre de bacs par motif (Police, Baraka).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309360" y="37490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A9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675120" y="374904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Indiquez les ingrédients réellement utilisés — ils décrémentent automatiquement le stock ; une alerte apparaît si un seuil est franchi.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309360" y="4572000"/>
            <a:ext cx="5257800" cy="1417320"/>
          </a:xfrm>
          <a:prstGeom prst="roundRect">
            <a:avLst>
              <a:gd name="adj" fmla="val 4516"/>
            </a:avLst>
          </a:prstGeom>
          <a:solidFill>
            <a:srgbClr val="F3E3C3"/>
          </a:solidFill>
          <a:ln/>
        </p:spPr>
      </p:sp>
      <p:sp>
        <p:nvSpPr>
          <p:cNvPr id="15" name="Text 12"/>
          <p:cNvSpPr/>
          <p:nvPr/>
        </p:nvSpPr>
        <p:spPr>
          <a:xfrm>
            <a:off x="6537960" y="4663440"/>
            <a:ext cx="4800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AD5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Piège à éviter —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43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bacs produits doivent retomber sur 15 Dépositaires + 15 Mamans + 10 VC + 0 restant + 0 foutu + 2 donnés = 42.
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43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total de destinations différent du nombre de bacs produits n'empêche pas l'enregistrement, mais fait apparaître un écart de réconciliation dans les rapports — vérifiez vos chiffres avant de valider.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Boulangerie Lomoto — Guide Responsable de production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D5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PRODUCTION — ÉCRITURE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9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Écarts prévu / réalisé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2154555"/>
            <a:ext cx="5577840" cy="3554730"/>
          </a:xfrm>
          <a:prstGeom prst="roundRect">
            <a:avLst>
              <a:gd name="adj" fmla="val 1543"/>
            </a:avLst>
          </a:prstGeom>
          <a:solidFill>
            <a:srgbClr val="FFFFFF"/>
          </a:solidFill>
          <a:ln w="12700">
            <a:solidFill>
              <a:srgbClr val="CBAF91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28000"/>
              </a:srgbClr>
            </a:outerShdw>
          </a:effectLst>
        </p:spPr>
      </p:sp>
      <p:pic>
        <p:nvPicPr>
          <p:cNvPr id="5" name="Image 0" descr="/tmp/claude-0/-home-user-Boulangerie/f122e8ab-b408-5ce6-930c-e0c5bddf9e4c/scratchpad/captures/production/06-production-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245995"/>
            <a:ext cx="5394960" cy="33718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309360" y="1463040"/>
            <a:ext cx="5257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tableau compare, pour une date donnée, votre planification (« Prévu ») et le ou les productions enregistrées (« Réalisé ») sur 5 indicateurs : bacs, sacs de farine, paquets de levure, huile et sel.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309360" y="2606040"/>
            <a:ext cx="5257800" cy="1234440"/>
          </a:xfrm>
          <a:prstGeom prst="roundRect">
            <a:avLst>
              <a:gd name="adj" fmla="val 5185"/>
            </a:avLst>
          </a:prstGeom>
          <a:solidFill>
            <a:srgbClr val="F3E3C3"/>
          </a:solidFill>
          <a:ln/>
        </p:spPr>
      </p:sp>
      <p:sp>
        <p:nvSpPr>
          <p:cNvPr id="8" name="Text 5"/>
          <p:cNvSpPr/>
          <p:nvPr/>
        </p:nvSpPr>
        <p:spPr>
          <a:xfrm>
            <a:off x="6537960" y="2715768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AD5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chiffré — 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5B43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et production de ce guide, tous deux datés du même jour :
</a:t>
            </a:r>
            <a:pPr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5B43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bacs prévus = 42 réalisés · 2 sacs = 2 · 3 paquets = 3 · 4 L huile = 4 · 2 kg sel = 2 → écart 0 partout.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309360" y="4023360"/>
            <a:ext cx="5257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Piège à éviter : si plusieurs productions sont enregistrées le même jour, la colonne « Réalisé » additionne toutes les productions de la date — pas seulement la dernière. Un écart inattendu vient souvent de là.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309360" y="5166360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écart n'est jamais bloquant — c'est un outil de suivi, pas une sanction automatique.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Boulangerie Lomoto — Guide Responsable de production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D5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RESTER INFORMÉ(E)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9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Notifications en temps réel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828800"/>
            <a:ext cx="51206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spcAft>
                <a:spcPts val="1400"/>
              </a:spcAft>
              <a:buNone/>
            </a:pPr>
            <a:r>
              <a:rPr lang="en-US" sz="130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cloche en haut à droite affiche un badge dès qu'un événement concerne votre périmètre — par exemple une alerte de stock déclenchée par votre propre saisie d'ingrédients.</a:t>
            </a:r>
            <a:endParaRPr lang="en-US" sz="1300" dirty="0"/>
          </a:p>
          <a:p>
            <a:pPr indent="0" marL="0">
              <a:lnSpc>
                <a:spcPct val="122000"/>
              </a:lnSpc>
              <a:spcAft>
                <a:spcPts val="1400"/>
              </a:spcAft>
              <a:buNone/>
            </a:pPr>
            <a:r>
              <a:rPr lang="en-US" sz="130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production ou planification que vous enregistrez apparaît en temps réel dans le fil d'activité du Tableau de bord — le vôtre comme celui de vos supérieurs.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4087368"/>
            <a:ext cx="82296" cy="82296"/>
          </a:xfrm>
          <a:prstGeom prst="ellipse">
            <a:avLst/>
          </a:prstGeom>
          <a:solidFill>
            <a:srgbClr val="AD5416"/>
          </a:solidFill>
          <a:ln/>
        </p:spPr>
      </p:sp>
      <p:sp>
        <p:nvSpPr>
          <p:cNvPr id="6" name="Text 4"/>
          <p:cNvSpPr/>
          <p:nvPr/>
        </p:nvSpPr>
        <p:spPr>
          <a:xfrm>
            <a:off x="722376" y="4023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Tout lire » marque toutes les notifications comme vues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4489704"/>
            <a:ext cx="82296" cy="82296"/>
          </a:xfrm>
          <a:prstGeom prst="ellipse">
            <a:avLst/>
          </a:prstGeom>
          <a:solidFill>
            <a:srgbClr val="AD5416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442569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Rien à installer : ça fonctionne tant que vous êtes connecté(e)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80760" y="2080260"/>
            <a:ext cx="566928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 w="12700">
            <a:solidFill>
              <a:srgbClr val="CBAF91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28000"/>
              </a:srgbClr>
            </a:outerShdw>
          </a:effectLst>
        </p:spPr>
      </p:sp>
      <p:pic>
        <p:nvPicPr>
          <p:cNvPr id="10" name="Image 0" descr="/tmp/claude-0/-home-user-Boulangerie/f122e8ab-b408-5ce6-930c-e0c5bddf9e4c/scratchpad/captures/production/07-notifications-ouver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2171700"/>
            <a:ext cx="5486400" cy="3429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Boulangerie Lomoto — Guide Responsable de production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D5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D'AIDE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9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Écrire à un Administrateur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828800"/>
            <a:ext cx="51206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spcAft>
                <a:spcPts val="1400"/>
              </a:spcAft>
              <a:buNone/>
            </a:pPr>
            <a:r>
              <a:rPr lang="en-US" sz="130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Depuis Assistant, écrivez votre question dans la zone de texte en bas de l'écran puis cliquez sur « Envoyer ». Vous pouvez aussi joindre une capture d'écran pour montrer exactement ce que vous voyez.</a:t>
            </a:r>
            <a:endParaRPr lang="en-US" sz="1300" dirty="0"/>
          </a:p>
          <a:p>
            <a:pPr indent="0" marL="0">
              <a:lnSpc>
                <a:spcPct val="122000"/>
              </a:lnSpc>
              <a:spcAft>
                <a:spcPts val="1400"/>
              </a:spcAft>
              <a:buNone/>
            </a:pPr>
            <a:r>
              <a:rPr lang="en-US" sz="130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message part directement à la file des Administrateurs — n'importe lequel des trois comptes Admin peut vous répondre, en temps réel, comme dans l'exemple ci-contre au sujet de la farine abîmée.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4270248"/>
            <a:ext cx="82296" cy="82296"/>
          </a:xfrm>
          <a:prstGeom prst="ellipse">
            <a:avLst/>
          </a:prstGeom>
          <a:solidFill>
            <a:srgbClr val="AD5416"/>
          </a:solidFill>
          <a:ln/>
        </p:spPr>
      </p:sp>
      <p:sp>
        <p:nvSpPr>
          <p:cNvPr id="6" name="Text 4"/>
          <p:cNvSpPr/>
          <p:nvPr/>
        </p:nvSpPr>
        <p:spPr>
          <a:xfrm>
            <a:off x="722376" y="4206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conversation active à la fois, tout l'historique reste visible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4672584"/>
            <a:ext cx="82296" cy="82296"/>
          </a:xfrm>
          <a:prstGeom prst="ellipse">
            <a:avLst/>
          </a:prstGeom>
          <a:solidFill>
            <a:srgbClr val="AD5416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460857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Utile pour toute question sur une règle de saisie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80760" y="2080260"/>
            <a:ext cx="566928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 w="12700">
            <a:solidFill>
              <a:srgbClr val="CBAF91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28000"/>
              </a:srgbClr>
            </a:outerShdw>
          </a:effectLst>
        </p:spPr>
      </p:sp>
      <p:pic>
        <p:nvPicPr>
          <p:cNvPr id="10" name="Image 0" descr="/tmp/claude-0/-home-user-Boulangerie/f122e8ab-b408-5ce6-930c-e0c5bddf9e4c/scratchpad/captures/production/08-assistant-convers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2171700"/>
            <a:ext cx="5486400" cy="3429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Boulangerie Lomoto — Guide Responsable de production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D5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HISTORIQUE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9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Consulter vos rapports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828800"/>
            <a:ext cx="51206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spcAft>
                <a:spcPts val="1400"/>
              </a:spcAft>
              <a:buNone/>
            </a:pPr>
            <a:r>
              <a:rPr lang="en-US" sz="130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L'écran Rapports affiche votre propre journal d'activité — chaque planification, chaque production enregistrée et chaque mouvement de stock qu'elle entraîne, avec la date et un résumé clair.</a:t>
            </a:r>
            <a:endParaRPr lang="en-US" sz="1300" dirty="0"/>
          </a:p>
          <a:p>
            <a:pPr indent="0" marL="0">
              <a:lnSpc>
                <a:spcPct val="122000"/>
              </a:lnSpc>
              <a:spcAft>
                <a:spcPts val="1400"/>
              </a:spcAft>
              <a:buNone/>
            </a:pPr>
            <a:r>
              <a:rPr lang="en-US" sz="130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Filtrez par type d'action ou par période, puis imprimez ou téléchargez en PDF pour vos archives.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4041648"/>
            <a:ext cx="82296" cy="82296"/>
          </a:xfrm>
          <a:prstGeom prst="ellipse">
            <a:avLst/>
          </a:prstGeom>
          <a:solidFill>
            <a:srgbClr val="AD5416"/>
          </a:solidFill>
          <a:ln/>
        </p:spPr>
      </p:sp>
      <p:sp>
        <p:nvSpPr>
          <p:cNvPr id="6" name="Text 4"/>
          <p:cNvSpPr/>
          <p:nvPr/>
        </p:nvSpPr>
        <p:spPr>
          <a:xfrm>
            <a:off x="722376" y="3977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strictement personnel — pas de subordonné à votre poste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4443984"/>
            <a:ext cx="82296" cy="82296"/>
          </a:xfrm>
          <a:prstGeom prst="ellipse">
            <a:avLst/>
          </a:prstGeom>
          <a:solidFill>
            <a:srgbClr val="AD5416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437997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ligne indique quand et un résumé chiffré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80760" y="2080260"/>
            <a:ext cx="566928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 w="12700">
            <a:solidFill>
              <a:srgbClr val="CBAF91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28000"/>
              </a:srgbClr>
            </a:outerShdw>
          </a:effectLst>
        </p:spPr>
      </p:sp>
      <p:pic>
        <p:nvPicPr>
          <p:cNvPr id="10" name="Image 0" descr="/tmp/claude-0/-home-user-Boulangerie/f122e8ab-b408-5ce6-930c-e0c5bddf9e4c/scratchpad/captures/production/09-rapports-personn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2171700"/>
            <a:ext cx="5486400" cy="3429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Boulangerie Lomoto — Guide Responsable de production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A9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RÉCAPITULATIF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Votre routine quotidienne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435075" y="3451860"/>
            <a:ext cx="9321546" cy="0"/>
          </a:xfrm>
          <a:prstGeom prst="line">
            <a:avLst/>
          </a:prstGeom>
          <a:noFill/>
          <a:ln w="19050">
            <a:solidFill>
              <a:srgbClr val="DA9F4E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000735" y="3017520"/>
            <a:ext cx="868680" cy="868680"/>
          </a:xfrm>
          <a:prstGeom prst="ellipse">
            <a:avLst/>
          </a:prstGeom>
          <a:solidFill>
            <a:srgbClr val="1C2B3A"/>
          </a:solidFill>
          <a:ln w="25400">
            <a:solidFill>
              <a:srgbClr val="DA9F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0735" y="30175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dirty="0">
                <a:solidFill>
                  <a:srgbClr val="000000"/>
                </a:solidFill>
              </a:rPr>
              <a:t>🔑</a:t>
            </a:r>
            <a:endParaRPr lang="en-US" sz="2280" dirty="0"/>
          </a:p>
        </p:txBody>
      </p:sp>
      <p:sp>
        <p:nvSpPr>
          <p:cNvPr id="7" name="Shape 5"/>
          <p:cNvSpPr/>
          <p:nvPr/>
        </p:nvSpPr>
        <p:spPr>
          <a:xfrm>
            <a:off x="1649959" y="2926080"/>
            <a:ext cx="310896" cy="310896"/>
          </a:xfrm>
          <a:prstGeom prst="ellipse">
            <a:avLst/>
          </a:prstGeom>
          <a:solidFill>
            <a:srgbClr val="DA9F4E"/>
          </a:solidFill>
          <a:ln w="19050">
            <a:solidFill>
              <a:srgbClr val="0F192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49959" y="29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4114800"/>
            <a:ext cx="18643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4480560"/>
            <a:ext cx="168142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BAF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Adresse professionnelle + mot de passe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865044" y="3017520"/>
            <a:ext cx="868680" cy="868680"/>
          </a:xfrm>
          <a:prstGeom prst="ellipse">
            <a:avLst/>
          </a:prstGeom>
          <a:solidFill>
            <a:srgbClr val="1C2B3A"/>
          </a:solidFill>
          <a:ln w="25400">
            <a:solidFill>
              <a:srgbClr val="DA9F4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65044" y="30175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dirty="0">
                <a:solidFill>
                  <a:srgbClr val="000000"/>
                </a:solidFill>
              </a:rPr>
              <a:t>🗓</a:t>
            </a:r>
            <a:endParaRPr lang="en-US" sz="2280" dirty="0"/>
          </a:p>
        </p:txBody>
      </p:sp>
      <p:sp>
        <p:nvSpPr>
          <p:cNvPr id="13" name="Shape 11"/>
          <p:cNvSpPr/>
          <p:nvPr/>
        </p:nvSpPr>
        <p:spPr>
          <a:xfrm>
            <a:off x="3514268" y="2926080"/>
            <a:ext cx="310896" cy="310896"/>
          </a:xfrm>
          <a:prstGeom prst="ellipse">
            <a:avLst/>
          </a:prstGeom>
          <a:solidFill>
            <a:srgbClr val="DA9F4E"/>
          </a:solidFill>
          <a:ln w="19050">
            <a:solidFill>
              <a:srgbClr val="0F19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14268" y="29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367229" y="4114800"/>
            <a:ext cx="18643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458669" y="4480560"/>
            <a:ext cx="168142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BAF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Bacs, produits et ingrédients du lendemain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29353" y="3017520"/>
            <a:ext cx="868680" cy="868680"/>
          </a:xfrm>
          <a:prstGeom prst="ellipse">
            <a:avLst/>
          </a:prstGeom>
          <a:solidFill>
            <a:srgbClr val="1C2B3A"/>
          </a:solidFill>
          <a:ln w="25400">
            <a:solidFill>
              <a:srgbClr val="DA9F4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29353" y="30175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dirty="0">
                <a:solidFill>
                  <a:srgbClr val="000000"/>
                </a:solidFill>
              </a:rPr>
              <a:t>🍞</a:t>
            </a:r>
            <a:endParaRPr lang="en-US" sz="2280" dirty="0"/>
          </a:p>
        </p:txBody>
      </p:sp>
      <p:sp>
        <p:nvSpPr>
          <p:cNvPr id="19" name="Shape 17"/>
          <p:cNvSpPr/>
          <p:nvPr/>
        </p:nvSpPr>
        <p:spPr>
          <a:xfrm>
            <a:off x="5378577" y="2926080"/>
            <a:ext cx="310896" cy="310896"/>
          </a:xfrm>
          <a:prstGeom prst="ellipse">
            <a:avLst/>
          </a:prstGeom>
          <a:solidFill>
            <a:srgbClr val="DA9F4E"/>
          </a:solidFill>
          <a:ln w="19050">
            <a:solidFill>
              <a:srgbClr val="0F192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78577" y="29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231538" y="4114800"/>
            <a:ext cx="18643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22978" y="4480560"/>
            <a:ext cx="168142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BAF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Bacs produits, destinations, ingrédients utilisés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593662" y="3017520"/>
            <a:ext cx="868680" cy="868680"/>
          </a:xfrm>
          <a:prstGeom prst="ellipse">
            <a:avLst/>
          </a:prstGeom>
          <a:solidFill>
            <a:srgbClr val="1C2B3A"/>
          </a:solidFill>
          <a:ln w="25400">
            <a:solidFill>
              <a:srgbClr val="DA9F4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93662" y="30175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dirty="0">
                <a:solidFill>
                  <a:srgbClr val="000000"/>
                </a:solidFill>
              </a:rPr>
              <a:t>⚖️</a:t>
            </a:r>
            <a:endParaRPr lang="en-US" sz="2280" dirty="0"/>
          </a:p>
        </p:txBody>
      </p:sp>
      <p:sp>
        <p:nvSpPr>
          <p:cNvPr id="25" name="Shape 23"/>
          <p:cNvSpPr/>
          <p:nvPr/>
        </p:nvSpPr>
        <p:spPr>
          <a:xfrm>
            <a:off x="7242886" y="2926080"/>
            <a:ext cx="310896" cy="310896"/>
          </a:xfrm>
          <a:prstGeom prst="ellipse">
            <a:avLst/>
          </a:prstGeom>
          <a:solidFill>
            <a:srgbClr val="DA9F4E"/>
          </a:solidFill>
          <a:ln w="19050">
            <a:solidFill>
              <a:srgbClr val="0F192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42886" y="29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095848" y="4114800"/>
            <a:ext cx="18643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187288" y="4480560"/>
            <a:ext cx="168142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BAF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 prévu / réalisé, jamais bloquante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457971" y="3017520"/>
            <a:ext cx="868680" cy="868680"/>
          </a:xfrm>
          <a:prstGeom prst="ellipse">
            <a:avLst/>
          </a:prstGeom>
          <a:solidFill>
            <a:srgbClr val="1C2B3A"/>
          </a:solidFill>
          <a:ln w="25400">
            <a:solidFill>
              <a:srgbClr val="DA9F4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57971" y="30175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dirty="0">
                <a:solidFill>
                  <a:srgbClr val="000000"/>
                </a:solidFill>
              </a:rPr>
              <a:t>🔔</a:t>
            </a:r>
            <a:endParaRPr lang="en-US" sz="2280" dirty="0"/>
          </a:p>
        </p:txBody>
      </p:sp>
      <p:sp>
        <p:nvSpPr>
          <p:cNvPr id="31" name="Shape 29"/>
          <p:cNvSpPr/>
          <p:nvPr/>
        </p:nvSpPr>
        <p:spPr>
          <a:xfrm>
            <a:off x="9107195" y="2926080"/>
            <a:ext cx="310896" cy="310896"/>
          </a:xfrm>
          <a:prstGeom prst="ellipse">
            <a:avLst/>
          </a:prstGeom>
          <a:solidFill>
            <a:srgbClr val="DA9F4E"/>
          </a:solidFill>
          <a:ln w="19050">
            <a:solidFill>
              <a:srgbClr val="0F192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07195" y="29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960157" y="4114800"/>
            <a:ext cx="18643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051597" y="4480560"/>
            <a:ext cx="168142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BAF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 de stock et événements en temps réel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0322281" y="3017520"/>
            <a:ext cx="868680" cy="868680"/>
          </a:xfrm>
          <a:prstGeom prst="ellipse">
            <a:avLst/>
          </a:prstGeom>
          <a:solidFill>
            <a:srgbClr val="1C2B3A"/>
          </a:solidFill>
          <a:ln w="25400">
            <a:solidFill>
              <a:srgbClr val="DA9F4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322281" y="30175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dirty="0">
                <a:solidFill>
                  <a:srgbClr val="000000"/>
                </a:solidFill>
              </a:rPr>
              <a:t>📊</a:t>
            </a:r>
            <a:endParaRPr lang="en-US" sz="2280" dirty="0"/>
          </a:p>
        </p:txBody>
      </p:sp>
      <p:sp>
        <p:nvSpPr>
          <p:cNvPr id="37" name="Shape 35"/>
          <p:cNvSpPr/>
          <p:nvPr/>
        </p:nvSpPr>
        <p:spPr>
          <a:xfrm>
            <a:off x="10971505" y="2926080"/>
            <a:ext cx="310896" cy="310896"/>
          </a:xfrm>
          <a:prstGeom prst="ellipse">
            <a:avLst/>
          </a:prstGeom>
          <a:solidFill>
            <a:srgbClr val="DA9F4E"/>
          </a:solidFill>
          <a:ln w="19050">
            <a:solidFill>
              <a:srgbClr val="0F192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971505" y="29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824466" y="4114800"/>
            <a:ext cx="18643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Rapports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9915906" y="4480560"/>
            <a:ext cx="168142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BAF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 de votre journée, export si besoin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Boulangerie Lomoto — Guide Responsable de production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oulangerie/apps/web/public/logo-lomo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55768" y="1371600"/>
            <a:ext cx="1280160" cy="1280160"/>
          </a:xfrm>
          <a:prstGeom prst="ellipse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83464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!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1981048" y="3703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AF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question, un doute sur un écran ? Ouvrez l'Assistant et écrivez à un Administrateur.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998568" y="4434840"/>
            <a:ext cx="2194560" cy="0"/>
          </a:xfrm>
          <a:prstGeom prst="line">
            <a:avLst/>
          </a:prstGeom>
          <a:noFill/>
          <a:ln w="12700">
            <a:solidFill>
              <a:srgbClr val="DA9F4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0" y="4663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A9F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Boulangerie Lomoto · « Pain Lia o Tonda »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Boulangerie Lomoto — Guide Responsable de production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D5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PRODUCTION — ÉCRITURE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9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Zones de dépôt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828800"/>
            <a:ext cx="51206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spcAft>
                <a:spcPts val="1400"/>
              </a:spcAft>
              <a:buNone/>
            </a:pPr>
            <a:r>
              <a:rPr lang="en-US" sz="130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Dépositaires peuvent être regroupés par zone géographique (ex. « Centre-ville », « Périphérie ») — un simple repère visuel, sans effet sur les prix, affiché en tête de groupe dans le Schéma de commande et le Bon de livraison.</a:t>
            </a:r>
            <a:endParaRPr lang="en-US" sz="1300" dirty="0"/>
          </a:p>
          <a:p>
            <a:pPr indent="0" marL="0">
              <a:lnSpc>
                <a:spcPct val="122000"/>
              </a:lnSpc>
              <a:spcAft>
                <a:spcPts val="1400"/>
              </a:spcAft>
              <a:buNone/>
            </a:pPr>
            <a:r>
              <a:rPr lang="en-US" sz="130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bouton « Nouvelle zone » en crée une en un instant ; cliquer sur une zone existante permet de la renommer ou de la supprimer, y compris depuis la fiche client (module Commandes).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4087368"/>
            <a:ext cx="82296" cy="82296"/>
          </a:xfrm>
          <a:prstGeom prst="ellipse">
            <a:avLst/>
          </a:prstGeom>
          <a:solidFill>
            <a:srgbClr val="AD5416"/>
          </a:solidFill>
          <a:ln/>
        </p:spPr>
      </p:sp>
      <p:sp>
        <p:nvSpPr>
          <p:cNvPr id="6" name="Text 4"/>
          <p:cNvSpPr/>
          <p:nvPr/>
        </p:nvSpPr>
        <p:spPr>
          <a:xfrm>
            <a:off x="722376" y="4023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Supprimer une zone ne supprime aucun client — il retombe simplement « Sans zone »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4489704"/>
            <a:ext cx="82296" cy="82296"/>
          </a:xfrm>
          <a:prstGeom prst="ellipse">
            <a:avLst/>
          </a:prstGeom>
          <a:solidFill>
            <a:srgbClr val="AD5416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442569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Dépositaire zoné ? Tout apparaît sous « Sans zone », rien n'est bloqué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80760" y="2080260"/>
            <a:ext cx="566928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 w="12700">
            <a:solidFill>
              <a:srgbClr val="CBAF91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28000"/>
              </a:srgbClr>
            </a:outerShdw>
          </a:effectLst>
        </p:spPr>
      </p:sp>
      <p:pic>
        <p:nvPicPr>
          <p:cNvPr id="10" name="Image 0" descr="/tmp/claude-0/-home-user-Boulangerie/f122e8ab-b408-5ce6-930c-e0c5bddf9e4c/scratchpad/captures/production/19-header-zones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3238119"/>
            <a:ext cx="5486400" cy="129616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Boulangerie Lomoto — Guide Responsable de production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D5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PRODUCTION — ÉCRITURE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9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Schéma de commande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828800"/>
            <a:ext cx="51206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spcAft>
                <a:spcPts val="1400"/>
              </a:spcAft>
              <a:buNone/>
            </a:pPr>
            <a:r>
              <a:rPr lang="en-US" sz="130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Digitalise la fiche remplie chaque soir : pour la date choisie, chaque Dépositaire (regroupé par zone) et chaque Maman a sa ligne, avec le détail par produit — les mêmes quatre variantes que le Planning.</a:t>
            </a:r>
            <a:endParaRPr lang="en-US" sz="1300" dirty="0"/>
          </a:p>
          <a:p>
            <a:pPr indent="0" marL="0">
              <a:lnSpc>
                <a:spcPct val="122000"/>
              </a:lnSpc>
              <a:spcAft>
                <a:spcPts val="1400"/>
              </a:spcAft>
              <a:buNone/>
            </a:pPr>
            <a:r>
              <a:rPr lang="en-US" sz="130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Enregistrer le Schéma remplace automatiquement le nombre de bacs et le détail par produit du Planning de cette même date — vos prévisions d'ingrédients et vos observations, saisies à la main, restent intactes.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4087368"/>
            <a:ext cx="82296" cy="82296"/>
          </a:xfrm>
          <a:prstGeom prst="ellipse">
            <a:avLst/>
          </a:prstGeom>
          <a:solidFill>
            <a:srgbClr val="AD5416"/>
          </a:solidFill>
          <a:ln/>
        </p:spPr>
      </p:sp>
      <p:sp>
        <p:nvSpPr>
          <p:cNvPr id="6" name="Text 4"/>
          <p:cNvSpPr/>
          <p:nvPr/>
        </p:nvSpPr>
        <p:spPr>
          <a:xfrm>
            <a:off x="722376" y="4023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client sans aucune quantité saisie n'apparaît pas dans le Planning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4489704"/>
            <a:ext cx="82296" cy="82296"/>
          </a:xfrm>
          <a:prstGeom prst="ellipse">
            <a:avLst/>
          </a:prstGeom>
          <a:solidFill>
            <a:srgbClr val="AD5416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442569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date par défaut est celle du jour — changez-la pour préparer un autre jour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80760" y="2080260"/>
            <a:ext cx="566928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 w="12700">
            <a:solidFill>
              <a:srgbClr val="CBAF91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28000"/>
              </a:srgbClr>
            </a:outerShdw>
          </a:effectLst>
        </p:spPr>
      </p:sp>
      <p:pic>
        <p:nvPicPr>
          <p:cNvPr id="10" name="Image 0" descr="/tmp/claude-0/-home-user-Boulangerie/f122e8ab-b408-5ce6-930c-e0c5bddf9e4c/scratchpad/captures/production/13-schema-commande-enregist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2171700"/>
            <a:ext cx="4572000" cy="3429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Boulangerie Lomoto — Guide Responsable de production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D54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PRODUCTION — ÉCRITURE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9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Bon de livraison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828800"/>
            <a:ext cx="51206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spcAft>
                <a:spcPts val="1400"/>
              </a:spcAft>
              <a:buNone/>
            </a:pPr>
            <a:r>
              <a:rPr lang="en-US" sz="130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Écran dédié (bouton « Bons de livraison », en haut de Production) : pour chaque Dépositaire livré, saisissez le détail par produit réellement livré, les bacs vides repris, le nom du livreur et vos observations.</a:t>
            </a:r>
            <a:endParaRPr lang="en-US" sz="1300" dirty="0"/>
          </a:p>
          <a:p>
            <a:pPr indent="0" marL="0">
              <a:lnSpc>
                <a:spcPct val="122000"/>
              </a:lnSpc>
              <a:spcAft>
                <a:spcPts val="1400"/>
              </a:spcAft>
              <a:buNone/>
            </a:pPr>
            <a:r>
              <a:rPr lang="en-US" sz="130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Saisie volontairement indépendante du Schéma de commande — la quantité livrée peut différer de la quantité commandée, sans effet sur le Planning ni sur les Commandes.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4087368"/>
            <a:ext cx="82296" cy="82296"/>
          </a:xfrm>
          <a:prstGeom prst="ellipse">
            <a:avLst/>
          </a:prstGeom>
          <a:solidFill>
            <a:srgbClr val="AD5416"/>
          </a:solidFill>
          <a:ln/>
        </p:spPr>
      </p:sp>
      <p:sp>
        <p:nvSpPr>
          <p:cNvPr id="6" name="Text 4"/>
          <p:cNvSpPr/>
          <p:nvPr/>
        </p:nvSpPr>
        <p:spPr>
          <a:xfrm>
            <a:off x="722376" y="4023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Bouton « Imprimer » : une fiche par Dépositaire, avec les lignes de signature Chauffeur et Dépositaire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4489704"/>
            <a:ext cx="82296" cy="82296"/>
          </a:xfrm>
          <a:prstGeom prst="ellipse">
            <a:avLst/>
          </a:prstGeom>
          <a:solidFill>
            <a:srgbClr val="AD5416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442569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C3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Dépositaire sans rien de saisi ce jour-là n'apparaît pas sur le PDF imprimé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80760" y="2080260"/>
            <a:ext cx="566928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 w="12700">
            <a:solidFill>
              <a:srgbClr val="CBAF91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28000"/>
              </a:srgbClr>
            </a:outerShdw>
          </a:effectLst>
        </p:spPr>
      </p:sp>
      <p:pic>
        <p:nvPicPr>
          <p:cNvPr id="10" name="Image 0" descr="/tmp/claude-0/-home-user-Boulangerie/f122e8ab-b408-5ce6-930c-e0c5bddf9e4c/scratchpad/captures/production/18-bon-livraison-pdf-aperc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3033718"/>
            <a:ext cx="5486400" cy="1704963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02920" y="64008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9A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Boulangerie Lomoto — Guide Responsable de production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Guide utilisateur — Responsable de production</dc:title>
  <dc:subject>PptxGenJS Presentation</dc:subject>
  <dc:creator>Boulangerie Lomoto</dc:creator>
  <cp:lastModifiedBy>Boulangerie Lomoto</cp:lastModifiedBy>
  <cp:revision>1</cp:revision>
  <dcterms:created xsi:type="dcterms:W3CDTF">2026-08-06T22:04:51Z</dcterms:created>
  <dcterms:modified xsi:type="dcterms:W3CDTF">2026-08-06T22:04:51Z</dcterms:modified>
</cp:coreProperties>
</file>