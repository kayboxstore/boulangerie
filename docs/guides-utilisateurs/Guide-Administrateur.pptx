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923"/>
        </a:solidFill>
      </p:bgPr>
    </p:bg>
    <p:spTree>
      <p:nvGrpSpPr>
        <p:cNvPr id="1" name=""/>
        <p:cNvGrpSpPr/>
        <p:nvPr/>
      </p:nvGrpSpPr>
      <p:grpSpPr>
        <a:xfrm>
          <a:off x="0" y="0"/>
          <a:ext cx="0" cy="0"/>
          <a:chOff x="0" y="0"/>
          <a:chExt cx="0" cy="0"/>
        </a:xfrm>
      </p:grpSpPr>
      <p:pic>
        <p:nvPicPr>
          <p:cNvPr id="2" name="Image 0" descr="/home/user/Boulangerie/apps/web/public/logo-lomoto.png">    </p:cNvPr>
          <p:cNvPicPr>
            <a:picLocks noChangeAspect="1"/>
          </p:cNvPicPr>
          <p:nvPr/>
        </p:nvPicPr>
        <p:blipFill>
          <a:blip r:embed="rId1"/>
          <a:stretch>
            <a:fillRect/>
          </a:stretch>
        </p:blipFill>
        <p:spPr>
          <a:xfrm>
            <a:off x="5272888" y="594360"/>
            <a:ext cx="1645920" cy="1645920"/>
          </a:xfrm>
          <a:prstGeom prst="ellipse">
            <a:avLst/>
          </a:prstGeom>
        </p:spPr>
      </p:pic>
      <p:sp>
        <p:nvSpPr>
          <p:cNvPr id="3" name="Text 0"/>
          <p:cNvSpPr/>
          <p:nvPr/>
        </p:nvSpPr>
        <p:spPr>
          <a:xfrm>
            <a:off x="0" y="2423160"/>
            <a:ext cx="12191695" cy="64008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Boulangerie </a:t>
            </a:r>
            <a:pPr algn="ctr" indent="0" marL="0">
              <a:buNone/>
            </a:pPr>
            <a:r>
              <a:rPr lang="en-US" sz="3200" b="1" dirty="0">
                <a:solidFill>
                  <a:srgbClr val="DA9F4E"/>
                </a:solidFill>
                <a:latin typeface="Cambria" pitchFamily="34" charset="0"/>
                <a:ea typeface="Cambria" pitchFamily="34" charset="-122"/>
                <a:cs typeface="Cambria" pitchFamily="34" charset="-120"/>
              </a:rPr>
              <a:t>Lomoto</a:t>
            </a:r>
            <a:endParaRPr lang="en-US" sz="3200" dirty="0"/>
          </a:p>
        </p:txBody>
      </p:sp>
      <p:sp>
        <p:nvSpPr>
          <p:cNvPr id="4" name="Text 1"/>
          <p:cNvSpPr/>
          <p:nvPr/>
        </p:nvSpPr>
        <p:spPr>
          <a:xfrm>
            <a:off x="0" y="3035808"/>
            <a:ext cx="12191695" cy="365760"/>
          </a:xfrm>
          <a:prstGeom prst="rect">
            <a:avLst/>
          </a:prstGeom>
          <a:noFill/>
          <a:ln/>
        </p:spPr>
        <p:txBody>
          <a:bodyPr wrap="square" lIns="0" tIns="0" rIns="0" bIns="0" rtlCol="0" anchor="ctr"/>
          <a:lstStyle/>
          <a:p>
            <a:pPr algn="ctr" indent="0" marL="0">
              <a:buNone/>
            </a:pPr>
            <a:r>
              <a:rPr lang="en-US" sz="1500" i="1" dirty="0">
                <a:solidFill>
                  <a:srgbClr val="CBAF91"/>
                </a:solidFill>
                <a:latin typeface="Cambria" pitchFamily="34" charset="0"/>
                <a:ea typeface="Cambria" pitchFamily="34" charset="-122"/>
                <a:cs typeface="Cambria" pitchFamily="34" charset="-120"/>
              </a:rPr>
              <a:t>« Pain Lia o Tonda »</a:t>
            </a:r>
            <a:endParaRPr lang="en-US" sz="1500" dirty="0"/>
          </a:p>
        </p:txBody>
      </p:sp>
      <p:sp>
        <p:nvSpPr>
          <p:cNvPr id="5" name="Shape 2"/>
          <p:cNvSpPr/>
          <p:nvPr/>
        </p:nvSpPr>
        <p:spPr>
          <a:xfrm>
            <a:off x="4998568" y="3703320"/>
            <a:ext cx="2194560" cy="0"/>
          </a:xfrm>
          <a:prstGeom prst="line">
            <a:avLst/>
          </a:prstGeom>
          <a:noFill/>
          <a:ln w="12700">
            <a:solidFill>
              <a:srgbClr val="DA9F4E"/>
            </a:solidFill>
            <a:prstDash val="solid"/>
          </a:ln>
        </p:spPr>
      </p:sp>
      <p:sp>
        <p:nvSpPr>
          <p:cNvPr id="6" name="Text 3"/>
          <p:cNvSpPr/>
          <p:nvPr/>
        </p:nvSpPr>
        <p:spPr>
          <a:xfrm>
            <a:off x="0" y="3931920"/>
            <a:ext cx="12191695" cy="457200"/>
          </a:xfrm>
          <a:prstGeom prst="rect">
            <a:avLst/>
          </a:prstGeom>
          <a:noFill/>
          <a:ln/>
        </p:spPr>
        <p:txBody>
          <a:bodyPr wrap="square" lIns="0" tIns="0" rIns="0" bIns="0" rtlCol="0" anchor="ctr"/>
          <a:lstStyle/>
          <a:p>
            <a:pPr algn="ctr" indent="0" marL="0">
              <a:buNone/>
            </a:pPr>
            <a:r>
              <a:rPr lang="en-US" sz="1600" dirty="0">
                <a:solidFill>
                  <a:srgbClr val="CBAF91"/>
                </a:solidFill>
                <a:latin typeface="Calibri" pitchFamily="34" charset="0"/>
                <a:ea typeface="Calibri" pitchFamily="34" charset="-122"/>
                <a:cs typeface="Calibri" pitchFamily="34" charset="-120"/>
              </a:rPr>
              <a:t>Guide utilisateur</a:t>
            </a:r>
            <a:endParaRPr lang="en-US" sz="1600" dirty="0"/>
          </a:p>
        </p:txBody>
      </p:sp>
      <p:sp>
        <p:nvSpPr>
          <p:cNvPr id="7" name="Text 4"/>
          <p:cNvSpPr/>
          <p:nvPr/>
        </p:nvSpPr>
        <p:spPr>
          <a:xfrm>
            <a:off x="0" y="4343400"/>
            <a:ext cx="12191695" cy="82296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Administrateur</a:t>
            </a:r>
            <a:endParaRPr lang="en-US" sz="4400" dirty="0"/>
          </a:p>
        </p:txBody>
      </p:sp>
      <p:sp>
        <p:nvSpPr>
          <p:cNvPr id="8" name="Text 5"/>
          <p:cNvSpPr/>
          <p:nvPr/>
        </p:nvSpPr>
        <p:spPr>
          <a:xfrm>
            <a:off x="0" y="5257800"/>
            <a:ext cx="12191695" cy="365760"/>
          </a:xfrm>
          <a:prstGeom prst="rect">
            <a:avLst/>
          </a:prstGeom>
          <a:noFill/>
          <a:ln/>
        </p:spPr>
        <p:txBody>
          <a:bodyPr wrap="square" lIns="0" tIns="0" rIns="0" bIns="0" rtlCol="0" anchor="ctr"/>
          <a:lstStyle/>
          <a:p>
            <a:pPr algn="ctr" indent="0" marL="0">
              <a:buNone/>
            </a:pPr>
            <a:r>
              <a:rPr lang="en-US" sz="1300" dirty="0">
                <a:solidFill>
                  <a:srgbClr val="DA9F4E"/>
                </a:solidFill>
                <a:latin typeface="Calibri" pitchFamily="34" charset="0"/>
                <a:ea typeface="Calibri" pitchFamily="34" charset="-122"/>
                <a:cs typeface="Calibri" pitchFamily="34" charset="-120"/>
              </a:rPr>
              <a:t>Principal &amp; secondaire — écriture totale, avec ou sans approbation</a:t>
            </a:r>
            <a:endParaRPr lang="en-US" sz="1300" dirty="0"/>
          </a:p>
        </p:txBody>
      </p:sp>
      <p:sp>
        <p:nvSpPr>
          <p:cNvPr id="9" name="Text 6"/>
          <p:cNvSpPr/>
          <p:nvPr/>
        </p:nvSpPr>
        <p:spPr>
          <a:xfrm>
            <a:off x="0" y="6263640"/>
            <a:ext cx="12191695" cy="274320"/>
          </a:xfrm>
          <a:prstGeom prst="rect">
            <a:avLst/>
          </a:prstGeom>
          <a:noFill/>
          <a:ln/>
        </p:spPr>
        <p:txBody>
          <a:bodyPr wrap="square" lIns="0" tIns="0" rIns="0" bIns="0" rtlCol="0" anchor="ctr"/>
          <a:lstStyle/>
          <a:p>
            <a:pPr algn="ctr" indent="0" marL="0">
              <a:buNone/>
            </a:pPr>
            <a:r>
              <a:rPr lang="en-US" sz="1000" dirty="0">
                <a:solidFill>
                  <a:srgbClr val="5B6472"/>
                </a:solidFill>
                <a:latin typeface="Calibri" pitchFamily="34" charset="0"/>
                <a:ea typeface="Calibri" pitchFamily="34" charset="-122"/>
                <a:cs typeface="Calibri" pitchFamily="34" charset="-120"/>
              </a:rPr>
              <a:t>Application de gestion commerciale — édition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lIns="0" tIns="0" rIns="0" bIns="0" rtlCol="0" anchor="ctr"/>
          <a:lstStyle/>
          <a:p>
            <a:pPr indent="0" marL="0">
              <a:buNone/>
            </a:pPr>
            <a:r>
              <a:rPr lang="en-US" sz="1200" b="1" spc="200" kern="0" dirty="0">
                <a:solidFill>
                  <a:srgbClr val="AD5416"/>
                </a:solidFill>
                <a:latin typeface="Calibri" pitchFamily="34" charset="0"/>
                <a:ea typeface="Calibri" pitchFamily="34" charset="-122"/>
                <a:cs typeface="Calibri" pitchFamily="34" charset="-120"/>
              </a:rPr>
              <a:t>BIENVENUE</a:t>
            </a:r>
            <a:endParaRPr lang="en-US" sz="1200" dirty="0"/>
          </a:p>
        </p:txBody>
      </p:sp>
      <p:sp>
        <p:nvSpPr>
          <p:cNvPr id="3" name="Text 1"/>
          <p:cNvSpPr/>
          <p:nvPr/>
        </p:nvSpPr>
        <p:spPr>
          <a:xfrm>
            <a:off x="502920" y="658368"/>
            <a:ext cx="7772400" cy="685800"/>
          </a:xfrm>
          <a:prstGeom prst="rect">
            <a:avLst/>
          </a:prstGeom>
          <a:noFill/>
          <a:ln/>
        </p:spPr>
        <p:txBody>
          <a:bodyPr wrap="square" lIns="0" tIns="0" rIns="0" bIns="0" rtlCol="0" anchor="ctr"/>
          <a:lstStyle/>
          <a:p>
            <a:pPr indent="0" marL="0">
              <a:buNone/>
            </a:pPr>
            <a:r>
              <a:rPr lang="en-US" sz="3000" b="1" dirty="0">
                <a:solidFill>
                  <a:srgbClr val="0F1923"/>
                </a:solidFill>
                <a:latin typeface="Cambria" pitchFamily="34" charset="0"/>
                <a:ea typeface="Cambria" pitchFamily="34" charset="-122"/>
                <a:cs typeface="Cambria" pitchFamily="34" charset="-120"/>
              </a:rPr>
              <a:t>Ce guide est fait pour vous</a:t>
            </a:r>
            <a:endParaRPr lang="en-US" sz="3000" dirty="0"/>
          </a:p>
        </p:txBody>
      </p:sp>
      <p:sp>
        <p:nvSpPr>
          <p:cNvPr id="4" name="Shape 2"/>
          <p:cNvSpPr/>
          <p:nvPr/>
        </p:nvSpPr>
        <p:spPr>
          <a:xfrm>
            <a:off x="502920" y="1600200"/>
            <a:ext cx="6492240" cy="4480560"/>
          </a:xfrm>
          <a:prstGeom prst="roundRect">
            <a:avLst>
              <a:gd name="adj" fmla="val 1633"/>
            </a:avLst>
          </a:prstGeom>
          <a:solidFill>
            <a:srgbClr val="FFFFFF"/>
          </a:solidFill>
          <a:ln w="12700">
            <a:solidFill>
              <a:srgbClr val="CBAF91"/>
            </a:solidFill>
            <a:prstDash val="solid"/>
          </a:ln>
          <a:effectLst>
            <a:outerShdw sx="100000" sy="100000" kx="0" ky="0" algn="bl" rotWithShape="0" blurRad="101600" dist="38100" dir="5400000">
              <a:srgbClr val="000000">
                <a:alpha val="12000"/>
              </a:srgbClr>
            </a:outerShdw>
          </a:effectLst>
        </p:spPr>
      </p:sp>
      <p:sp>
        <p:nvSpPr>
          <p:cNvPr id="5" name="Text 3"/>
          <p:cNvSpPr/>
          <p:nvPr/>
        </p:nvSpPr>
        <p:spPr>
          <a:xfrm>
            <a:off x="868680" y="1874520"/>
            <a:ext cx="5760720" cy="960120"/>
          </a:xfrm>
          <a:prstGeom prst="rect">
            <a:avLst/>
          </a:prstGeom>
          <a:noFill/>
          <a:ln/>
        </p:spPr>
        <p:txBody>
          <a:bodyPr wrap="square" lIns="0" tIns="0" rIns="0" bIns="0" rtlCol="0" anchor="ctr"/>
          <a:lstStyle/>
          <a:p>
            <a:pPr indent="0" marL="0">
              <a:buNone/>
            </a:pPr>
            <a:r>
              <a:rPr lang="en-US" sz="1600" b="1" dirty="0">
                <a:solidFill>
                  <a:srgbClr val="0F1923"/>
                </a:solidFill>
                <a:latin typeface="Calibri" pitchFamily="34" charset="0"/>
                <a:ea typeface="Calibri" pitchFamily="34" charset="-122"/>
                <a:cs typeface="Calibri" pitchFamily="34" charset="-120"/>
              </a:rPr>
              <a:t>Ce guide s'adresse à vous si vous occupez un poste d'Administrateur à la Boulangerie Lomoto — Principal ou secondaire.</a:t>
            </a:r>
            <a:endParaRPr lang="en-US" sz="1600" dirty="0"/>
          </a:p>
        </p:txBody>
      </p:sp>
      <p:sp>
        <p:nvSpPr>
          <p:cNvPr id="6" name="Text 4"/>
          <p:cNvSpPr/>
          <p:nvPr/>
        </p:nvSpPr>
        <p:spPr>
          <a:xfrm>
            <a:off x="868680" y="2834640"/>
            <a:ext cx="5760720" cy="1280160"/>
          </a:xfrm>
          <a:prstGeom prst="rect">
            <a:avLst/>
          </a:prstGeom>
          <a:noFill/>
          <a:ln/>
        </p:spPr>
        <p:txBody>
          <a:bodyPr wrap="square" lIns="0" tIns="0" rIns="0" bIns="0" rtlCol="0" anchor="ctr"/>
          <a:lstStyle/>
          <a:p>
            <a:pPr indent="0" marL="0">
              <a:lnSpc>
                <a:spcPct val="125000"/>
              </a:lnSpc>
              <a:buNone/>
            </a:pPr>
            <a:r>
              <a:rPr lang="en-US" sz="1300" dirty="0">
                <a:solidFill>
                  <a:srgbClr val="3A4553"/>
                </a:solidFill>
                <a:latin typeface="Calibri" pitchFamily="34" charset="0"/>
                <a:ea typeface="Calibri" pitchFamily="34" charset="-122"/>
                <a:cs typeface="Calibri" pitchFamily="34" charset="-120"/>
              </a:rPr>
              <a:t>Il couvre les deux niveaux dans le même document : ce qui est identique, et ce qui diffère précisément entre un compte Principal et un compte secondaire. Gérer l'équipe, valider des tâches critiques, superviser sans écrire partout, et garder un œil sur l'état technique de l'application.</a:t>
            </a:r>
            <a:endParaRPr lang="en-US" sz="1300" dirty="0"/>
          </a:p>
        </p:txBody>
      </p:sp>
      <p:sp>
        <p:nvSpPr>
          <p:cNvPr id="7" name="Shape 5"/>
          <p:cNvSpPr/>
          <p:nvPr/>
        </p:nvSpPr>
        <p:spPr>
          <a:xfrm>
            <a:off x="868680" y="4251960"/>
            <a:ext cx="384048" cy="384048"/>
          </a:xfrm>
          <a:prstGeom prst="ellipse">
            <a:avLst/>
          </a:prstGeom>
          <a:solidFill>
            <a:srgbClr val="F3E3C3"/>
          </a:solidFill>
          <a:ln/>
        </p:spPr>
      </p:sp>
      <p:sp>
        <p:nvSpPr>
          <p:cNvPr id="8" name="Text 6"/>
          <p:cNvSpPr/>
          <p:nvPr/>
        </p:nvSpPr>
        <p:spPr>
          <a:xfrm>
            <a:off x="868680" y="4251960"/>
            <a:ext cx="384048" cy="384048"/>
          </a:xfrm>
          <a:prstGeom prst="rect">
            <a:avLst/>
          </a:prstGeom>
          <a:noFill/>
          <a:ln/>
        </p:spPr>
        <p:txBody>
          <a:bodyPr wrap="square" lIns="0" tIns="0" rIns="0" bIns="0" rtlCol="0" anchor="ctr"/>
          <a:lstStyle/>
          <a:p>
            <a:pPr algn="ctr" indent="0" marL="0">
              <a:buNone/>
            </a:pPr>
            <a:r>
              <a:rPr lang="en-US" sz="1008" b="1" dirty="0">
                <a:solidFill>
                  <a:srgbClr val="AD5416"/>
                </a:solidFill>
                <a:latin typeface="Calibri" pitchFamily="34" charset="0"/>
                <a:ea typeface="Calibri" pitchFamily="34" charset="-122"/>
                <a:cs typeface="Calibri" pitchFamily="34" charset="-120"/>
              </a:rPr>
              <a:t>🔑</a:t>
            </a:r>
            <a:endParaRPr lang="en-US" sz="1008" dirty="0"/>
          </a:p>
        </p:txBody>
      </p:sp>
      <p:sp>
        <p:nvSpPr>
          <p:cNvPr id="9" name="Text 7"/>
          <p:cNvSpPr/>
          <p:nvPr/>
        </p:nvSpPr>
        <p:spPr>
          <a:xfrm>
            <a:off x="1417320" y="4251960"/>
            <a:ext cx="5120640" cy="384048"/>
          </a:xfrm>
          <a:prstGeom prst="rect">
            <a:avLst/>
          </a:prstGeom>
          <a:noFill/>
          <a:ln/>
        </p:spPr>
        <p:txBody>
          <a:bodyPr wrap="square" lIns="0" tIns="0" rIns="0" bIns="0" rtlCol="0" anchor="ctr"/>
          <a:lstStyle/>
          <a:p>
            <a:pPr indent="0" marL="0">
              <a:buNone/>
            </a:pPr>
            <a:r>
              <a:rPr lang="en-US" sz="1300" dirty="0">
                <a:solidFill>
                  <a:srgbClr val="0F1923"/>
                </a:solidFill>
                <a:latin typeface="Calibri" pitchFamily="34" charset="0"/>
                <a:ea typeface="Calibri" pitchFamily="34" charset="-122"/>
                <a:cs typeface="Calibri" pitchFamily="34" charset="-120"/>
              </a:rPr>
              <a:t>Vous connecter avec votre adresse professionnelle</a:t>
            </a:r>
            <a:endParaRPr lang="en-US" sz="1300" dirty="0"/>
          </a:p>
        </p:txBody>
      </p:sp>
      <p:sp>
        <p:nvSpPr>
          <p:cNvPr id="10" name="Shape 8"/>
          <p:cNvSpPr/>
          <p:nvPr/>
        </p:nvSpPr>
        <p:spPr>
          <a:xfrm>
            <a:off x="868680" y="4736592"/>
            <a:ext cx="384048" cy="384048"/>
          </a:xfrm>
          <a:prstGeom prst="ellipse">
            <a:avLst/>
          </a:prstGeom>
          <a:solidFill>
            <a:srgbClr val="F3E3C3"/>
          </a:solidFill>
          <a:ln/>
        </p:spPr>
      </p:sp>
      <p:sp>
        <p:nvSpPr>
          <p:cNvPr id="11" name="Text 9"/>
          <p:cNvSpPr/>
          <p:nvPr/>
        </p:nvSpPr>
        <p:spPr>
          <a:xfrm>
            <a:off x="868680" y="4736592"/>
            <a:ext cx="384048" cy="384048"/>
          </a:xfrm>
          <a:prstGeom prst="rect">
            <a:avLst/>
          </a:prstGeom>
          <a:noFill/>
          <a:ln/>
        </p:spPr>
        <p:txBody>
          <a:bodyPr wrap="square" lIns="0" tIns="0" rIns="0" bIns="0" rtlCol="0" anchor="ctr"/>
          <a:lstStyle/>
          <a:p>
            <a:pPr algn="ctr" indent="0" marL="0">
              <a:buNone/>
            </a:pPr>
            <a:r>
              <a:rPr lang="en-US" sz="1008" b="1" dirty="0">
                <a:solidFill>
                  <a:srgbClr val="AD5416"/>
                </a:solidFill>
                <a:latin typeface="Calibri" pitchFamily="34" charset="0"/>
                <a:ea typeface="Calibri" pitchFamily="34" charset="-122"/>
                <a:cs typeface="Calibri" pitchFamily="34" charset="-120"/>
              </a:rPr>
              <a:t>👥</a:t>
            </a:r>
            <a:endParaRPr lang="en-US" sz="1008" dirty="0"/>
          </a:p>
        </p:txBody>
      </p:sp>
      <p:sp>
        <p:nvSpPr>
          <p:cNvPr id="12" name="Text 10"/>
          <p:cNvSpPr/>
          <p:nvPr/>
        </p:nvSpPr>
        <p:spPr>
          <a:xfrm>
            <a:off x="1417320" y="4736592"/>
            <a:ext cx="5120640" cy="384048"/>
          </a:xfrm>
          <a:prstGeom prst="rect">
            <a:avLst/>
          </a:prstGeom>
          <a:noFill/>
          <a:ln/>
        </p:spPr>
        <p:txBody>
          <a:bodyPr wrap="square" lIns="0" tIns="0" rIns="0" bIns="0" rtlCol="0" anchor="ctr"/>
          <a:lstStyle/>
          <a:p>
            <a:pPr indent="0" marL="0">
              <a:buNone/>
            </a:pPr>
            <a:r>
              <a:rPr lang="en-US" sz="1300" dirty="0">
                <a:solidFill>
                  <a:srgbClr val="0F1923"/>
                </a:solidFill>
                <a:latin typeface="Calibri" pitchFamily="34" charset="0"/>
                <a:ea typeface="Calibri" pitchFamily="34" charset="-122"/>
                <a:cs typeface="Calibri" pitchFamily="34" charset="-120"/>
              </a:rPr>
              <a:t>Créer, activer ou désactiver des comptes</a:t>
            </a:r>
            <a:endParaRPr lang="en-US" sz="1300" dirty="0"/>
          </a:p>
        </p:txBody>
      </p:sp>
      <p:sp>
        <p:nvSpPr>
          <p:cNvPr id="13" name="Shape 11"/>
          <p:cNvSpPr/>
          <p:nvPr/>
        </p:nvSpPr>
        <p:spPr>
          <a:xfrm>
            <a:off x="868680" y="5221224"/>
            <a:ext cx="384048" cy="384048"/>
          </a:xfrm>
          <a:prstGeom prst="ellipse">
            <a:avLst/>
          </a:prstGeom>
          <a:solidFill>
            <a:srgbClr val="F3E3C3"/>
          </a:solidFill>
          <a:ln/>
        </p:spPr>
      </p:sp>
      <p:sp>
        <p:nvSpPr>
          <p:cNvPr id="14" name="Text 12"/>
          <p:cNvSpPr/>
          <p:nvPr/>
        </p:nvSpPr>
        <p:spPr>
          <a:xfrm>
            <a:off x="868680" y="5221224"/>
            <a:ext cx="384048" cy="384048"/>
          </a:xfrm>
          <a:prstGeom prst="rect">
            <a:avLst/>
          </a:prstGeom>
          <a:noFill/>
          <a:ln/>
        </p:spPr>
        <p:txBody>
          <a:bodyPr wrap="square" lIns="0" tIns="0" rIns="0" bIns="0" rtlCol="0" anchor="ctr"/>
          <a:lstStyle/>
          <a:p>
            <a:pPr algn="ctr" indent="0" marL="0">
              <a:buNone/>
            </a:pPr>
            <a:r>
              <a:rPr lang="en-US" sz="1008" b="1" dirty="0">
                <a:solidFill>
                  <a:srgbClr val="AD5416"/>
                </a:solidFill>
                <a:latin typeface="Calibri" pitchFamily="34" charset="0"/>
                <a:ea typeface="Calibri" pitchFamily="34" charset="-122"/>
                <a:cs typeface="Calibri" pitchFamily="34" charset="-120"/>
              </a:rPr>
              <a:t>✅</a:t>
            </a:r>
            <a:endParaRPr lang="en-US" sz="1008" dirty="0"/>
          </a:p>
        </p:txBody>
      </p:sp>
      <p:sp>
        <p:nvSpPr>
          <p:cNvPr id="15" name="Text 13"/>
          <p:cNvSpPr/>
          <p:nvPr/>
        </p:nvSpPr>
        <p:spPr>
          <a:xfrm>
            <a:off x="1417320" y="5221224"/>
            <a:ext cx="5120640" cy="384048"/>
          </a:xfrm>
          <a:prstGeom prst="rect">
            <a:avLst/>
          </a:prstGeom>
          <a:noFill/>
          <a:ln/>
        </p:spPr>
        <p:txBody>
          <a:bodyPr wrap="square" lIns="0" tIns="0" rIns="0" bIns="0" rtlCol="0" anchor="ctr"/>
          <a:lstStyle/>
          <a:p>
            <a:pPr indent="0" marL="0">
              <a:buNone/>
            </a:pPr>
            <a:r>
              <a:rPr lang="en-US" sz="1300" dirty="0">
                <a:solidFill>
                  <a:srgbClr val="0F1923"/>
                </a:solidFill>
                <a:latin typeface="Calibri" pitchFamily="34" charset="0"/>
                <a:ea typeface="Calibri" pitchFamily="34" charset="-122"/>
                <a:cs typeface="Calibri" pitchFamily="34" charset="-120"/>
              </a:rPr>
              <a:t>Traiter — ou suivre — les demandes d'approbation</a:t>
            </a:r>
            <a:endParaRPr lang="en-US" sz="1300" dirty="0"/>
          </a:p>
        </p:txBody>
      </p:sp>
      <p:sp>
        <p:nvSpPr>
          <p:cNvPr id="16" name="Shape 14"/>
          <p:cNvSpPr/>
          <p:nvPr/>
        </p:nvSpPr>
        <p:spPr>
          <a:xfrm>
            <a:off x="868680" y="5705856"/>
            <a:ext cx="384048" cy="384048"/>
          </a:xfrm>
          <a:prstGeom prst="ellipse">
            <a:avLst/>
          </a:prstGeom>
          <a:solidFill>
            <a:srgbClr val="F3E3C3"/>
          </a:solidFill>
          <a:ln/>
        </p:spPr>
      </p:sp>
      <p:sp>
        <p:nvSpPr>
          <p:cNvPr id="17" name="Text 15"/>
          <p:cNvSpPr/>
          <p:nvPr/>
        </p:nvSpPr>
        <p:spPr>
          <a:xfrm>
            <a:off x="868680" y="5705856"/>
            <a:ext cx="384048" cy="384048"/>
          </a:xfrm>
          <a:prstGeom prst="rect">
            <a:avLst/>
          </a:prstGeom>
          <a:noFill/>
          <a:ln/>
        </p:spPr>
        <p:txBody>
          <a:bodyPr wrap="square" lIns="0" tIns="0" rIns="0" bIns="0" rtlCol="0" anchor="ctr"/>
          <a:lstStyle/>
          <a:p>
            <a:pPr algn="ctr" indent="0" marL="0">
              <a:buNone/>
            </a:pPr>
            <a:r>
              <a:rPr lang="en-US" sz="1008" b="1" dirty="0">
                <a:solidFill>
                  <a:srgbClr val="AD5416"/>
                </a:solidFill>
                <a:latin typeface="Calibri" pitchFamily="34" charset="0"/>
                <a:ea typeface="Calibri" pitchFamily="34" charset="-122"/>
                <a:cs typeface="Calibri" pitchFamily="34" charset="-120"/>
              </a:rPr>
              <a:t>🛠️</a:t>
            </a:r>
            <a:endParaRPr lang="en-US" sz="1008" dirty="0"/>
          </a:p>
        </p:txBody>
      </p:sp>
      <p:sp>
        <p:nvSpPr>
          <p:cNvPr id="18" name="Text 16"/>
          <p:cNvSpPr/>
          <p:nvPr/>
        </p:nvSpPr>
        <p:spPr>
          <a:xfrm>
            <a:off x="1417320" y="5705856"/>
            <a:ext cx="5120640" cy="384048"/>
          </a:xfrm>
          <a:prstGeom prst="rect">
            <a:avLst/>
          </a:prstGeom>
          <a:noFill/>
          <a:ln/>
        </p:spPr>
        <p:txBody>
          <a:bodyPr wrap="square" lIns="0" tIns="0" rIns="0" bIns="0" rtlCol="0" anchor="ctr"/>
          <a:lstStyle/>
          <a:p>
            <a:pPr indent="0" marL="0">
              <a:buNone/>
            </a:pPr>
            <a:r>
              <a:rPr lang="en-US" sz="1300" dirty="0">
                <a:solidFill>
                  <a:srgbClr val="0F1923"/>
                </a:solidFill>
                <a:latin typeface="Calibri" pitchFamily="34" charset="0"/>
                <a:ea typeface="Calibri" pitchFamily="34" charset="-122"/>
                <a:cs typeface="Calibri" pitchFamily="34" charset="-120"/>
              </a:rPr>
              <a:t>Superviser l'état système et l'activité de l'équipe</a:t>
            </a:r>
            <a:endParaRPr lang="en-US" sz="1300" dirty="0"/>
          </a:p>
        </p:txBody>
      </p:sp>
      <p:sp>
        <p:nvSpPr>
          <p:cNvPr id="19" name="Shape 17"/>
          <p:cNvSpPr/>
          <p:nvPr/>
        </p:nvSpPr>
        <p:spPr>
          <a:xfrm>
            <a:off x="7680960" y="2526030"/>
            <a:ext cx="4096512" cy="2628900"/>
          </a:xfrm>
          <a:prstGeom prst="roundRect">
            <a:avLst>
              <a:gd name="adj" fmla="val 2087"/>
            </a:avLst>
          </a:prstGeom>
          <a:solidFill>
            <a:srgbClr val="FFFFFF"/>
          </a:solidFill>
          <a:ln w="12700">
            <a:solidFill>
              <a:srgbClr val="CBAF91"/>
            </a:solidFill>
            <a:prstDash val="solid"/>
          </a:ln>
          <a:effectLst>
            <a:outerShdw sx="100000" sy="100000" kx="0" ky="0" algn="bl" rotWithShape="0" blurRad="127000" dist="50800" dir="5400000">
              <a:srgbClr val="000000">
                <a:alpha val="28000"/>
              </a:srgbClr>
            </a:outerShdw>
          </a:effectLst>
        </p:spPr>
      </p:sp>
      <p:pic>
        <p:nvPicPr>
          <p:cNvPr id="20" name="Image 0" descr="/tmp/claude-0/-home-user-Boulangerie/f122e8ab-b408-5ce6-930c-e0c5bddf9e4c/scratchpad/captures/administrateur/../caissiere/01-login.png">    </p:cNvPr>
          <p:cNvPicPr>
            <a:picLocks noChangeAspect="1"/>
          </p:cNvPicPr>
          <p:nvPr/>
        </p:nvPicPr>
        <p:blipFill>
          <a:blip r:embed="rId1"/>
          <a:stretch>
            <a:fillRect/>
          </a:stretch>
        </p:blipFill>
        <p:spPr>
          <a:xfrm>
            <a:off x="7772400" y="2617470"/>
            <a:ext cx="3913632" cy="2446020"/>
          </a:xfrm>
          <a:prstGeom prst="rect">
            <a:avLst/>
          </a:prstGeom>
        </p:spPr>
      </p:pic>
      <p:sp>
        <p:nvSpPr>
          <p:cNvPr id="21" name="Text 18"/>
          <p:cNvSpPr/>
          <p:nvPr/>
        </p:nvSpPr>
        <p:spPr>
          <a:xfrm>
            <a:off x="502920" y="6400800"/>
            <a:ext cx="11185855" cy="292608"/>
          </a:xfrm>
          <a:prstGeom prst="rect">
            <a:avLst/>
          </a:prstGeom>
          <a:noFill/>
          <a:ln/>
        </p:spPr>
        <p:txBody>
          <a:bodyPr wrap="square" lIns="0" tIns="0" rIns="0" bIns="0" rtlCol="0" anchor="ctr"/>
          <a:lstStyle/>
          <a:p>
            <a:pPr algn="l" indent="0" marL="0">
              <a:buNone/>
            </a:pPr>
            <a:r>
              <a:rPr lang="en-US" sz="950" dirty="0">
                <a:solidFill>
                  <a:srgbClr val="A9A196"/>
                </a:solidFill>
                <a:latin typeface="Calibri" pitchFamily="34" charset="0"/>
                <a:ea typeface="Calibri" pitchFamily="34" charset="-122"/>
                <a:cs typeface="Calibri" pitchFamily="34" charset="-120"/>
              </a:rPr>
              <a:t>2 / 18</a:t>
            </a:r>
            <a:endParaRPr lang="en-US" sz="950" dirty="0"/>
          </a:p>
        </p:txBody>
      </p:sp>
      <p:sp>
        <p:nvSpPr>
          <p:cNvPr id="22" name="Text 19"/>
          <p:cNvSpPr/>
          <p:nvPr/>
        </p:nvSpPr>
        <p:spPr>
          <a:xfrm>
            <a:off x="502920" y="6400800"/>
            <a:ext cx="11185855" cy="292608"/>
          </a:xfrm>
          <a:prstGeom prst="rect">
            <a:avLst/>
          </a:prstGeom>
          <a:noFill/>
          <a:ln/>
        </p:spPr>
        <p:txBody>
          <a:bodyPr wrap="square" lIns="0" tIns="0" rIns="0" bIns="0" rtlCol="0" anchor="ctr"/>
          <a:lstStyle/>
          <a:p>
            <a:pPr algn="r" indent="0" marL="0">
              <a:buNone/>
            </a:pPr>
            <a:r>
              <a:rPr lang="en-US" sz="950" dirty="0">
                <a:solidFill>
                  <a:srgbClr val="A9A196"/>
                </a:solidFill>
                <a:latin typeface="Calibri" pitchFamily="34" charset="0"/>
                <a:ea typeface="Calibri" pitchFamily="34" charset="-122"/>
                <a:cs typeface="Calibri" pitchFamily="34" charset="-120"/>
              </a:rPr>
              <a:t>Boulangerie Lomoto — Guide Administrateur</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lIns="0" tIns="0" rIns="0" bIns="0" rtlCol="0" anchor="ctr"/>
          <a:lstStyle/>
          <a:p>
            <a:pPr indent="0" marL="0">
              <a:buNone/>
            </a:pPr>
            <a:r>
              <a:rPr lang="en-US" sz="1200" b="1" spc="200" kern="0" dirty="0">
                <a:solidFill>
                  <a:srgbClr val="AD5416"/>
                </a:solidFill>
                <a:latin typeface="Calibri" pitchFamily="34" charset="0"/>
                <a:ea typeface="Calibri" pitchFamily="34" charset="-122"/>
                <a:cs typeface="Calibri" pitchFamily="34" charset="-120"/>
              </a:rPr>
              <a:t>À BIEN DISTINGUER</a:t>
            </a:r>
            <a:endParaRPr lang="en-US" sz="1200" dirty="0"/>
          </a:p>
        </p:txBody>
      </p:sp>
      <p:sp>
        <p:nvSpPr>
          <p:cNvPr id="3" name="Text 1"/>
          <p:cNvSpPr/>
          <p:nvPr/>
        </p:nvSpPr>
        <p:spPr>
          <a:xfrm>
            <a:off x="502920" y="658368"/>
            <a:ext cx="7772400" cy="685800"/>
          </a:xfrm>
          <a:prstGeom prst="rect">
            <a:avLst/>
          </a:prstGeom>
          <a:noFill/>
          <a:ln/>
        </p:spPr>
        <p:txBody>
          <a:bodyPr wrap="square" lIns="0" tIns="0" rIns="0" bIns="0" rtlCol="0" anchor="ctr"/>
          <a:lstStyle/>
          <a:p>
            <a:pPr indent="0" marL="0">
              <a:buNone/>
            </a:pPr>
            <a:r>
              <a:rPr lang="en-US" sz="3000" b="1" dirty="0">
                <a:solidFill>
                  <a:srgbClr val="0F1923"/>
                </a:solidFill>
                <a:latin typeface="Cambria" pitchFamily="34" charset="0"/>
                <a:ea typeface="Cambria" pitchFamily="34" charset="-122"/>
                <a:cs typeface="Cambria" pitchFamily="34" charset="-120"/>
              </a:rPr>
              <a:t>Deux niveaux d'Administrateur</a:t>
            </a:r>
            <a:endParaRPr lang="en-US" sz="3000" dirty="0"/>
          </a:p>
        </p:txBody>
      </p:sp>
      <p:sp>
        <p:nvSpPr>
          <p:cNvPr id="4" name="Shape 2"/>
          <p:cNvSpPr/>
          <p:nvPr/>
        </p:nvSpPr>
        <p:spPr>
          <a:xfrm>
            <a:off x="502920" y="1600200"/>
            <a:ext cx="5440680" cy="3703320"/>
          </a:xfrm>
          <a:prstGeom prst="roundRect">
            <a:avLst>
              <a:gd name="adj" fmla="val 1975"/>
            </a:avLst>
          </a:prstGeom>
          <a:solidFill>
            <a:srgbClr val="0F1923"/>
          </a:solidFill>
          <a:ln/>
          <a:effectLst>
            <a:outerShdw sx="100000" sy="100000" kx="0" ky="0" algn="bl" rotWithShape="0" blurRad="101600" dist="38100" dir="5400000">
              <a:srgbClr val="000000">
                <a:alpha val="18000"/>
              </a:srgbClr>
            </a:outerShdw>
          </a:effectLst>
        </p:spPr>
      </p:sp>
      <p:sp>
        <p:nvSpPr>
          <p:cNvPr id="5" name="Text 3"/>
          <p:cNvSpPr/>
          <p:nvPr/>
        </p:nvSpPr>
        <p:spPr>
          <a:xfrm>
            <a:off x="822960" y="1874520"/>
            <a:ext cx="4800600" cy="457200"/>
          </a:xfrm>
          <a:prstGeom prst="rect">
            <a:avLst/>
          </a:prstGeom>
          <a:noFill/>
          <a:ln/>
        </p:spPr>
        <p:txBody>
          <a:bodyPr wrap="square" lIns="0" tIns="0" rIns="0" bIns="0" rtlCol="0" anchor="ctr"/>
          <a:lstStyle/>
          <a:p>
            <a:pPr indent="0" marL="0">
              <a:buNone/>
            </a:pPr>
            <a:r>
              <a:rPr lang="en-US" sz="1800" b="1" dirty="0">
                <a:solidFill>
                  <a:srgbClr val="DA9F4E"/>
                </a:solidFill>
                <a:latin typeface="Cambria" pitchFamily="34" charset="0"/>
                <a:ea typeface="Cambria" pitchFamily="34" charset="-122"/>
                <a:cs typeface="Cambria" pitchFamily="34" charset="-120"/>
              </a:rPr>
              <a:t>👑  Administrateur principal</a:t>
            </a:r>
            <a:endParaRPr lang="en-US" sz="1800" dirty="0"/>
          </a:p>
        </p:txBody>
      </p:sp>
      <p:sp>
        <p:nvSpPr>
          <p:cNvPr id="6" name="Text 4"/>
          <p:cNvSpPr/>
          <p:nvPr/>
        </p:nvSpPr>
        <p:spPr>
          <a:xfrm>
            <a:off x="822960" y="2313432"/>
            <a:ext cx="4800600" cy="320040"/>
          </a:xfrm>
          <a:prstGeom prst="rect">
            <a:avLst/>
          </a:prstGeom>
          <a:noFill/>
          <a:ln/>
        </p:spPr>
        <p:txBody>
          <a:bodyPr wrap="square" lIns="0" tIns="0" rIns="0" bIns="0" rtlCol="0" anchor="ctr"/>
          <a:lstStyle/>
          <a:p>
            <a:pPr indent="0" marL="0">
              <a:buNone/>
            </a:pPr>
            <a:r>
              <a:rPr lang="en-US" sz="1150" i="1" dirty="0">
                <a:solidFill>
                  <a:srgbClr val="CBAF91"/>
                </a:solidFill>
                <a:latin typeface="Calibri" pitchFamily="34" charset="0"/>
                <a:ea typeface="Calibri" pitchFamily="34" charset="-122"/>
                <a:cs typeface="Calibri" pitchFamily="34" charset="-120"/>
              </a:rPr>
              <a:t>Un seul à la fois dans toute l'application</a:t>
            </a:r>
            <a:endParaRPr lang="en-US" sz="1150" dirty="0"/>
          </a:p>
        </p:txBody>
      </p:sp>
      <p:sp>
        <p:nvSpPr>
          <p:cNvPr id="7" name="Text 5"/>
          <p:cNvSpPr/>
          <p:nvPr/>
        </p:nvSpPr>
        <p:spPr>
          <a:xfrm>
            <a:off x="822960" y="2743200"/>
            <a:ext cx="228600" cy="457200"/>
          </a:xfrm>
          <a:prstGeom prst="rect">
            <a:avLst/>
          </a:prstGeom>
          <a:noFill/>
          <a:ln/>
        </p:spPr>
        <p:txBody>
          <a:bodyPr wrap="square" lIns="0" tIns="0" rIns="0" bIns="0" rtlCol="0" anchor="ctr"/>
          <a:lstStyle/>
          <a:p>
            <a:pPr indent="0" marL="0">
              <a:buNone/>
            </a:pPr>
            <a:r>
              <a:rPr lang="en-US" sz="800" dirty="0">
                <a:solidFill>
                  <a:srgbClr val="DA9F4E"/>
                </a:solidFill>
                <a:latin typeface="Calibri" pitchFamily="34" charset="0"/>
                <a:ea typeface="Calibri" pitchFamily="34" charset="-122"/>
                <a:cs typeface="Calibri" pitchFamily="34" charset="-120"/>
              </a:rPr>
              <a:t>●</a:t>
            </a:r>
            <a:endParaRPr lang="en-US" sz="800" dirty="0"/>
          </a:p>
        </p:txBody>
      </p:sp>
      <p:sp>
        <p:nvSpPr>
          <p:cNvPr id="8" name="Text 6"/>
          <p:cNvSpPr/>
          <p:nvPr/>
        </p:nvSpPr>
        <p:spPr>
          <a:xfrm>
            <a:off x="1097280" y="2743200"/>
            <a:ext cx="4526280" cy="457200"/>
          </a:xfrm>
          <a:prstGeom prst="rect">
            <a:avLst/>
          </a:prstGeom>
          <a:noFill/>
          <a:ln/>
        </p:spPr>
        <p:txBody>
          <a:bodyPr wrap="square" lIns="0" tIns="0" rIns="0" bIns="0" rtlCol="0" anchor="ctr"/>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Écriture sur absolument tous les modules, sans exception</a:t>
            </a:r>
            <a:endParaRPr lang="en-US" sz="1150" dirty="0"/>
          </a:p>
        </p:txBody>
      </p:sp>
      <p:sp>
        <p:nvSpPr>
          <p:cNvPr id="9" name="Text 7"/>
          <p:cNvSpPr/>
          <p:nvPr/>
        </p:nvSpPr>
        <p:spPr>
          <a:xfrm>
            <a:off x="822960" y="3255264"/>
            <a:ext cx="228600" cy="457200"/>
          </a:xfrm>
          <a:prstGeom prst="rect">
            <a:avLst/>
          </a:prstGeom>
          <a:noFill/>
          <a:ln/>
        </p:spPr>
        <p:txBody>
          <a:bodyPr wrap="square" lIns="0" tIns="0" rIns="0" bIns="0" rtlCol="0" anchor="ctr"/>
          <a:lstStyle/>
          <a:p>
            <a:pPr indent="0" marL="0">
              <a:buNone/>
            </a:pPr>
            <a:r>
              <a:rPr lang="en-US" sz="800" dirty="0">
                <a:solidFill>
                  <a:srgbClr val="DA9F4E"/>
                </a:solidFill>
                <a:latin typeface="Calibri" pitchFamily="34" charset="0"/>
                <a:ea typeface="Calibri" pitchFamily="34" charset="-122"/>
                <a:cs typeface="Calibri" pitchFamily="34" charset="-120"/>
              </a:rPr>
              <a:t>●</a:t>
            </a:r>
            <a:endParaRPr lang="en-US" sz="800" dirty="0"/>
          </a:p>
        </p:txBody>
      </p:sp>
      <p:sp>
        <p:nvSpPr>
          <p:cNvPr id="10" name="Text 8"/>
          <p:cNvSpPr/>
          <p:nvPr/>
        </p:nvSpPr>
        <p:spPr>
          <a:xfrm>
            <a:off x="1097280" y="3255264"/>
            <a:ext cx="4526280" cy="457200"/>
          </a:xfrm>
          <a:prstGeom prst="rect">
            <a:avLst/>
          </a:prstGeom>
          <a:noFill/>
          <a:ln/>
        </p:spPr>
        <p:txBody>
          <a:bodyPr wrap="square" lIns="0" tIns="0" rIns="0" bIns="0" rtlCol="0" anchor="ctr"/>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Exécute les tâches critiques immédiatement — jamais d'approbation à attendre</a:t>
            </a:r>
            <a:endParaRPr lang="en-US" sz="1150" dirty="0"/>
          </a:p>
        </p:txBody>
      </p:sp>
      <p:sp>
        <p:nvSpPr>
          <p:cNvPr id="11" name="Text 9"/>
          <p:cNvSpPr/>
          <p:nvPr/>
        </p:nvSpPr>
        <p:spPr>
          <a:xfrm>
            <a:off x="822960" y="3767328"/>
            <a:ext cx="228600" cy="457200"/>
          </a:xfrm>
          <a:prstGeom prst="rect">
            <a:avLst/>
          </a:prstGeom>
          <a:noFill/>
          <a:ln/>
        </p:spPr>
        <p:txBody>
          <a:bodyPr wrap="square" lIns="0" tIns="0" rIns="0" bIns="0" rtlCol="0" anchor="ctr"/>
          <a:lstStyle/>
          <a:p>
            <a:pPr indent="0" marL="0">
              <a:buNone/>
            </a:pPr>
            <a:r>
              <a:rPr lang="en-US" sz="800" dirty="0">
                <a:solidFill>
                  <a:srgbClr val="DA9F4E"/>
                </a:solidFill>
                <a:latin typeface="Calibri" pitchFamily="34" charset="0"/>
                <a:ea typeface="Calibri" pitchFamily="34" charset="-122"/>
                <a:cs typeface="Calibri" pitchFamily="34" charset="-120"/>
              </a:rPr>
              <a:t>●</a:t>
            </a:r>
            <a:endParaRPr lang="en-US" sz="800" dirty="0"/>
          </a:p>
        </p:txBody>
      </p:sp>
      <p:sp>
        <p:nvSpPr>
          <p:cNvPr id="12" name="Text 10"/>
          <p:cNvSpPr/>
          <p:nvPr/>
        </p:nvSpPr>
        <p:spPr>
          <a:xfrm>
            <a:off x="1097280" y="3767328"/>
            <a:ext cx="4526280" cy="457200"/>
          </a:xfrm>
          <a:prstGeom prst="rect">
            <a:avLst/>
          </a:prstGeom>
          <a:noFill/>
          <a:ln/>
        </p:spPr>
        <p:txBody>
          <a:bodyPr wrap="square" lIns="0" tIns="0" rIns="0" bIns="0" rtlCol="0" anchor="ctr"/>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Seul à pouvoir lancer une sauvegarde manuelle ou réinitialiser la base</a:t>
            </a:r>
            <a:endParaRPr lang="en-US" sz="1150" dirty="0"/>
          </a:p>
        </p:txBody>
      </p:sp>
      <p:sp>
        <p:nvSpPr>
          <p:cNvPr id="13" name="Text 11"/>
          <p:cNvSpPr/>
          <p:nvPr/>
        </p:nvSpPr>
        <p:spPr>
          <a:xfrm>
            <a:off x="822960" y="4279392"/>
            <a:ext cx="228600" cy="457200"/>
          </a:xfrm>
          <a:prstGeom prst="rect">
            <a:avLst/>
          </a:prstGeom>
          <a:noFill/>
          <a:ln/>
        </p:spPr>
        <p:txBody>
          <a:bodyPr wrap="square" lIns="0" tIns="0" rIns="0" bIns="0" rtlCol="0" anchor="ctr"/>
          <a:lstStyle/>
          <a:p>
            <a:pPr indent="0" marL="0">
              <a:buNone/>
            </a:pPr>
            <a:r>
              <a:rPr lang="en-US" sz="800" dirty="0">
                <a:solidFill>
                  <a:srgbClr val="DA9F4E"/>
                </a:solidFill>
                <a:latin typeface="Calibri" pitchFamily="34" charset="0"/>
                <a:ea typeface="Calibri" pitchFamily="34" charset="-122"/>
                <a:cs typeface="Calibri" pitchFamily="34" charset="-120"/>
              </a:rPr>
              <a:t>●</a:t>
            </a:r>
            <a:endParaRPr lang="en-US" sz="800" dirty="0"/>
          </a:p>
        </p:txBody>
      </p:sp>
      <p:sp>
        <p:nvSpPr>
          <p:cNvPr id="14" name="Text 12"/>
          <p:cNvSpPr/>
          <p:nvPr/>
        </p:nvSpPr>
        <p:spPr>
          <a:xfrm>
            <a:off x="1097280" y="4279392"/>
            <a:ext cx="4526280" cy="457200"/>
          </a:xfrm>
          <a:prstGeom prst="rect">
            <a:avLst/>
          </a:prstGeom>
          <a:noFill/>
          <a:ln/>
        </p:spPr>
        <p:txBody>
          <a:bodyPr wrap="square" lIns="0" tIns="0" rIns="0" bIns="0" rtlCol="0" anchor="ctr"/>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Décide (Approuver / Rejeter) les demandes des Admins secondaires</a:t>
            </a:r>
            <a:endParaRPr lang="en-US" sz="1150" dirty="0"/>
          </a:p>
        </p:txBody>
      </p:sp>
      <p:sp>
        <p:nvSpPr>
          <p:cNvPr id="15" name="Text 13"/>
          <p:cNvSpPr/>
          <p:nvPr/>
        </p:nvSpPr>
        <p:spPr>
          <a:xfrm>
            <a:off x="822960" y="4791456"/>
            <a:ext cx="228600" cy="457200"/>
          </a:xfrm>
          <a:prstGeom prst="rect">
            <a:avLst/>
          </a:prstGeom>
          <a:noFill/>
          <a:ln/>
        </p:spPr>
        <p:txBody>
          <a:bodyPr wrap="square" lIns="0" tIns="0" rIns="0" bIns="0" rtlCol="0" anchor="ctr"/>
          <a:lstStyle/>
          <a:p>
            <a:pPr indent="0" marL="0">
              <a:buNone/>
            </a:pPr>
            <a:r>
              <a:rPr lang="en-US" sz="800" dirty="0">
                <a:solidFill>
                  <a:srgbClr val="DA9F4E"/>
                </a:solidFill>
                <a:latin typeface="Calibri" pitchFamily="34" charset="0"/>
                <a:ea typeface="Calibri" pitchFamily="34" charset="-122"/>
                <a:cs typeface="Calibri" pitchFamily="34" charset="-120"/>
              </a:rPr>
              <a:t>●</a:t>
            </a:r>
            <a:endParaRPr lang="en-US" sz="800" dirty="0"/>
          </a:p>
        </p:txBody>
      </p:sp>
      <p:sp>
        <p:nvSpPr>
          <p:cNvPr id="16" name="Text 14"/>
          <p:cNvSpPr/>
          <p:nvPr/>
        </p:nvSpPr>
        <p:spPr>
          <a:xfrm>
            <a:off x="1097280" y="4791456"/>
            <a:ext cx="4526280" cy="457200"/>
          </a:xfrm>
          <a:prstGeom prst="rect">
            <a:avLst/>
          </a:prstGeom>
          <a:noFill/>
          <a:ln/>
        </p:spPr>
        <p:txBody>
          <a:bodyPr wrap="square" lIns="0" tIns="0" rIns="0" bIns="0" rtlCol="0" anchor="ctr"/>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Peut transférer son statut à un autre compte Administrateur</a:t>
            </a:r>
            <a:endParaRPr lang="en-US" sz="1150" dirty="0"/>
          </a:p>
        </p:txBody>
      </p:sp>
      <p:sp>
        <p:nvSpPr>
          <p:cNvPr id="17" name="Shape 15"/>
          <p:cNvSpPr/>
          <p:nvPr/>
        </p:nvSpPr>
        <p:spPr>
          <a:xfrm>
            <a:off x="6217920" y="1600200"/>
            <a:ext cx="5440680" cy="3703320"/>
          </a:xfrm>
          <a:prstGeom prst="roundRect">
            <a:avLst>
              <a:gd name="adj" fmla="val 1975"/>
            </a:avLst>
          </a:prstGeom>
          <a:solidFill>
            <a:srgbClr val="FFFFFF"/>
          </a:solidFill>
          <a:ln w="12700">
            <a:solidFill>
              <a:srgbClr val="CBAF91"/>
            </a:solidFill>
            <a:prstDash val="solid"/>
          </a:ln>
          <a:effectLst>
            <a:outerShdw sx="100000" sy="100000" kx="0" ky="0" algn="bl" rotWithShape="0" blurRad="76200" dist="25400" dir="5400000">
              <a:srgbClr val="000000">
                <a:alpha val="10000"/>
              </a:srgbClr>
            </a:outerShdw>
          </a:effectLst>
        </p:spPr>
      </p:sp>
      <p:sp>
        <p:nvSpPr>
          <p:cNvPr id="18" name="Text 16"/>
          <p:cNvSpPr/>
          <p:nvPr/>
        </p:nvSpPr>
        <p:spPr>
          <a:xfrm>
            <a:off x="6537960" y="1874520"/>
            <a:ext cx="4800600" cy="457200"/>
          </a:xfrm>
          <a:prstGeom prst="rect">
            <a:avLst/>
          </a:prstGeom>
          <a:noFill/>
          <a:ln/>
        </p:spPr>
        <p:txBody>
          <a:bodyPr wrap="square" lIns="0" tIns="0" rIns="0" bIns="0" rtlCol="0" anchor="ctr"/>
          <a:lstStyle/>
          <a:p>
            <a:pPr indent="0" marL="0">
              <a:buNone/>
            </a:pPr>
            <a:r>
              <a:rPr lang="en-US" sz="1800" b="1" dirty="0">
                <a:solidFill>
                  <a:srgbClr val="0F1923"/>
                </a:solidFill>
                <a:latin typeface="Cambria" pitchFamily="34" charset="0"/>
                <a:ea typeface="Cambria" pitchFamily="34" charset="-122"/>
                <a:cs typeface="Cambria" pitchFamily="34" charset="-120"/>
              </a:rPr>
              <a:t>🧑‍💼  Administrateur secondaire</a:t>
            </a:r>
            <a:endParaRPr lang="en-US" sz="1800" dirty="0"/>
          </a:p>
        </p:txBody>
      </p:sp>
      <p:sp>
        <p:nvSpPr>
          <p:cNvPr id="19" name="Text 17"/>
          <p:cNvSpPr/>
          <p:nvPr/>
        </p:nvSpPr>
        <p:spPr>
          <a:xfrm>
            <a:off x="6537960" y="2313432"/>
            <a:ext cx="4800600" cy="320040"/>
          </a:xfrm>
          <a:prstGeom prst="rect">
            <a:avLst/>
          </a:prstGeom>
          <a:noFill/>
          <a:ln/>
        </p:spPr>
        <p:txBody>
          <a:bodyPr wrap="square" lIns="0" tIns="0" rIns="0" bIns="0" rtlCol="0" anchor="ctr"/>
          <a:lstStyle/>
          <a:p>
            <a:pPr indent="0" marL="0">
              <a:buNone/>
            </a:pPr>
            <a:r>
              <a:rPr lang="en-US" sz="1150" i="1" dirty="0">
                <a:solidFill>
                  <a:srgbClr val="6B7684"/>
                </a:solidFill>
                <a:latin typeface="Calibri" pitchFamily="34" charset="0"/>
                <a:ea typeface="Calibri" pitchFamily="34" charset="-122"/>
                <a:cs typeface="Calibri" pitchFamily="34" charset="-120"/>
              </a:rPr>
              <a:t>Jusqu'à 2 comptes en parallèle du Principal</a:t>
            </a:r>
            <a:endParaRPr lang="en-US" sz="1150" dirty="0"/>
          </a:p>
        </p:txBody>
      </p:sp>
      <p:sp>
        <p:nvSpPr>
          <p:cNvPr id="20" name="Text 18"/>
          <p:cNvSpPr/>
          <p:nvPr/>
        </p:nvSpPr>
        <p:spPr>
          <a:xfrm>
            <a:off x="6537960" y="2743200"/>
            <a:ext cx="228600" cy="457200"/>
          </a:xfrm>
          <a:prstGeom prst="rect">
            <a:avLst/>
          </a:prstGeom>
          <a:noFill/>
          <a:ln/>
        </p:spPr>
        <p:txBody>
          <a:bodyPr wrap="square" lIns="0" tIns="0" rIns="0" bIns="0" rtlCol="0" anchor="ctr"/>
          <a:lstStyle/>
          <a:p>
            <a:pPr indent="0" marL="0">
              <a:buNone/>
            </a:pPr>
            <a:r>
              <a:rPr lang="en-US" sz="800" dirty="0">
                <a:solidFill>
                  <a:srgbClr val="AD5416"/>
                </a:solidFill>
                <a:latin typeface="Calibri" pitchFamily="34" charset="0"/>
                <a:ea typeface="Calibri" pitchFamily="34" charset="-122"/>
                <a:cs typeface="Calibri" pitchFamily="34" charset="-120"/>
              </a:rPr>
              <a:t>●</a:t>
            </a:r>
            <a:endParaRPr lang="en-US" sz="800" dirty="0"/>
          </a:p>
        </p:txBody>
      </p:sp>
      <p:sp>
        <p:nvSpPr>
          <p:cNvPr id="21" name="Text 19"/>
          <p:cNvSpPr/>
          <p:nvPr/>
        </p:nvSpPr>
        <p:spPr>
          <a:xfrm>
            <a:off x="6812280" y="2743200"/>
            <a:ext cx="4526280" cy="457200"/>
          </a:xfrm>
          <a:prstGeom prst="rect">
            <a:avLst/>
          </a:prstGeom>
          <a:noFill/>
          <a:ln/>
        </p:spPr>
        <p:txBody>
          <a:bodyPr wrap="square" lIns="0" tIns="0" rIns="0" bIns="0" rtlCol="0" anchor="ctr"/>
          <a:lstStyle/>
          <a:p>
            <a:pPr indent="0" marL="0">
              <a:lnSpc>
                <a:spcPct val="115000"/>
              </a:lnSpc>
              <a:buNone/>
            </a:pPr>
            <a:r>
              <a:rPr lang="en-US" sz="1150" dirty="0">
                <a:solidFill>
                  <a:srgbClr val="2C3644"/>
                </a:solidFill>
                <a:latin typeface="Calibri" pitchFamily="34" charset="0"/>
                <a:ea typeface="Calibri" pitchFamily="34" charset="-122"/>
                <a:cs typeface="Calibri" pitchFamily="34" charset="-120"/>
              </a:rPr>
              <a:t>Mêmes accès en lecture et en écriture que le Principal, sur le papier</a:t>
            </a:r>
            <a:endParaRPr lang="en-US" sz="1150" dirty="0"/>
          </a:p>
        </p:txBody>
      </p:sp>
      <p:sp>
        <p:nvSpPr>
          <p:cNvPr id="22" name="Text 20"/>
          <p:cNvSpPr/>
          <p:nvPr/>
        </p:nvSpPr>
        <p:spPr>
          <a:xfrm>
            <a:off x="6537960" y="3255264"/>
            <a:ext cx="228600" cy="457200"/>
          </a:xfrm>
          <a:prstGeom prst="rect">
            <a:avLst/>
          </a:prstGeom>
          <a:noFill/>
          <a:ln/>
        </p:spPr>
        <p:txBody>
          <a:bodyPr wrap="square" lIns="0" tIns="0" rIns="0" bIns="0" rtlCol="0" anchor="ctr"/>
          <a:lstStyle/>
          <a:p>
            <a:pPr indent="0" marL="0">
              <a:buNone/>
            </a:pPr>
            <a:r>
              <a:rPr lang="en-US" sz="800" dirty="0">
                <a:solidFill>
                  <a:srgbClr val="AD5416"/>
                </a:solidFill>
                <a:latin typeface="Calibri" pitchFamily="34" charset="0"/>
                <a:ea typeface="Calibri" pitchFamily="34" charset="-122"/>
                <a:cs typeface="Calibri" pitchFamily="34" charset="-120"/>
              </a:rPr>
              <a:t>●</a:t>
            </a:r>
            <a:endParaRPr lang="en-US" sz="800" dirty="0"/>
          </a:p>
        </p:txBody>
      </p:sp>
      <p:sp>
        <p:nvSpPr>
          <p:cNvPr id="23" name="Text 21"/>
          <p:cNvSpPr/>
          <p:nvPr/>
        </p:nvSpPr>
        <p:spPr>
          <a:xfrm>
            <a:off x="6812280" y="3255264"/>
            <a:ext cx="4526280" cy="457200"/>
          </a:xfrm>
          <a:prstGeom prst="rect">
            <a:avLst/>
          </a:prstGeom>
          <a:noFill/>
          <a:ln/>
        </p:spPr>
        <p:txBody>
          <a:bodyPr wrap="square" lIns="0" tIns="0" rIns="0" bIns="0" rtlCol="0" anchor="ctr"/>
          <a:lstStyle/>
          <a:p>
            <a:pPr indent="0" marL="0">
              <a:lnSpc>
                <a:spcPct val="115000"/>
              </a:lnSpc>
              <a:buNone/>
            </a:pPr>
            <a:r>
              <a:rPr lang="en-US" sz="1150" dirty="0">
                <a:solidFill>
                  <a:srgbClr val="2C3644"/>
                </a:solidFill>
                <a:latin typeface="Calibri" pitchFamily="34" charset="0"/>
                <a:ea typeface="Calibri" pitchFamily="34" charset="-122"/>
                <a:cs typeface="Calibri" pitchFamily="34" charset="-120"/>
              </a:rPr>
              <a:t>…mais chaque tâche critique part en demande d'approbation</a:t>
            </a:r>
            <a:endParaRPr lang="en-US" sz="1150" dirty="0"/>
          </a:p>
        </p:txBody>
      </p:sp>
      <p:sp>
        <p:nvSpPr>
          <p:cNvPr id="24" name="Text 22"/>
          <p:cNvSpPr/>
          <p:nvPr/>
        </p:nvSpPr>
        <p:spPr>
          <a:xfrm>
            <a:off x="6537960" y="3767328"/>
            <a:ext cx="228600" cy="457200"/>
          </a:xfrm>
          <a:prstGeom prst="rect">
            <a:avLst/>
          </a:prstGeom>
          <a:noFill/>
          <a:ln/>
        </p:spPr>
        <p:txBody>
          <a:bodyPr wrap="square" lIns="0" tIns="0" rIns="0" bIns="0" rtlCol="0" anchor="ctr"/>
          <a:lstStyle/>
          <a:p>
            <a:pPr indent="0" marL="0">
              <a:buNone/>
            </a:pPr>
            <a:r>
              <a:rPr lang="en-US" sz="800" dirty="0">
                <a:solidFill>
                  <a:srgbClr val="AD5416"/>
                </a:solidFill>
                <a:latin typeface="Calibri" pitchFamily="34" charset="0"/>
                <a:ea typeface="Calibri" pitchFamily="34" charset="-122"/>
                <a:cs typeface="Calibri" pitchFamily="34" charset="-120"/>
              </a:rPr>
              <a:t>●</a:t>
            </a:r>
            <a:endParaRPr lang="en-US" sz="800" dirty="0"/>
          </a:p>
        </p:txBody>
      </p:sp>
      <p:sp>
        <p:nvSpPr>
          <p:cNvPr id="25" name="Text 23"/>
          <p:cNvSpPr/>
          <p:nvPr/>
        </p:nvSpPr>
        <p:spPr>
          <a:xfrm>
            <a:off x="6812280" y="3767328"/>
            <a:ext cx="4526280" cy="457200"/>
          </a:xfrm>
          <a:prstGeom prst="rect">
            <a:avLst/>
          </a:prstGeom>
          <a:noFill/>
          <a:ln/>
        </p:spPr>
        <p:txBody>
          <a:bodyPr wrap="square" lIns="0" tIns="0" rIns="0" bIns="0" rtlCol="0" anchor="ctr"/>
          <a:lstStyle/>
          <a:p>
            <a:pPr indent="0" marL="0">
              <a:lnSpc>
                <a:spcPct val="115000"/>
              </a:lnSpc>
              <a:buNone/>
            </a:pPr>
            <a:r>
              <a:rPr lang="en-US" sz="1150" dirty="0">
                <a:solidFill>
                  <a:srgbClr val="2C3644"/>
                </a:solidFill>
                <a:latin typeface="Calibri" pitchFamily="34" charset="0"/>
                <a:ea typeface="Calibri" pitchFamily="34" charset="-122"/>
                <a:cs typeface="Calibri" pitchFamily="34" charset="-120"/>
              </a:rPr>
              <a:t>Sauvegardes et réinitialisation de la base : réservées au Principal</a:t>
            </a:r>
            <a:endParaRPr lang="en-US" sz="1150" dirty="0"/>
          </a:p>
        </p:txBody>
      </p:sp>
      <p:sp>
        <p:nvSpPr>
          <p:cNvPr id="26" name="Text 24"/>
          <p:cNvSpPr/>
          <p:nvPr/>
        </p:nvSpPr>
        <p:spPr>
          <a:xfrm>
            <a:off x="6537960" y="4279392"/>
            <a:ext cx="228600" cy="457200"/>
          </a:xfrm>
          <a:prstGeom prst="rect">
            <a:avLst/>
          </a:prstGeom>
          <a:noFill/>
          <a:ln/>
        </p:spPr>
        <p:txBody>
          <a:bodyPr wrap="square" lIns="0" tIns="0" rIns="0" bIns="0" rtlCol="0" anchor="ctr"/>
          <a:lstStyle/>
          <a:p>
            <a:pPr indent="0" marL="0">
              <a:buNone/>
            </a:pPr>
            <a:r>
              <a:rPr lang="en-US" sz="800" dirty="0">
                <a:solidFill>
                  <a:srgbClr val="AD5416"/>
                </a:solidFill>
                <a:latin typeface="Calibri" pitchFamily="34" charset="0"/>
                <a:ea typeface="Calibri" pitchFamily="34" charset="-122"/>
                <a:cs typeface="Calibri" pitchFamily="34" charset="-120"/>
              </a:rPr>
              <a:t>●</a:t>
            </a:r>
            <a:endParaRPr lang="en-US" sz="800" dirty="0"/>
          </a:p>
        </p:txBody>
      </p:sp>
      <p:sp>
        <p:nvSpPr>
          <p:cNvPr id="27" name="Text 25"/>
          <p:cNvSpPr/>
          <p:nvPr/>
        </p:nvSpPr>
        <p:spPr>
          <a:xfrm>
            <a:off x="6812280" y="4279392"/>
            <a:ext cx="4526280" cy="457200"/>
          </a:xfrm>
          <a:prstGeom prst="rect">
            <a:avLst/>
          </a:prstGeom>
          <a:noFill/>
          <a:ln/>
        </p:spPr>
        <p:txBody>
          <a:bodyPr wrap="square" lIns="0" tIns="0" rIns="0" bIns="0" rtlCol="0" anchor="ctr"/>
          <a:lstStyle/>
          <a:p>
            <a:pPr indent="0" marL="0">
              <a:lnSpc>
                <a:spcPct val="115000"/>
              </a:lnSpc>
              <a:buNone/>
            </a:pPr>
            <a:r>
              <a:rPr lang="en-US" sz="1150" dirty="0">
                <a:solidFill>
                  <a:srgbClr val="2C3644"/>
                </a:solidFill>
                <a:latin typeface="Calibri" pitchFamily="34" charset="0"/>
                <a:ea typeface="Calibri" pitchFamily="34" charset="-122"/>
                <a:cs typeface="Calibri" pitchFamily="34" charset="-120"/>
              </a:rPr>
              <a:t>Suit ses propres demandes depuis Approbations, sans pouvoir les décider</a:t>
            </a:r>
            <a:endParaRPr lang="en-US" sz="1150" dirty="0"/>
          </a:p>
        </p:txBody>
      </p:sp>
      <p:sp>
        <p:nvSpPr>
          <p:cNvPr id="28" name="Text 26"/>
          <p:cNvSpPr/>
          <p:nvPr/>
        </p:nvSpPr>
        <p:spPr>
          <a:xfrm>
            <a:off x="6537960" y="4791456"/>
            <a:ext cx="228600" cy="457200"/>
          </a:xfrm>
          <a:prstGeom prst="rect">
            <a:avLst/>
          </a:prstGeom>
          <a:noFill/>
          <a:ln/>
        </p:spPr>
        <p:txBody>
          <a:bodyPr wrap="square" lIns="0" tIns="0" rIns="0" bIns="0" rtlCol="0" anchor="ctr"/>
          <a:lstStyle/>
          <a:p>
            <a:pPr indent="0" marL="0">
              <a:buNone/>
            </a:pPr>
            <a:r>
              <a:rPr lang="en-US" sz="800" dirty="0">
                <a:solidFill>
                  <a:srgbClr val="AD5416"/>
                </a:solidFill>
                <a:latin typeface="Calibri" pitchFamily="34" charset="0"/>
                <a:ea typeface="Calibri" pitchFamily="34" charset="-122"/>
                <a:cs typeface="Calibri" pitchFamily="34" charset="-120"/>
              </a:rPr>
              <a:t>●</a:t>
            </a:r>
            <a:endParaRPr lang="en-US" sz="800" dirty="0"/>
          </a:p>
        </p:txBody>
      </p:sp>
      <p:sp>
        <p:nvSpPr>
          <p:cNvPr id="29" name="Text 27"/>
          <p:cNvSpPr/>
          <p:nvPr/>
        </p:nvSpPr>
        <p:spPr>
          <a:xfrm>
            <a:off x="6812280" y="4791456"/>
            <a:ext cx="4526280" cy="457200"/>
          </a:xfrm>
          <a:prstGeom prst="rect">
            <a:avLst/>
          </a:prstGeom>
          <a:noFill/>
          <a:ln/>
        </p:spPr>
        <p:txBody>
          <a:bodyPr wrap="square" lIns="0" tIns="0" rIns="0" bIns="0" rtlCol="0" anchor="ctr"/>
          <a:lstStyle/>
          <a:p>
            <a:pPr indent="0" marL="0">
              <a:lnSpc>
                <a:spcPct val="115000"/>
              </a:lnSpc>
              <a:buNone/>
            </a:pPr>
            <a:r>
              <a:rPr lang="en-US" sz="1150" dirty="0">
                <a:solidFill>
                  <a:srgbClr val="2C3644"/>
                </a:solidFill>
                <a:latin typeface="Calibri" pitchFamily="34" charset="0"/>
                <a:ea typeface="Calibri" pitchFamily="34" charset="-122"/>
                <a:cs typeface="Calibri" pitchFamily="34" charset="-120"/>
              </a:rPr>
              <a:t>Peut devenir Principal si le titulaire actuel transfère son statut</a:t>
            </a:r>
            <a:endParaRPr lang="en-US" sz="1150" dirty="0"/>
          </a:p>
        </p:txBody>
      </p:sp>
      <p:sp>
        <p:nvSpPr>
          <p:cNvPr id="30" name="Shape 28"/>
          <p:cNvSpPr/>
          <p:nvPr/>
        </p:nvSpPr>
        <p:spPr>
          <a:xfrm>
            <a:off x="502920" y="5486400"/>
            <a:ext cx="11155680" cy="868680"/>
          </a:xfrm>
          <a:prstGeom prst="roundRect">
            <a:avLst>
              <a:gd name="adj" fmla="val 7368"/>
            </a:avLst>
          </a:prstGeom>
          <a:solidFill>
            <a:srgbClr val="F3E3C3"/>
          </a:solidFill>
          <a:ln/>
        </p:spPr>
      </p:sp>
      <p:sp>
        <p:nvSpPr>
          <p:cNvPr id="31" name="Text 29"/>
          <p:cNvSpPr/>
          <p:nvPr/>
        </p:nvSpPr>
        <p:spPr>
          <a:xfrm>
            <a:off x="731520" y="5577840"/>
            <a:ext cx="10698480" cy="685800"/>
          </a:xfrm>
          <a:prstGeom prst="rect">
            <a:avLst/>
          </a:prstGeom>
          <a:noFill/>
          <a:ln/>
        </p:spPr>
        <p:txBody>
          <a:bodyPr wrap="square" lIns="0" tIns="0" rIns="0" bIns="0" rtlCol="0" anchor="t"/>
          <a:lstStyle/>
          <a:p>
            <a:pPr indent="0" marL="0">
              <a:lnSpc>
                <a:spcPct val="125000"/>
              </a:lnSpc>
              <a:buNone/>
            </a:pPr>
            <a:r>
              <a:rPr lang="en-US" sz="1150" b="1" dirty="0">
                <a:solidFill>
                  <a:srgbClr val="AD5416"/>
                </a:solidFill>
                <a:latin typeface="Calibri" pitchFamily="34" charset="0"/>
                <a:ea typeface="Calibri" pitchFamily="34" charset="-122"/>
                <a:cs typeface="Calibri" pitchFamily="34" charset="-120"/>
              </a:rPr>
              <a:t>Une tâche critique, c'est quoi ? — </a:t>
            </a:r>
            <a:pPr indent="0" marL="0">
              <a:lnSpc>
                <a:spcPct val="125000"/>
              </a:lnSpc>
              <a:buNone/>
            </a:pPr>
            <a:r>
              <a:rPr lang="en-US" sz="1150" dirty="0">
                <a:solidFill>
                  <a:srgbClr val="5B4322"/>
                </a:solidFill>
                <a:latin typeface="Calibri" pitchFamily="34" charset="0"/>
                <a:ea typeface="Calibri" pitchFamily="34" charset="-122"/>
                <a:cs typeface="Calibri" pitchFamily="34" charset="-120"/>
              </a:rPr>
              <a:t>créer ou supprimer un compte Administrateur, modifier une Qualité (prix/commission), modifier le taux de taxe d'un produit, ou modifier les permissions d'un rôle.</a:t>
            </a:r>
            <a:endParaRPr lang="en-US" sz="1150" dirty="0"/>
          </a:p>
        </p:txBody>
      </p:sp>
      <p:sp>
        <p:nvSpPr>
          <p:cNvPr id="32" name="Text 30"/>
          <p:cNvSpPr/>
          <p:nvPr/>
        </p:nvSpPr>
        <p:spPr>
          <a:xfrm>
            <a:off x="502920" y="6400800"/>
            <a:ext cx="11185855" cy="292608"/>
          </a:xfrm>
          <a:prstGeom prst="rect">
            <a:avLst/>
          </a:prstGeom>
          <a:noFill/>
          <a:ln/>
        </p:spPr>
        <p:txBody>
          <a:bodyPr wrap="square" lIns="0" tIns="0" rIns="0" bIns="0" rtlCol="0" anchor="ctr"/>
          <a:lstStyle/>
          <a:p>
            <a:pPr algn="l" indent="0" marL="0">
              <a:buNone/>
            </a:pPr>
            <a:r>
              <a:rPr lang="en-US" sz="950" dirty="0">
                <a:solidFill>
                  <a:srgbClr val="A9A196"/>
                </a:solidFill>
                <a:latin typeface="Calibri" pitchFamily="34" charset="0"/>
                <a:ea typeface="Calibri" pitchFamily="34" charset="-122"/>
                <a:cs typeface="Calibri" pitchFamily="34" charset="-120"/>
              </a:rPr>
              <a:t>3 / 18</a:t>
            </a:r>
            <a:endParaRPr lang="en-US" sz="950" dirty="0"/>
          </a:p>
        </p:txBody>
      </p:sp>
      <p:sp>
        <p:nvSpPr>
          <p:cNvPr id="33" name="Text 31"/>
          <p:cNvSpPr/>
          <p:nvPr/>
        </p:nvSpPr>
        <p:spPr>
          <a:xfrm>
            <a:off x="502920" y="6400800"/>
            <a:ext cx="11185855" cy="292608"/>
          </a:xfrm>
          <a:prstGeom prst="rect">
            <a:avLst/>
          </a:prstGeom>
          <a:noFill/>
          <a:ln/>
        </p:spPr>
        <p:txBody>
          <a:bodyPr wrap="square" lIns="0" tIns="0" rIns="0" bIns="0" rtlCol="0" anchor="ctr"/>
          <a:lstStyle/>
          <a:p>
            <a:pPr algn="r" indent="0" marL="0">
              <a:buNone/>
            </a:pPr>
            <a:r>
              <a:rPr lang="en-US" sz="950" dirty="0">
                <a:solidFill>
                  <a:srgbClr val="A9A196"/>
                </a:solidFill>
                <a:latin typeface="Calibri" pitchFamily="34" charset="0"/>
                <a:ea typeface="Calibri" pitchFamily="34" charset="-122"/>
                <a:cs typeface="Calibri" pitchFamily="34" charset="-120"/>
              </a:rPr>
              <a:t>Boulangerie Lomoto — Guide Administrateur</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lIns="0" tIns="0" rIns="0" bIns="0" rtlCol="0" anchor="ctr"/>
          <a:lstStyle/>
          <a:p>
            <a:pPr indent="0" marL="0">
              <a:buNone/>
            </a:pPr>
            <a:r>
              <a:rPr lang="en-US" sz="1200" b="1" spc="200" kern="0" dirty="0">
                <a:solidFill>
                  <a:srgbClr val="AD5416"/>
                </a:solidFill>
                <a:latin typeface="Calibri" pitchFamily="34" charset="0"/>
                <a:ea typeface="Calibri" pitchFamily="34" charset="-122"/>
                <a:cs typeface="Calibri" pitchFamily="34" charset="-120"/>
              </a:rPr>
              <a:t>VOS ACCÈS DANS L'APPLICATION</a:t>
            </a:r>
            <a:endParaRPr lang="en-US" sz="1200" dirty="0"/>
          </a:p>
        </p:txBody>
      </p:sp>
      <p:sp>
        <p:nvSpPr>
          <p:cNvPr id="3" name="Text 1"/>
          <p:cNvSpPr/>
          <p:nvPr/>
        </p:nvSpPr>
        <p:spPr>
          <a:xfrm>
            <a:off x="502920" y="658368"/>
            <a:ext cx="7772400" cy="685800"/>
          </a:xfrm>
          <a:prstGeom prst="rect">
            <a:avLst/>
          </a:prstGeom>
          <a:noFill/>
          <a:ln/>
        </p:spPr>
        <p:txBody>
          <a:bodyPr wrap="square" lIns="0" tIns="0" rIns="0" bIns="0" rtlCol="0" anchor="ctr"/>
          <a:lstStyle/>
          <a:p>
            <a:pPr indent="0" marL="0">
              <a:buNone/>
            </a:pPr>
            <a:r>
              <a:rPr lang="en-US" sz="3000" b="1" dirty="0">
                <a:solidFill>
                  <a:srgbClr val="0F1923"/>
                </a:solidFill>
                <a:latin typeface="Cambria" pitchFamily="34" charset="0"/>
                <a:ea typeface="Cambria" pitchFamily="34" charset="-122"/>
                <a:cs typeface="Cambria" pitchFamily="34" charset="-120"/>
              </a:rPr>
              <a:t>Ce que vous pouvez faire — et voir</a:t>
            </a:r>
            <a:endParaRPr lang="en-US" sz="3000" dirty="0"/>
          </a:p>
        </p:txBody>
      </p:sp>
      <p:sp>
        <p:nvSpPr>
          <p:cNvPr id="4" name="Shape 2"/>
          <p:cNvSpPr/>
          <p:nvPr/>
        </p:nvSpPr>
        <p:spPr>
          <a:xfrm>
            <a:off x="502920" y="1691640"/>
            <a:ext cx="2670048" cy="4343400"/>
          </a:xfrm>
          <a:prstGeom prst="roundRect">
            <a:avLst>
              <a:gd name="adj" fmla="val 2397"/>
            </a:avLst>
          </a:prstGeom>
          <a:solidFill>
            <a:srgbClr val="FFFFFF"/>
          </a:solidFill>
          <a:ln w="12700">
            <a:solidFill>
              <a:srgbClr val="CBAF91"/>
            </a:solidFill>
            <a:prstDash val="solid"/>
          </a:ln>
          <a:effectLst>
            <a:outerShdw sx="100000" sy="100000" kx="0" ky="0" algn="bl" rotWithShape="0" blurRad="76200" dist="25400" dir="5400000">
              <a:srgbClr val="000000">
                <a:alpha val="10000"/>
              </a:srgbClr>
            </a:outerShdw>
          </a:effectLst>
        </p:spPr>
      </p:sp>
      <p:sp>
        <p:nvSpPr>
          <p:cNvPr id="5" name="Shape 3"/>
          <p:cNvSpPr/>
          <p:nvPr/>
        </p:nvSpPr>
        <p:spPr>
          <a:xfrm>
            <a:off x="704088" y="1947672"/>
            <a:ext cx="146304" cy="146304"/>
          </a:xfrm>
          <a:prstGeom prst="roundRect">
            <a:avLst>
              <a:gd name="adj" fmla="val 50000"/>
            </a:avLst>
          </a:prstGeom>
          <a:solidFill>
            <a:srgbClr val="AD5416"/>
          </a:solidFill>
          <a:ln/>
        </p:spPr>
      </p:sp>
      <p:sp>
        <p:nvSpPr>
          <p:cNvPr id="6" name="Text 4"/>
          <p:cNvSpPr/>
          <p:nvPr/>
        </p:nvSpPr>
        <p:spPr>
          <a:xfrm>
            <a:off x="704088" y="2148840"/>
            <a:ext cx="2267712" cy="594360"/>
          </a:xfrm>
          <a:prstGeom prst="rect">
            <a:avLst/>
          </a:prstGeom>
          <a:noFill/>
          <a:ln/>
        </p:spPr>
        <p:txBody>
          <a:bodyPr wrap="square" lIns="0" tIns="0" rIns="0" bIns="0" rtlCol="0" anchor="ctr"/>
          <a:lstStyle/>
          <a:p>
            <a:pPr indent="0" marL="0">
              <a:buNone/>
            </a:pPr>
            <a:r>
              <a:rPr lang="en-US" sz="1500" b="1" dirty="0">
                <a:solidFill>
                  <a:srgbClr val="0F1923"/>
                </a:solidFill>
                <a:latin typeface="Cambria" pitchFamily="34" charset="0"/>
                <a:ea typeface="Cambria" pitchFamily="34" charset="-122"/>
                <a:cs typeface="Cambria" pitchFamily="34" charset="-120"/>
              </a:rPr>
              <a:t>Écriture directe</a:t>
            </a:r>
            <a:endParaRPr lang="en-US" sz="1500" dirty="0"/>
          </a:p>
        </p:txBody>
      </p:sp>
      <p:sp>
        <p:nvSpPr>
          <p:cNvPr id="7" name="Text 5"/>
          <p:cNvSpPr/>
          <p:nvPr/>
        </p:nvSpPr>
        <p:spPr>
          <a:xfrm>
            <a:off x="704088" y="2679192"/>
            <a:ext cx="2267712" cy="502920"/>
          </a:xfrm>
          <a:prstGeom prst="rect">
            <a:avLst/>
          </a:prstGeom>
          <a:noFill/>
          <a:ln/>
        </p:spPr>
        <p:txBody>
          <a:bodyPr wrap="square" lIns="0" tIns="0" rIns="0" bIns="0" rtlCol="0" anchor="ctr"/>
          <a:lstStyle/>
          <a:p>
            <a:pPr indent="0" marL="0">
              <a:buNone/>
            </a:pPr>
            <a:r>
              <a:rPr lang="en-US" sz="1050" i="1" dirty="0">
                <a:solidFill>
                  <a:srgbClr val="6B7684"/>
                </a:solidFill>
                <a:latin typeface="Calibri" pitchFamily="34" charset="0"/>
                <a:ea typeface="Calibri" pitchFamily="34" charset="-122"/>
                <a:cs typeface="Calibri" pitchFamily="34" charset="-120"/>
              </a:rPr>
              <a:t>Vous créez et modifiez</a:t>
            </a:r>
            <a:endParaRPr lang="en-US" sz="1050" dirty="0"/>
          </a:p>
        </p:txBody>
      </p:sp>
      <p:sp>
        <p:nvSpPr>
          <p:cNvPr id="8" name="Text 6"/>
          <p:cNvSpPr/>
          <p:nvPr/>
        </p:nvSpPr>
        <p:spPr>
          <a:xfrm>
            <a:off x="704088" y="3291840"/>
            <a:ext cx="2267712" cy="2560320"/>
          </a:xfrm>
          <a:prstGeom prst="rect">
            <a:avLst/>
          </a:prstGeom>
          <a:noFill/>
          <a:ln/>
        </p:spPr>
        <p:txBody>
          <a:bodyPr wrap="square" lIns="0" tIns="0" rIns="0" bIns="0" rtlCol="0" anchor="t"/>
          <a:lstStyle/>
          <a:p>
            <a:pPr marL="342900" indent="-342900">
              <a:spcAft>
                <a:spcPts val="700"/>
              </a:spcAft>
              <a:buSzPct val="100000"/>
              <a:buChar char="●"/>
            </a:pPr>
            <a:r>
              <a:rPr lang="en-US" sz="1100" dirty="0">
                <a:solidFill>
                  <a:srgbClr val="2C3644"/>
                </a:solidFill>
                <a:latin typeface="Calibri" pitchFamily="34" charset="0"/>
                <a:ea typeface="Calibri" pitchFamily="34" charset="-122"/>
                <a:cs typeface="Calibri" pitchFamily="34" charset="-120"/>
              </a:rPr>
              <a:t>Paramètres</a:t>
            </a:r>
            <a:endParaRPr lang="en-US" sz="1100" dirty="0"/>
          </a:p>
          <a:p>
            <a:pPr marL="342900" indent="-342900">
              <a:spcAft>
                <a:spcPts val="700"/>
              </a:spcAft>
              <a:buSzPct val="100000"/>
              <a:buChar char="●"/>
            </a:pPr>
            <a:r>
              <a:rPr lang="en-US" sz="1100" dirty="0">
                <a:solidFill>
                  <a:srgbClr val="2C3644"/>
                </a:solidFill>
                <a:latin typeface="Calibri" pitchFamily="34" charset="0"/>
                <a:ea typeface="Calibri" pitchFamily="34" charset="-122"/>
                <a:cs typeface="Calibri" pitchFamily="34" charset="-120"/>
              </a:rPr>
              <a:t>Équipe</a:t>
            </a:r>
            <a:endParaRPr lang="en-US" sz="1100" dirty="0"/>
          </a:p>
          <a:p>
            <a:pPr marL="342900" indent="-342900">
              <a:spcAft>
                <a:spcPts val="700"/>
              </a:spcAft>
              <a:buSzPct val="100000"/>
              <a:buChar char="●"/>
            </a:pPr>
            <a:r>
              <a:rPr lang="en-US" sz="1100" dirty="0">
                <a:solidFill>
                  <a:srgbClr val="2C3644"/>
                </a:solidFill>
                <a:latin typeface="Calibri" pitchFamily="34" charset="0"/>
                <a:ea typeface="Calibri" pitchFamily="34" charset="-122"/>
                <a:cs typeface="Calibri" pitchFamily="34" charset="-120"/>
              </a:rPr>
              <a:t>Travailleurs</a:t>
            </a:r>
            <a:endParaRPr lang="en-US" sz="1100" dirty="0"/>
          </a:p>
        </p:txBody>
      </p:sp>
      <p:sp>
        <p:nvSpPr>
          <p:cNvPr id="9" name="Shape 7"/>
          <p:cNvSpPr/>
          <p:nvPr/>
        </p:nvSpPr>
        <p:spPr>
          <a:xfrm>
            <a:off x="3337560" y="1691640"/>
            <a:ext cx="2670048" cy="4343400"/>
          </a:xfrm>
          <a:prstGeom prst="roundRect">
            <a:avLst>
              <a:gd name="adj" fmla="val 2397"/>
            </a:avLst>
          </a:prstGeom>
          <a:solidFill>
            <a:srgbClr val="FFFFFF"/>
          </a:solidFill>
          <a:ln w="12700">
            <a:solidFill>
              <a:srgbClr val="CBAF91"/>
            </a:solidFill>
            <a:prstDash val="solid"/>
          </a:ln>
          <a:effectLst>
            <a:outerShdw sx="100000" sy="100000" kx="0" ky="0" algn="bl" rotWithShape="0" blurRad="76200" dist="25400" dir="5400000">
              <a:srgbClr val="000000">
                <a:alpha val="10000"/>
              </a:srgbClr>
            </a:outerShdw>
          </a:effectLst>
        </p:spPr>
      </p:sp>
      <p:sp>
        <p:nvSpPr>
          <p:cNvPr id="10" name="Shape 8"/>
          <p:cNvSpPr/>
          <p:nvPr/>
        </p:nvSpPr>
        <p:spPr>
          <a:xfrm>
            <a:off x="3538728" y="1947672"/>
            <a:ext cx="146304" cy="146304"/>
          </a:xfrm>
          <a:prstGeom prst="roundRect">
            <a:avLst>
              <a:gd name="adj" fmla="val 50000"/>
            </a:avLst>
          </a:prstGeom>
          <a:solidFill>
            <a:srgbClr val="DA9F4E"/>
          </a:solidFill>
          <a:ln/>
        </p:spPr>
      </p:sp>
      <p:sp>
        <p:nvSpPr>
          <p:cNvPr id="11" name="Text 9"/>
          <p:cNvSpPr/>
          <p:nvPr/>
        </p:nvSpPr>
        <p:spPr>
          <a:xfrm>
            <a:off x="3538728" y="2148840"/>
            <a:ext cx="2267712" cy="594360"/>
          </a:xfrm>
          <a:prstGeom prst="rect">
            <a:avLst/>
          </a:prstGeom>
          <a:noFill/>
          <a:ln/>
        </p:spPr>
        <p:txBody>
          <a:bodyPr wrap="square" lIns="0" tIns="0" rIns="0" bIns="0" rtlCol="0" anchor="ctr"/>
          <a:lstStyle/>
          <a:p>
            <a:pPr indent="0" marL="0">
              <a:buNone/>
            </a:pPr>
            <a:r>
              <a:rPr lang="en-US" sz="1500" b="1" dirty="0">
                <a:solidFill>
                  <a:srgbClr val="0F1923"/>
                </a:solidFill>
                <a:latin typeface="Cambria" pitchFamily="34" charset="0"/>
                <a:ea typeface="Cambria" pitchFamily="34" charset="-122"/>
                <a:cs typeface="Cambria" pitchFamily="34" charset="-120"/>
              </a:rPr>
              <a:t>Lecture étendue</a:t>
            </a:r>
            <a:endParaRPr lang="en-US" sz="1500" dirty="0"/>
          </a:p>
        </p:txBody>
      </p:sp>
      <p:sp>
        <p:nvSpPr>
          <p:cNvPr id="12" name="Text 10"/>
          <p:cNvSpPr/>
          <p:nvPr/>
        </p:nvSpPr>
        <p:spPr>
          <a:xfrm>
            <a:off x="3538728" y="2679192"/>
            <a:ext cx="2267712" cy="502920"/>
          </a:xfrm>
          <a:prstGeom prst="rect">
            <a:avLst/>
          </a:prstGeom>
          <a:noFill/>
          <a:ln/>
        </p:spPr>
        <p:txBody>
          <a:bodyPr wrap="square" lIns="0" tIns="0" rIns="0" bIns="0" rtlCol="0" anchor="ctr"/>
          <a:lstStyle/>
          <a:p>
            <a:pPr indent="0" marL="0">
              <a:buNone/>
            </a:pPr>
            <a:r>
              <a:rPr lang="en-US" sz="1050" i="1" dirty="0">
                <a:solidFill>
                  <a:srgbClr val="6B7684"/>
                </a:solidFill>
                <a:latin typeface="Calibri" pitchFamily="34" charset="0"/>
                <a:ea typeface="Calibri" pitchFamily="34" charset="-122"/>
                <a:cs typeface="Calibri" pitchFamily="34" charset="-120"/>
              </a:rPr>
              <a:t>Vous consultez, sans modifier</a:t>
            </a:r>
            <a:endParaRPr lang="en-US" sz="1050" dirty="0"/>
          </a:p>
        </p:txBody>
      </p:sp>
      <p:sp>
        <p:nvSpPr>
          <p:cNvPr id="13" name="Text 11"/>
          <p:cNvSpPr/>
          <p:nvPr/>
        </p:nvSpPr>
        <p:spPr>
          <a:xfrm>
            <a:off x="3538728" y="3291840"/>
            <a:ext cx="2267712" cy="2560320"/>
          </a:xfrm>
          <a:prstGeom prst="rect">
            <a:avLst/>
          </a:prstGeom>
          <a:noFill/>
          <a:ln/>
        </p:spPr>
        <p:txBody>
          <a:bodyPr wrap="square" lIns="0" tIns="0" rIns="0" bIns="0" rtlCol="0" anchor="t"/>
          <a:lstStyle/>
          <a:p>
            <a:pPr marL="342900" indent="-342900">
              <a:spcAft>
                <a:spcPts val="700"/>
              </a:spcAft>
              <a:buSzPct val="100000"/>
              <a:buChar char="●"/>
            </a:pPr>
            <a:r>
              <a:rPr lang="en-US" sz="1100" dirty="0">
                <a:solidFill>
                  <a:srgbClr val="2C3644"/>
                </a:solidFill>
                <a:latin typeface="Calibri" pitchFamily="34" charset="0"/>
                <a:ea typeface="Calibri" pitchFamily="34" charset="-122"/>
                <a:cs typeface="Calibri" pitchFamily="34" charset="-120"/>
              </a:rPr>
              <a:t>Caisse</a:t>
            </a:r>
            <a:endParaRPr lang="en-US" sz="1100" dirty="0"/>
          </a:p>
          <a:p>
            <a:pPr marL="342900" indent="-342900">
              <a:spcAft>
                <a:spcPts val="700"/>
              </a:spcAft>
              <a:buSzPct val="100000"/>
              <a:buChar char="●"/>
            </a:pPr>
            <a:r>
              <a:rPr lang="en-US" sz="1100" dirty="0">
                <a:solidFill>
                  <a:srgbClr val="2C3644"/>
                </a:solidFill>
                <a:latin typeface="Calibri" pitchFamily="34" charset="0"/>
                <a:ea typeface="Calibri" pitchFamily="34" charset="-122"/>
                <a:cs typeface="Calibri" pitchFamily="34" charset="-120"/>
              </a:rPr>
              <a:t>Commandes</a:t>
            </a:r>
            <a:endParaRPr lang="en-US" sz="1100" dirty="0"/>
          </a:p>
          <a:p>
            <a:pPr marL="342900" indent="-342900">
              <a:spcAft>
                <a:spcPts val="700"/>
              </a:spcAft>
              <a:buSzPct val="100000"/>
              <a:buChar char="●"/>
            </a:pPr>
            <a:r>
              <a:rPr lang="en-US" sz="1100" dirty="0">
                <a:solidFill>
                  <a:srgbClr val="2C3644"/>
                </a:solidFill>
                <a:latin typeface="Calibri" pitchFamily="34" charset="0"/>
                <a:ea typeface="Calibri" pitchFamily="34" charset="-122"/>
                <a:cs typeface="Calibri" pitchFamily="34" charset="-120"/>
              </a:rPr>
              <a:t>Commissions</a:t>
            </a:r>
            <a:endParaRPr lang="en-US" sz="1100" dirty="0"/>
          </a:p>
          <a:p>
            <a:pPr marL="342900" indent="-342900">
              <a:spcAft>
                <a:spcPts val="700"/>
              </a:spcAft>
              <a:buSzPct val="100000"/>
              <a:buChar char="●"/>
            </a:pPr>
            <a:r>
              <a:rPr lang="en-US" sz="1100" dirty="0">
                <a:solidFill>
                  <a:srgbClr val="2C3644"/>
                </a:solidFill>
                <a:latin typeface="Calibri" pitchFamily="34" charset="0"/>
                <a:ea typeface="Calibri" pitchFamily="34" charset="-122"/>
                <a:cs typeface="Calibri" pitchFamily="34" charset="-120"/>
              </a:rPr>
              <a:t>Stocks</a:t>
            </a:r>
            <a:endParaRPr lang="en-US" sz="1100" dirty="0"/>
          </a:p>
          <a:p>
            <a:pPr marL="342900" indent="-342900">
              <a:spcAft>
                <a:spcPts val="700"/>
              </a:spcAft>
              <a:buSzPct val="100000"/>
              <a:buChar char="●"/>
            </a:pPr>
            <a:r>
              <a:rPr lang="en-US" sz="1100" dirty="0">
                <a:solidFill>
                  <a:srgbClr val="2C3644"/>
                </a:solidFill>
                <a:latin typeface="Calibri" pitchFamily="34" charset="0"/>
                <a:ea typeface="Calibri" pitchFamily="34" charset="-122"/>
                <a:cs typeface="Calibri" pitchFamily="34" charset="-120"/>
              </a:rPr>
              <a:t>Production</a:t>
            </a:r>
            <a:endParaRPr lang="en-US" sz="1100" dirty="0"/>
          </a:p>
          <a:p>
            <a:pPr marL="342900" indent="-342900">
              <a:spcAft>
                <a:spcPts val="700"/>
              </a:spcAft>
              <a:buSzPct val="100000"/>
              <a:buChar char="●"/>
            </a:pPr>
            <a:r>
              <a:rPr lang="en-US" sz="1100" dirty="0">
                <a:solidFill>
                  <a:srgbClr val="2C3644"/>
                </a:solidFill>
                <a:latin typeface="Calibri" pitchFamily="34" charset="0"/>
                <a:ea typeface="Calibri" pitchFamily="34" charset="-122"/>
                <a:cs typeface="Calibri" pitchFamily="34" charset="-120"/>
              </a:rPr>
              <a:t>Fournisseurs</a:t>
            </a:r>
            <a:endParaRPr lang="en-US" sz="1100" dirty="0"/>
          </a:p>
        </p:txBody>
      </p:sp>
      <p:sp>
        <p:nvSpPr>
          <p:cNvPr id="14" name="Shape 12"/>
          <p:cNvSpPr/>
          <p:nvPr/>
        </p:nvSpPr>
        <p:spPr>
          <a:xfrm>
            <a:off x="6172200" y="1691640"/>
            <a:ext cx="2670048" cy="4343400"/>
          </a:xfrm>
          <a:prstGeom prst="roundRect">
            <a:avLst>
              <a:gd name="adj" fmla="val 2397"/>
            </a:avLst>
          </a:prstGeom>
          <a:solidFill>
            <a:srgbClr val="FFFFFF"/>
          </a:solidFill>
          <a:ln w="12700">
            <a:solidFill>
              <a:srgbClr val="CBAF91"/>
            </a:solidFill>
            <a:prstDash val="solid"/>
          </a:ln>
          <a:effectLst>
            <a:outerShdw sx="100000" sy="100000" kx="0" ky="0" algn="bl" rotWithShape="0" blurRad="76200" dist="25400" dir="5400000">
              <a:srgbClr val="000000">
                <a:alpha val="10000"/>
              </a:srgbClr>
            </a:outerShdw>
          </a:effectLst>
        </p:spPr>
      </p:sp>
      <p:sp>
        <p:nvSpPr>
          <p:cNvPr id="15" name="Shape 13"/>
          <p:cNvSpPr/>
          <p:nvPr/>
        </p:nvSpPr>
        <p:spPr>
          <a:xfrm>
            <a:off x="6373368" y="1947672"/>
            <a:ext cx="146304" cy="146304"/>
          </a:xfrm>
          <a:prstGeom prst="roundRect">
            <a:avLst>
              <a:gd name="adj" fmla="val 50000"/>
            </a:avLst>
          </a:prstGeom>
          <a:solidFill>
            <a:srgbClr val="0F1923"/>
          </a:solidFill>
          <a:ln/>
        </p:spPr>
      </p:sp>
      <p:sp>
        <p:nvSpPr>
          <p:cNvPr id="16" name="Text 14"/>
          <p:cNvSpPr/>
          <p:nvPr/>
        </p:nvSpPr>
        <p:spPr>
          <a:xfrm>
            <a:off x="6373368" y="2148840"/>
            <a:ext cx="2267712" cy="594360"/>
          </a:xfrm>
          <a:prstGeom prst="rect">
            <a:avLst/>
          </a:prstGeom>
          <a:noFill/>
          <a:ln/>
        </p:spPr>
        <p:txBody>
          <a:bodyPr wrap="square" lIns="0" tIns="0" rIns="0" bIns="0" rtlCol="0" anchor="ctr"/>
          <a:lstStyle/>
          <a:p>
            <a:pPr indent="0" marL="0">
              <a:buNone/>
            </a:pPr>
            <a:r>
              <a:rPr lang="en-US" sz="1500" b="1" dirty="0">
                <a:solidFill>
                  <a:srgbClr val="0F1923"/>
                </a:solidFill>
                <a:latin typeface="Cambria" pitchFamily="34" charset="0"/>
                <a:ea typeface="Cambria" pitchFamily="34" charset="-122"/>
                <a:cs typeface="Cambria" pitchFamily="34" charset="-120"/>
              </a:rPr>
              <a:t>Outils propres à l'Admin</a:t>
            </a:r>
            <a:endParaRPr lang="en-US" sz="1500" dirty="0"/>
          </a:p>
        </p:txBody>
      </p:sp>
      <p:sp>
        <p:nvSpPr>
          <p:cNvPr id="17" name="Text 15"/>
          <p:cNvSpPr/>
          <p:nvPr/>
        </p:nvSpPr>
        <p:spPr>
          <a:xfrm>
            <a:off x="6373368" y="2679192"/>
            <a:ext cx="2267712" cy="502920"/>
          </a:xfrm>
          <a:prstGeom prst="rect">
            <a:avLst/>
          </a:prstGeom>
          <a:noFill/>
          <a:ln/>
        </p:spPr>
        <p:txBody>
          <a:bodyPr wrap="square" lIns="0" tIns="0" rIns="0" bIns="0" rtlCol="0" anchor="ctr"/>
          <a:lstStyle/>
          <a:p>
            <a:pPr indent="0" marL="0">
              <a:buNone/>
            </a:pPr>
            <a:r>
              <a:rPr lang="en-US" sz="1050" i="1" dirty="0">
                <a:solidFill>
                  <a:srgbClr val="6B7684"/>
                </a:solidFill>
                <a:latin typeface="Calibri" pitchFamily="34" charset="0"/>
                <a:ea typeface="Calibri" pitchFamily="34" charset="-122"/>
                <a:cs typeface="Calibri" pitchFamily="34" charset="-120"/>
              </a:rPr>
              <a:t>Avec nuances Principal / secondaire</a:t>
            </a:r>
            <a:endParaRPr lang="en-US" sz="1050" dirty="0"/>
          </a:p>
        </p:txBody>
      </p:sp>
      <p:sp>
        <p:nvSpPr>
          <p:cNvPr id="18" name="Text 16"/>
          <p:cNvSpPr/>
          <p:nvPr/>
        </p:nvSpPr>
        <p:spPr>
          <a:xfrm>
            <a:off x="6373368" y="3291840"/>
            <a:ext cx="2267712" cy="2560320"/>
          </a:xfrm>
          <a:prstGeom prst="rect">
            <a:avLst/>
          </a:prstGeom>
          <a:noFill/>
          <a:ln/>
        </p:spPr>
        <p:txBody>
          <a:bodyPr wrap="square" lIns="0" tIns="0" rIns="0" bIns="0" rtlCol="0" anchor="t"/>
          <a:lstStyle/>
          <a:p>
            <a:pPr marL="342900" indent="-342900">
              <a:spcAft>
                <a:spcPts val="700"/>
              </a:spcAft>
              <a:buSzPct val="100000"/>
              <a:buChar char="●"/>
            </a:pPr>
            <a:r>
              <a:rPr lang="en-US" sz="1100" dirty="0">
                <a:solidFill>
                  <a:srgbClr val="2C3644"/>
                </a:solidFill>
                <a:latin typeface="Calibri" pitchFamily="34" charset="0"/>
                <a:ea typeface="Calibri" pitchFamily="34" charset="-122"/>
                <a:cs typeface="Calibri" pitchFamily="34" charset="-120"/>
              </a:rPr>
              <a:t>Approbations</a:t>
            </a:r>
            <a:endParaRPr lang="en-US" sz="1100" dirty="0"/>
          </a:p>
          <a:p>
            <a:pPr marL="342900" indent="-342900">
              <a:spcAft>
                <a:spcPts val="700"/>
              </a:spcAft>
              <a:buSzPct val="100000"/>
              <a:buChar char="●"/>
            </a:pPr>
            <a:r>
              <a:rPr lang="en-US" sz="1100" dirty="0">
                <a:solidFill>
                  <a:srgbClr val="2C3644"/>
                </a:solidFill>
                <a:latin typeface="Calibri" pitchFamily="34" charset="0"/>
                <a:ea typeface="Calibri" pitchFamily="34" charset="-122"/>
                <a:cs typeface="Calibri" pitchFamily="34" charset="-120"/>
              </a:rPr>
              <a:t>État système</a:t>
            </a:r>
            <a:endParaRPr lang="en-US" sz="1100" dirty="0"/>
          </a:p>
          <a:p>
            <a:pPr marL="342900" indent="-342900">
              <a:spcAft>
                <a:spcPts val="700"/>
              </a:spcAft>
              <a:buSzPct val="100000"/>
              <a:buChar char="●"/>
            </a:pPr>
            <a:r>
              <a:rPr lang="en-US" sz="1100" dirty="0">
                <a:solidFill>
                  <a:srgbClr val="2C3644"/>
                </a:solidFill>
                <a:latin typeface="Calibri" pitchFamily="34" charset="0"/>
                <a:ea typeface="Calibri" pitchFamily="34" charset="-122"/>
                <a:cs typeface="Calibri" pitchFamily="34" charset="-120"/>
              </a:rPr>
              <a:t>Journal d'audit</a:t>
            </a:r>
            <a:endParaRPr lang="en-US" sz="1100" dirty="0"/>
          </a:p>
        </p:txBody>
      </p:sp>
      <p:sp>
        <p:nvSpPr>
          <p:cNvPr id="19" name="Shape 17"/>
          <p:cNvSpPr/>
          <p:nvPr/>
        </p:nvSpPr>
        <p:spPr>
          <a:xfrm>
            <a:off x="9006840" y="1691640"/>
            <a:ext cx="2670048" cy="4343400"/>
          </a:xfrm>
          <a:prstGeom prst="roundRect">
            <a:avLst>
              <a:gd name="adj" fmla="val 2397"/>
            </a:avLst>
          </a:prstGeom>
          <a:solidFill>
            <a:srgbClr val="FFFFFF"/>
          </a:solidFill>
          <a:ln w="12700">
            <a:solidFill>
              <a:srgbClr val="CBAF91"/>
            </a:solidFill>
            <a:prstDash val="solid"/>
          </a:ln>
          <a:effectLst>
            <a:outerShdw sx="100000" sy="100000" kx="0" ky="0" algn="bl" rotWithShape="0" blurRad="76200" dist="25400" dir="5400000">
              <a:srgbClr val="000000">
                <a:alpha val="10000"/>
              </a:srgbClr>
            </a:outerShdw>
          </a:effectLst>
        </p:spPr>
      </p:sp>
      <p:sp>
        <p:nvSpPr>
          <p:cNvPr id="20" name="Shape 18"/>
          <p:cNvSpPr/>
          <p:nvPr/>
        </p:nvSpPr>
        <p:spPr>
          <a:xfrm>
            <a:off x="9208008" y="1947672"/>
            <a:ext cx="146304" cy="146304"/>
          </a:xfrm>
          <a:prstGeom prst="roundRect">
            <a:avLst>
              <a:gd name="adj" fmla="val 50000"/>
            </a:avLst>
          </a:prstGeom>
          <a:solidFill>
            <a:srgbClr val="CBAF91"/>
          </a:solidFill>
          <a:ln/>
        </p:spPr>
      </p:sp>
      <p:sp>
        <p:nvSpPr>
          <p:cNvPr id="21" name="Text 19"/>
          <p:cNvSpPr/>
          <p:nvPr/>
        </p:nvSpPr>
        <p:spPr>
          <a:xfrm>
            <a:off x="9208008" y="2148840"/>
            <a:ext cx="2267712" cy="594360"/>
          </a:xfrm>
          <a:prstGeom prst="rect">
            <a:avLst/>
          </a:prstGeom>
          <a:noFill/>
          <a:ln/>
        </p:spPr>
        <p:txBody>
          <a:bodyPr wrap="square" lIns="0" tIns="0" rIns="0" bIns="0" rtlCol="0" anchor="ctr"/>
          <a:lstStyle/>
          <a:p>
            <a:pPr indent="0" marL="0">
              <a:buNone/>
            </a:pPr>
            <a:r>
              <a:rPr lang="en-US" sz="1500" b="1" dirty="0">
                <a:solidFill>
                  <a:srgbClr val="0F1923"/>
                </a:solidFill>
                <a:latin typeface="Cambria" pitchFamily="34" charset="0"/>
                <a:ea typeface="Cambria" pitchFamily="34" charset="-122"/>
                <a:cs typeface="Cambria" pitchFamily="34" charset="-120"/>
              </a:rPr>
              <a:t>Toujours accessible</a:t>
            </a:r>
            <a:endParaRPr lang="en-US" sz="1500" dirty="0"/>
          </a:p>
        </p:txBody>
      </p:sp>
      <p:sp>
        <p:nvSpPr>
          <p:cNvPr id="22" name="Text 20"/>
          <p:cNvSpPr/>
          <p:nvPr/>
        </p:nvSpPr>
        <p:spPr>
          <a:xfrm>
            <a:off x="9208008" y="2679192"/>
            <a:ext cx="2267712" cy="502920"/>
          </a:xfrm>
          <a:prstGeom prst="rect">
            <a:avLst/>
          </a:prstGeom>
          <a:noFill/>
          <a:ln/>
        </p:spPr>
        <p:txBody>
          <a:bodyPr wrap="square" lIns="0" tIns="0" rIns="0" bIns="0" rtlCol="0" anchor="ctr"/>
          <a:lstStyle/>
          <a:p>
            <a:pPr indent="0" marL="0">
              <a:buNone/>
            </a:pPr>
            <a:r>
              <a:rPr lang="en-US" sz="1050" i="1" dirty="0">
                <a:solidFill>
                  <a:srgbClr val="6B7684"/>
                </a:solidFill>
                <a:latin typeface="Calibri" pitchFamily="34" charset="0"/>
                <a:ea typeface="Calibri" pitchFamily="34" charset="-122"/>
                <a:cs typeface="Calibri" pitchFamily="34" charset="-120"/>
              </a:rPr>
              <a:t>Quel que soit votre rôle</a:t>
            </a:r>
            <a:endParaRPr lang="en-US" sz="1050" dirty="0"/>
          </a:p>
        </p:txBody>
      </p:sp>
      <p:sp>
        <p:nvSpPr>
          <p:cNvPr id="23" name="Text 21"/>
          <p:cNvSpPr/>
          <p:nvPr/>
        </p:nvSpPr>
        <p:spPr>
          <a:xfrm>
            <a:off x="9208008" y="3291840"/>
            <a:ext cx="2267712" cy="2560320"/>
          </a:xfrm>
          <a:prstGeom prst="rect">
            <a:avLst/>
          </a:prstGeom>
          <a:noFill/>
          <a:ln/>
        </p:spPr>
        <p:txBody>
          <a:bodyPr wrap="square" lIns="0" tIns="0" rIns="0" bIns="0" rtlCol="0" anchor="t"/>
          <a:lstStyle/>
          <a:p>
            <a:pPr marL="342900" indent="-342900">
              <a:spcAft>
                <a:spcPts val="700"/>
              </a:spcAft>
              <a:buSzPct val="100000"/>
              <a:buChar char="●"/>
            </a:pPr>
            <a:r>
              <a:rPr lang="en-US" sz="1100" dirty="0">
                <a:solidFill>
                  <a:srgbClr val="2C3644"/>
                </a:solidFill>
                <a:latin typeface="Calibri" pitchFamily="34" charset="0"/>
                <a:ea typeface="Calibri" pitchFamily="34" charset="-122"/>
                <a:cs typeface="Calibri" pitchFamily="34" charset="-120"/>
              </a:rPr>
              <a:t>Tableau de bord</a:t>
            </a:r>
            <a:endParaRPr lang="en-US" sz="1100" dirty="0"/>
          </a:p>
          <a:p>
            <a:pPr marL="342900" indent="-342900">
              <a:spcAft>
                <a:spcPts val="700"/>
              </a:spcAft>
              <a:buSzPct val="100000"/>
              <a:buChar char="●"/>
            </a:pPr>
            <a:r>
              <a:rPr lang="en-US" sz="1100" dirty="0">
                <a:solidFill>
                  <a:srgbClr val="2C3644"/>
                </a:solidFill>
                <a:latin typeface="Calibri" pitchFamily="34" charset="0"/>
                <a:ea typeface="Calibri" pitchFamily="34" charset="-122"/>
                <a:cs typeface="Calibri" pitchFamily="34" charset="-120"/>
              </a:rPr>
              <a:t>Produits (catalogue)</a:t>
            </a:r>
            <a:endParaRPr lang="en-US" sz="1100" dirty="0"/>
          </a:p>
          <a:p>
            <a:pPr marL="342900" indent="-342900">
              <a:spcAft>
                <a:spcPts val="700"/>
              </a:spcAft>
              <a:buSzPct val="100000"/>
              <a:buChar char="●"/>
            </a:pPr>
            <a:r>
              <a:rPr lang="en-US" sz="1100" dirty="0">
                <a:solidFill>
                  <a:srgbClr val="2C3644"/>
                </a:solidFill>
                <a:latin typeface="Calibri" pitchFamily="34" charset="0"/>
                <a:ea typeface="Calibri" pitchFamily="34" charset="-122"/>
                <a:cs typeface="Calibri" pitchFamily="34" charset="-120"/>
              </a:rPr>
              <a:t>Rapports (toute l'équipe)</a:t>
            </a:r>
            <a:endParaRPr lang="en-US" sz="1100" dirty="0"/>
          </a:p>
          <a:p>
            <a:pPr marL="342900" indent="-342900">
              <a:spcAft>
                <a:spcPts val="700"/>
              </a:spcAft>
              <a:buSzPct val="100000"/>
              <a:buChar char="●"/>
            </a:pPr>
            <a:r>
              <a:rPr lang="en-US" sz="1100" dirty="0">
                <a:solidFill>
                  <a:srgbClr val="2C3644"/>
                </a:solidFill>
                <a:latin typeface="Calibri" pitchFamily="34" charset="0"/>
                <a:ea typeface="Calibri" pitchFamily="34" charset="-122"/>
                <a:cs typeface="Calibri" pitchFamily="34" charset="-120"/>
              </a:rPr>
              <a:t>Assistant</a:t>
            </a:r>
            <a:endParaRPr lang="en-US" sz="1100" dirty="0"/>
          </a:p>
          <a:p>
            <a:pPr marL="342900" indent="-342900">
              <a:spcAft>
                <a:spcPts val="700"/>
              </a:spcAft>
              <a:buSzPct val="100000"/>
              <a:buChar char="●"/>
            </a:pPr>
            <a:r>
              <a:rPr lang="en-US" sz="1100" dirty="0">
                <a:solidFill>
                  <a:srgbClr val="2C3644"/>
                </a:solidFill>
                <a:latin typeface="Calibri" pitchFamily="34" charset="0"/>
                <a:ea typeface="Calibri" pitchFamily="34" charset="-122"/>
                <a:cs typeface="Calibri" pitchFamily="34" charset="-120"/>
              </a:rPr>
              <a:t>À propos</a:t>
            </a:r>
            <a:endParaRPr lang="en-US" sz="1100" dirty="0"/>
          </a:p>
        </p:txBody>
      </p:sp>
      <p:sp>
        <p:nvSpPr>
          <p:cNvPr id="24" name="Text 22"/>
          <p:cNvSpPr/>
          <p:nvPr/>
        </p:nvSpPr>
        <p:spPr>
          <a:xfrm>
            <a:off x="502920" y="6108192"/>
            <a:ext cx="11185855" cy="274320"/>
          </a:xfrm>
          <a:prstGeom prst="rect">
            <a:avLst/>
          </a:prstGeom>
          <a:noFill/>
          <a:ln/>
        </p:spPr>
        <p:txBody>
          <a:bodyPr wrap="square" lIns="0" tIns="0" rIns="0" bIns="0" rtlCol="0" anchor="ctr"/>
          <a:lstStyle/>
          <a:p>
            <a:pPr indent="0" marL="0">
              <a:buNone/>
            </a:pPr>
            <a:r>
              <a:rPr lang="en-US" sz="950" i="1" dirty="0">
                <a:solidFill>
                  <a:srgbClr val="6B7684"/>
                </a:solidFill>
                <a:latin typeface="Calibri" pitchFamily="34" charset="0"/>
                <a:ea typeface="Calibri" pitchFamily="34" charset="-122"/>
                <a:cs typeface="Calibri" pitchFamily="34" charset="-120"/>
              </a:rPr>
              <a:t>Aucun module n'est hors de votre périmètre : c'est la particularité du rôle Administrateur, Principal comme secondaire.</a:t>
            </a:r>
            <a:endParaRPr lang="en-US" sz="950" dirty="0"/>
          </a:p>
        </p:txBody>
      </p:sp>
      <p:sp>
        <p:nvSpPr>
          <p:cNvPr id="25" name="Text 23"/>
          <p:cNvSpPr/>
          <p:nvPr/>
        </p:nvSpPr>
        <p:spPr>
          <a:xfrm>
            <a:off x="502920" y="6400800"/>
            <a:ext cx="11185855" cy="292608"/>
          </a:xfrm>
          <a:prstGeom prst="rect">
            <a:avLst/>
          </a:prstGeom>
          <a:noFill/>
          <a:ln/>
        </p:spPr>
        <p:txBody>
          <a:bodyPr wrap="square" lIns="0" tIns="0" rIns="0" bIns="0" rtlCol="0" anchor="ctr"/>
          <a:lstStyle/>
          <a:p>
            <a:pPr algn="l" indent="0" marL="0">
              <a:buNone/>
            </a:pPr>
            <a:r>
              <a:rPr lang="en-US" sz="950" dirty="0">
                <a:solidFill>
                  <a:srgbClr val="A9A196"/>
                </a:solidFill>
                <a:latin typeface="Calibri" pitchFamily="34" charset="0"/>
                <a:ea typeface="Calibri" pitchFamily="34" charset="-122"/>
                <a:cs typeface="Calibri" pitchFamily="34" charset="-120"/>
              </a:rPr>
              <a:t>4 / 18</a:t>
            </a:r>
            <a:endParaRPr lang="en-US" sz="950" dirty="0"/>
          </a:p>
        </p:txBody>
      </p:sp>
      <p:sp>
        <p:nvSpPr>
          <p:cNvPr id="26" name="Text 24"/>
          <p:cNvSpPr/>
          <p:nvPr/>
        </p:nvSpPr>
        <p:spPr>
          <a:xfrm>
            <a:off x="502920" y="6400800"/>
            <a:ext cx="11185855" cy="292608"/>
          </a:xfrm>
          <a:prstGeom prst="rect">
            <a:avLst/>
          </a:prstGeom>
          <a:noFill/>
          <a:ln/>
        </p:spPr>
        <p:txBody>
          <a:bodyPr wrap="square" lIns="0" tIns="0" rIns="0" bIns="0" rtlCol="0" anchor="ctr"/>
          <a:lstStyle/>
          <a:p>
            <a:pPr algn="r" indent="0" marL="0">
              <a:buNone/>
            </a:pPr>
            <a:r>
              <a:rPr lang="en-US" sz="950" dirty="0">
                <a:solidFill>
                  <a:srgbClr val="A9A196"/>
                </a:solidFill>
                <a:latin typeface="Calibri" pitchFamily="34" charset="0"/>
                <a:ea typeface="Calibri" pitchFamily="34" charset="-122"/>
                <a:cs typeface="Calibri" pitchFamily="34" charset="-120"/>
              </a:rPr>
              <a:t>Boulangerie Lomoto — Guide Administrateur</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lIns="0" tIns="0" rIns="0" bIns="0" rtlCol="0" anchor="ctr"/>
          <a:lstStyle/>
          <a:p>
            <a:pPr indent="0" marL="0">
              <a:buNone/>
            </a:pPr>
            <a:r>
              <a:rPr lang="en-US" sz="1200" b="1" spc="200" kern="0" dirty="0">
                <a:solidFill>
                  <a:srgbClr val="AD5416"/>
                </a:solidFill>
                <a:latin typeface="Calibri" pitchFamily="34" charset="0"/>
                <a:ea typeface="Calibri" pitchFamily="34" charset="-122"/>
                <a:cs typeface="Calibri" pitchFamily="34" charset="-120"/>
              </a:rPr>
              <a:t>PREMIÈRE ÉTAPE</a:t>
            </a:r>
            <a:endParaRPr lang="en-US" sz="1200" dirty="0"/>
          </a:p>
        </p:txBody>
      </p:sp>
      <p:sp>
        <p:nvSpPr>
          <p:cNvPr id="3" name="Text 1"/>
          <p:cNvSpPr/>
          <p:nvPr/>
        </p:nvSpPr>
        <p:spPr>
          <a:xfrm>
            <a:off x="502920" y="658368"/>
            <a:ext cx="7772400" cy="685800"/>
          </a:xfrm>
          <a:prstGeom prst="rect">
            <a:avLst/>
          </a:prstGeom>
          <a:noFill/>
          <a:ln/>
        </p:spPr>
        <p:txBody>
          <a:bodyPr wrap="square" lIns="0" tIns="0" rIns="0" bIns="0" rtlCol="0" anchor="ctr"/>
          <a:lstStyle/>
          <a:p>
            <a:pPr indent="0" marL="0">
              <a:buNone/>
            </a:pPr>
            <a:r>
              <a:rPr lang="en-US" sz="3000" b="1" dirty="0">
                <a:solidFill>
                  <a:srgbClr val="0F1923"/>
                </a:solidFill>
                <a:latin typeface="Cambria" pitchFamily="34" charset="0"/>
                <a:ea typeface="Cambria" pitchFamily="34" charset="-122"/>
                <a:cs typeface="Cambria" pitchFamily="34" charset="-120"/>
              </a:rPr>
              <a:t>Se connecter à l'application</a:t>
            </a:r>
            <a:endParaRPr lang="en-US" sz="3000" dirty="0"/>
          </a:p>
        </p:txBody>
      </p:sp>
      <p:sp>
        <p:nvSpPr>
          <p:cNvPr id="4" name="Shape 2"/>
          <p:cNvSpPr/>
          <p:nvPr/>
        </p:nvSpPr>
        <p:spPr>
          <a:xfrm>
            <a:off x="502920" y="1691640"/>
            <a:ext cx="457200" cy="457200"/>
          </a:xfrm>
          <a:prstGeom prst="ellipse">
            <a:avLst/>
          </a:prstGeom>
          <a:solidFill>
            <a:srgbClr val="0F1923"/>
          </a:solidFill>
          <a:ln/>
        </p:spPr>
      </p:sp>
      <p:sp>
        <p:nvSpPr>
          <p:cNvPr id="5" name="Text 3"/>
          <p:cNvSpPr/>
          <p:nvPr/>
        </p:nvSpPr>
        <p:spPr>
          <a:xfrm>
            <a:off x="502920" y="1691640"/>
            <a:ext cx="457200" cy="457200"/>
          </a:xfrm>
          <a:prstGeom prst="rect">
            <a:avLst/>
          </a:prstGeom>
          <a:noFill/>
          <a:ln/>
        </p:spPr>
        <p:txBody>
          <a:bodyPr wrap="square" lIns="0" tIns="0" rIns="0" bIns="0" rtlCol="0" anchor="ctr"/>
          <a:lstStyle/>
          <a:p>
            <a:pPr algn="ctr" indent="0" marL="0">
              <a:buNone/>
            </a:pPr>
            <a:r>
              <a:rPr lang="en-US" sz="1600" b="1" dirty="0">
                <a:solidFill>
                  <a:srgbClr val="DA9F4E"/>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1143000" y="1673352"/>
            <a:ext cx="4663440" cy="731520"/>
          </a:xfrm>
          <a:prstGeom prst="rect">
            <a:avLst/>
          </a:prstGeom>
          <a:noFill/>
          <a:ln/>
        </p:spPr>
        <p:txBody>
          <a:bodyPr wrap="square" lIns="0" tIns="0" rIns="0" bIns="0" rtlCol="0" anchor="ctr"/>
          <a:lstStyle/>
          <a:p>
            <a:pPr indent="0" marL="0">
              <a:lnSpc>
                <a:spcPct val="115000"/>
              </a:lnSpc>
              <a:buNone/>
            </a:pPr>
            <a:r>
              <a:rPr lang="en-US" sz="1300" dirty="0">
                <a:solidFill>
                  <a:srgbClr val="2C3644"/>
                </a:solidFill>
                <a:latin typeface="Calibri" pitchFamily="34" charset="0"/>
                <a:ea typeface="Calibri" pitchFamily="34" charset="-122"/>
                <a:cs typeface="Calibri" pitchFamily="34" charset="-120"/>
              </a:rPr>
              <a:t>Ouvrez l'application dans votre navigateur (ordinateur, tablette ou téléphone).</a:t>
            </a:r>
            <a:endParaRPr lang="en-US" sz="1300" dirty="0"/>
          </a:p>
        </p:txBody>
      </p:sp>
      <p:sp>
        <p:nvSpPr>
          <p:cNvPr id="7" name="Shape 5"/>
          <p:cNvSpPr/>
          <p:nvPr/>
        </p:nvSpPr>
        <p:spPr>
          <a:xfrm>
            <a:off x="502920" y="2606040"/>
            <a:ext cx="457200" cy="457200"/>
          </a:xfrm>
          <a:prstGeom prst="ellipse">
            <a:avLst/>
          </a:prstGeom>
          <a:solidFill>
            <a:srgbClr val="0F1923"/>
          </a:solidFill>
          <a:ln/>
        </p:spPr>
      </p:sp>
      <p:sp>
        <p:nvSpPr>
          <p:cNvPr id="8" name="Text 6"/>
          <p:cNvSpPr/>
          <p:nvPr/>
        </p:nvSpPr>
        <p:spPr>
          <a:xfrm>
            <a:off x="502920" y="2606040"/>
            <a:ext cx="457200" cy="457200"/>
          </a:xfrm>
          <a:prstGeom prst="rect">
            <a:avLst/>
          </a:prstGeom>
          <a:noFill/>
          <a:ln/>
        </p:spPr>
        <p:txBody>
          <a:bodyPr wrap="square" lIns="0" tIns="0" rIns="0" bIns="0" rtlCol="0" anchor="ctr"/>
          <a:lstStyle/>
          <a:p>
            <a:pPr algn="ctr" indent="0" marL="0">
              <a:buNone/>
            </a:pPr>
            <a:r>
              <a:rPr lang="en-US" sz="1600" b="1" dirty="0">
                <a:solidFill>
                  <a:srgbClr val="DA9F4E"/>
                </a:solidFill>
                <a:latin typeface="Cambria" pitchFamily="34" charset="0"/>
                <a:ea typeface="Cambria" pitchFamily="34" charset="-122"/>
                <a:cs typeface="Cambria" pitchFamily="34" charset="-120"/>
              </a:rPr>
              <a:t>2</a:t>
            </a:r>
            <a:endParaRPr lang="en-US" sz="1600" dirty="0"/>
          </a:p>
        </p:txBody>
      </p:sp>
      <p:sp>
        <p:nvSpPr>
          <p:cNvPr id="9" name="Text 7"/>
          <p:cNvSpPr/>
          <p:nvPr/>
        </p:nvSpPr>
        <p:spPr>
          <a:xfrm>
            <a:off x="1143000" y="2587752"/>
            <a:ext cx="4663440" cy="731520"/>
          </a:xfrm>
          <a:prstGeom prst="rect">
            <a:avLst/>
          </a:prstGeom>
          <a:noFill/>
          <a:ln/>
        </p:spPr>
        <p:txBody>
          <a:bodyPr wrap="square" lIns="0" tIns="0" rIns="0" bIns="0" rtlCol="0" anchor="ctr"/>
          <a:lstStyle/>
          <a:p>
            <a:pPr indent="0" marL="0">
              <a:lnSpc>
                <a:spcPct val="115000"/>
              </a:lnSpc>
              <a:buNone/>
            </a:pPr>
            <a:r>
              <a:rPr lang="en-US" sz="1300" dirty="0">
                <a:solidFill>
                  <a:srgbClr val="2C3644"/>
                </a:solidFill>
                <a:latin typeface="Calibri" pitchFamily="34" charset="0"/>
                <a:ea typeface="Calibri" pitchFamily="34" charset="-122"/>
                <a:cs typeface="Calibri" pitchFamily="34" charset="-120"/>
              </a:rPr>
              <a:t>Saisissez votre adresse professionnelle — format prenom.nom@boulangerie-lomoto.com.</a:t>
            </a:r>
            <a:endParaRPr lang="en-US" sz="1300" dirty="0"/>
          </a:p>
        </p:txBody>
      </p:sp>
      <p:sp>
        <p:nvSpPr>
          <p:cNvPr id="10" name="Shape 8"/>
          <p:cNvSpPr/>
          <p:nvPr/>
        </p:nvSpPr>
        <p:spPr>
          <a:xfrm>
            <a:off x="502920" y="3520440"/>
            <a:ext cx="457200" cy="457200"/>
          </a:xfrm>
          <a:prstGeom prst="ellipse">
            <a:avLst/>
          </a:prstGeom>
          <a:solidFill>
            <a:srgbClr val="0F1923"/>
          </a:solidFill>
          <a:ln/>
        </p:spPr>
      </p:sp>
      <p:sp>
        <p:nvSpPr>
          <p:cNvPr id="11" name="Text 9"/>
          <p:cNvSpPr/>
          <p:nvPr/>
        </p:nvSpPr>
        <p:spPr>
          <a:xfrm>
            <a:off x="502920" y="3520440"/>
            <a:ext cx="457200" cy="457200"/>
          </a:xfrm>
          <a:prstGeom prst="rect">
            <a:avLst/>
          </a:prstGeom>
          <a:noFill/>
          <a:ln/>
        </p:spPr>
        <p:txBody>
          <a:bodyPr wrap="square" lIns="0" tIns="0" rIns="0" bIns="0" rtlCol="0" anchor="ctr"/>
          <a:lstStyle/>
          <a:p>
            <a:pPr algn="ctr" indent="0" marL="0">
              <a:buNone/>
            </a:pPr>
            <a:r>
              <a:rPr lang="en-US" sz="1600" b="1" dirty="0">
                <a:solidFill>
                  <a:srgbClr val="DA9F4E"/>
                </a:solidFill>
                <a:latin typeface="Cambria" pitchFamily="34" charset="0"/>
                <a:ea typeface="Cambria" pitchFamily="34" charset="-122"/>
                <a:cs typeface="Cambria" pitchFamily="34" charset="-120"/>
              </a:rPr>
              <a:t>3</a:t>
            </a:r>
            <a:endParaRPr lang="en-US" sz="1600" dirty="0"/>
          </a:p>
        </p:txBody>
      </p:sp>
      <p:sp>
        <p:nvSpPr>
          <p:cNvPr id="12" name="Text 10"/>
          <p:cNvSpPr/>
          <p:nvPr/>
        </p:nvSpPr>
        <p:spPr>
          <a:xfrm>
            <a:off x="1143000" y="3502152"/>
            <a:ext cx="4663440" cy="731520"/>
          </a:xfrm>
          <a:prstGeom prst="rect">
            <a:avLst/>
          </a:prstGeom>
          <a:noFill/>
          <a:ln/>
        </p:spPr>
        <p:txBody>
          <a:bodyPr wrap="square" lIns="0" tIns="0" rIns="0" bIns="0" rtlCol="0" anchor="ctr"/>
          <a:lstStyle/>
          <a:p>
            <a:pPr indent="0" marL="0">
              <a:lnSpc>
                <a:spcPct val="115000"/>
              </a:lnSpc>
              <a:buNone/>
            </a:pPr>
            <a:r>
              <a:rPr lang="en-US" sz="1300" dirty="0">
                <a:solidFill>
                  <a:srgbClr val="2C3644"/>
                </a:solidFill>
                <a:latin typeface="Calibri" pitchFamily="34" charset="0"/>
                <a:ea typeface="Calibri" pitchFamily="34" charset="-122"/>
                <a:cs typeface="Calibri" pitchFamily="34" charset="-120"/>
              </a:rPr>
              <a:t>Saisissez votre mot de passe.</a:t>
            </a:r>
            <a:endParaRPr lang="en-US" sz="1300" dirty="0"/>
          </a:p>
        </p:txBody>
      </p:sp>
      <p:sp>
        <p:nvSpPr>
          <p:cNvPr id="13" name="Shape 11"/>
          <p:cNvSpPr/>
          <p:nvPr/>
        </p:nvSpPr>
        <p:spPr>
          <a:xfrm>
            <a:off x="502920" y="4434840"/>
            <a:ext cx="457200" cy="457200"/>
          </a:xfrm>
          <a:prstGeom prst="ellipse">
            <a:avLst/>
          </a:prstGeom>
          <a:solidFill>
            <a:srgbClr val="0F1923"/>
          </a:solidFill>
          <a:ln/>
        </p:spPr>
      </p:sp>
      <p:sp>
        <p:nvSpPr>
          <p:cNvPr id="14" name="Text 12"/>
          <p:cNvSpPr/>
          <p:nvPr/>
        </p:nvSpPr>
        <p:spPr>
          <a:xfrm>
            <a:off x="502920" y="4434840"/>
            <a:ext cx="457200" cy="457200"/>
          </a:xfrm>
          <a:prstGeom prst="rect">
            <a:avLst/>
          </a:prstGeom>
          <a:noFill/>
          <a:ln/>
        </p:spPr>
        <p:txBody>
          <a:bodyPr wrap="square" lIns="0" tIns="0" rIns="0" bIns="0" rtlCol="0" anchor="ctr"/>
          <a:lstStyle/>
          <a:p>
            <a:pPr algn="ctr" indent="0" marL="0">
              <a:buNone/>
            </a:pPr>
            <a:r>
              <a:rPr lang="en-US" sz="1600" b="1" dirty="0">
                <a:solidFill>
                  <a:srgbClr val="DA9F4E"/>
                </a:solidFill>
                <a:latin typeface="Cambria" pitchFamily="34" charset="0"/>
                <a:ea typeface="Cambria" pitchFamily="34" charset="-122"/>
                <a:cs typeface="Cambria" pitchFamily="34" charset="-120"/>
              </a:rPr>
              <a:t>4</a:t>
            </a:r>
            <a:endParaRPr lang="en-US" sz="1600" dirty="0"/>
          </a:p>
        </p:txBody>
      </p:sp>
      <p:sp>
        <p:nvSpPr>
          <p:cNvPr id="15" name="Text 13"/>
          <p:cNvSpPr/>
          <p:nvPr/>
        </p:nvSpPr>
        <p:spPr>
          <a:xfrm>
            <a:off x="1143000" y="4416552"/>
            <a:ext cx="4663440" cy="731520"/>
          </a:xfrm>
          <a:prstGeom prst="rect">
            <a:avLst/>
          </a:prstGeom>
          <a:noFill/>
          <a:ln/>
        </p:spPr>
        <p:txBody>
          <a:bodyPr wrap="square" lIns="0" tIns="0" rIns="0" bIns="0" rtlCol="0" anchor="ctr"/>
          <a:lstStyle/>
          <a:p>
            <a:pPr indent="0" marL="0">
              <a:lnSpc>
                <a:spcPct val="115000"/>
              </a:lnSpc>
              <a:buNone/>
            </a:pPr>
            <a:r>
              <a:rPr lang="en-US" sz="1300" dirty="0">
                <a:solidFill>
                  <a:srgbClr val="2C3644"/>
                </a:solidFill>
                <a:latin typeface="Calibri" pitchFamily="34" charset="0"/>
                <a:ea typeface="Calibri" pitchFamily="34" charset="-122"/>
                <a:cs typeface="Calibri" pitchFamily="34" charset="-120"/>
              </a:rPr>
              <a:t>Cliquez sur « Se connecter ».</a:t>
            </a:r>
            <a:endParaRPr lang="en-US" sz="1300" dirty="0"/>
          </a:p>
        </p:txBody>
      </p:sp>
      <p:sp>
        <p:nvSpPr>
          <p:cNvPr id="16" name="Shape 14"/>
          <p:cNvSpPr/>
          <p:nvPr/>
        </p:nvSpPr>
        <p:spPr>
          <a:xfrm>
            <a:off x="502920" y="5394960"/>
            <a:ext cx="5303520" cy="777240"/>
          </a:xfrm>
          <a:prstGeom prst="roundRect">
            <a:avLst>
              <a:gd name="adj" fmla="val 7059"/>
            </a:avLst>
          </a:prstGeom>
          <a:solidFill>
            <a:srgbClr val="F3E3C3"/>
          </a:solidFill>
          <a:ln/>
        </p:spPr>
      </p:sp>
      <p:sp>
        <p:nvSpPr>
          <p:cNvPr id="17" name="Text 15"/>
          <p:cNvSpPr/>
          <p:nvPr/>
        </p:nvSpPr>
        <p:spPr>
          <a:xfrm>
            <a:off x="731520" y="5486400"/>
            <a:ext cx="4846320" cy="594360"/>
          </a:xfrm>
          <a:prstGeom prst="rect">
            <a:avLst/>
          </a:prstGeom>
          <a:noFill/>
          <a:ln/>
        </p:spPr>
        <p:txBody>
          <a:bodyPr wrap="square" lIns="0" tIns="0" rIns="0" bIns="0" rtlCol="0" anchor="ctr"/>
          <a:lstStyle/>
          <a:p>
            <a:pPr indent="0" marL="0">
              <a:buNone/>
            </a:pPr>
            <a:r>
              <a:rPr lang="en-US" sz="1100" i="1" dirty="0">
                <a:solidFill>
                  <a:srgbClr val="5B4322"/>
                </a:solidFill>
                <a:latin typeface="Calibri" pitchFamily="34" charset="0"/>
                <a:ea typeface="Calibri" pitchFamily="34" charset="-122"/>
                <a:cs typeface="Calibri" pitchFamily="34" charset="-120"/>
              </a:rPr>
              <a:t>Rien ne distingue visuellement un compte Principal d'un compte secondaire à la connexion — la différence apparaît dans les actions disponibles, module par module.</a:t>
            </a:r>
            <a:endParaRPr lang="en-US" sz="1100" dirty="0"/>
          </a:p>
        </p:txBody>
      </p:sp>
      <p:sp>
        <p:nvSpPr>
          <p:cNvPr id="18" name="Shape 16"/>
          <p:cNvSpPr/>
          <p:nvPr/>
        </p:nvSpPr>
        <p:spPr>
          <a:xfrm>
            <a:off x="6080760" y="2080260"/>
            <a:ext cx="5669280" cy="3611880"/>
          </a:xfrm>
          <a:prstGeom prst="roundRect">
            <a:avLst>
              <a:gd name="adj" fmla="val 1519"/>
            </a:avLst>
          </a:prstGeom>
          <a:solidFill>
            <a:srgbClr val="FFFFFF"/>
          </a:solidFill>
          <a:ln w="12700">
            <a:solidFill>
              <a:srgbClr val="CBAF91"/>
            </a:solidFill>
            <a:prstDash val="solid"/>
          </a:ln>
          <a:effectLst>
            <a:outerShdw sx="100000" sy="100000" kx="0" ky="0" algn="bl" rotWithShape="0" blurRad="127000" dist="50800" dir="5400000">
              <a:srgbClr val="000000">
                <a:alpha val="28000"/>
              </a:srgbClr>
            </a:outerShdw>
          </a:effectLst>
        </p:spPr>
      </p:sp>
      <p:pic>
        <p:nvPicPr>
          <p:cNvPr id="19" name="Image 0" descr="/tmp/claude-0/-home-user-Boulangerie/f122e8ab-b408-5ce6-930c-e0c5bddf9e4c/scratchpad/captures/administrateur/../caissiere/01-login.png">    </p:cNvPr>
          <p:cNvPicPr>
            <a:picLocks noChangeAspect="1"/>
          </p:cNvPicPr>
          <p:nvPr/>
        </p:nvPicPr>
        <p:blipFill>
          <a:blip r:embed="rId1"/>
          <a:stretch>
            <a:fillRect/>
          </a:stretch>
        </p:blipFill>
        <p:spPr>
          <a:xfrm>
            <a:off x="6172200" y="2171700"/>
            <a:ext cx="5486400" cy="3429000"/>
          </a:xfrm>
          <a:prstGeom prst="rect">
            <a:avLst/>
          </a:prstGeom>
        </p:spPr>
      </p:pic>
      <p:sp>
        <p:nvSpPr>
          <p:cNvPr id="20" name="Text 17"/>
          <p:cNvSpPr/>
          <p:nvPr/>
        </p:nvSpPr>
        <p:spPr>
          <a:xfrm>
            <a:off x="502920" y="6400800"/>
            <a:ext cx="11185855" cy="292608"/>
          </a:xfrm>
          <a:prstGeom prst="rect">
            <a:avLst/>
          </a:prstGeom>
          <a:noFill/>
          <a:ln/>
        </p:spPr>
        <p:txBody>
          <a:bodyPr wrap="square" lIns="0" tIns="0" rIns="0" bIns="0" rtlCol="0" anchor="ctr"/>
          <a:lstStyle/>
          <a:p>
            <a:pPr algn="l" indent="0" marL="0">
              <a:buNone/>
            </a:pPr>
            <a:r>
              <a:rPr lang="en-US" sz="950" dirty="0">
                <a:solidFill>
                  <a:srgbClr val="A9A196"/>
                </a:solidFill>
                <a:latin typeface="Calibri" pitchFamily="34" charset="0"/>
                <a:ea typeface="Calibri" pitchFamily="34" charset="-122"/>
                <a:cs typeface="Calibri" pitchFamily="34" charset="-120"/>
              </a:rPr>
              <a:t>5 / 18</a:t>
            </a:r>
            <a:endParaRPr lang="en-US" sz="950" dirty="0"/>
          </a:p>
        </p:txBody>
      </p:sp>
      <p:sp>
        <p:nvSpPr>
          <p:cNvPr id="21" name="Text 18"/>
          <p:cNvSpPr/>
          <p:nvPr/>
        </p:nvSpPr>
        <p:spPr>
          <a:xfrm>
            <a:off x="502920" y="6400800"/>
            <a:ext cx="11185855" cy="292608"/>
          </a:xfrm>
          <a:prstGeom prst="rect">
            <a:avLst/>
          </a:prstGeom>
          <a:noFill/>
          <a:ln/>
        </p:spPr>
        <p:txBody>
          <a:bodyPr wrap="square" lIns="0" tIns="0" rIns="0" bIns="0" rtlCol="0" anchor="ctr"/>
          <a:lstStyle/>
          <a:p>
            <a:pPr algn="r" indent="0" marL="0">
              <a:buNone/>
            </a:pPr>
            <a:r>
              <a:rPr lang="en-US" sz="950" dirty="0">
                <a:solidFill>
                  <a:srgbClr val="A9A196"/>
                </a:solidFill>
                <a:latin typeface="Calibri" pitchFamily="34" charset="0"/>
                <a:ea typeface="Calibri" pitchFamily="34" charset="-122"/>
                <a:cs typeface="Calibri" pitchFamily="34" charset="-120"/>
              </a:rPr>
              <a:t>Boulangerie Lomoto — Guide Administrateur</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lIns="0" tIns="0" rIns="0" bIns="0" rtlCol="0" anchor="ctr"/>
          <a:lstStyle/>
          <a:p>
            <a:pPr indent="0" marL="0">
              <a:buNone/>
            </a:pPr>
            <a:r>
              <a:rPr lang="en-US" sz="1200" b="1" spc="200" kern="0" dirty="0">
                <a:solidFill>
                  <a:srgbClr val="AD5416"/>
                </a:solidFill>
                <a:latin typeface="Calibri" pitchFamily="34" charset="0"/>
                <a:ea typeface="Calibri" pitchFamily="34" charset="-122"/>
                <a:cs typeface="Calibri" pitchFamily="34" charset="-120"/>
              </a:rPr>
              <a:t>SE REPÉRER</a:t>
            </a:r>
            <a:endParaRPr lang="en-US" sz="1200" dirty="0"/>
          </a:p>
        </p:txBody>
      </p:sp>
      <p:sp>
        <p:nvSpPr>
          <p:cNvPr id="3" name="Text 1"/>
          <p:cNvSpPr/>
          <p:nvPr/>
        </p:nvSpPr>
        <p:spPr>
          <a:xfrm>
            <a:off x="502920" y="658368"/>
            <a:ext cx="7772400" cy="685800"/>
          </a:xfrm>
          <a:prstGeom prst="rect">
            <a:avLst/>
          </a:prstGeom>
          <a:noFill/>
          <a:ln/>
        </p:spPr>
        <p:txBody>
          <a:bodyPr wrap="square" lIns="0" tIns="0" rIns="0" bIns="0" rtlCol="0" anchor="ctr"/>
          <a:lstStyle/>
          <a:p>
            <a:pPr indent="0" marL="0">
              <a:buNone/>
            </a:pPr>
            <a:r>
              <a:rPr lang="en-US" sz="3000" b="1" dirty="0">
                <a:solidFill>
                  <a:srgbClr val="0F1923"/>
                </a:solidFill>
                <a:latin typeface="Cambria" pitchFamily="34" charset="0"/>
                <a:ea typeface="Cambria" pitchFamily="34" charset="-122"/>
                <a:cs typeface="Cambria" pitchFamily="34" charset="-120"/>
              </a:rPr>
              <a:t>Le menu et la navigation</a:t>
            </a:r>
            <a:endParaRPr lang="en-US" sz="3000" dirty="0"/>
          </a:p>
        </p:txBody>
      </p:sp>
      <p:sp>
        <p:nvSpPr>
          <p:cNvPr id="4" name="Shape 2"/>
          <p:cNvSpPr/>
          <p:nvPr/>
        </p:nvSpPr>
        <p:spPr>
          <a:xfrm>
            <a:off x="1209294" y="1371600"/>
            <a:ext cx="1650492" cy="5074920"/>
          </a:xfrm>
          <a:prstGeom prst="roundRect">
            <a:avLst>
              <a:gd name="adj" fmla="val 3324"/>
            </a:avLst>
          </a:prstGeom>
          <a:solidFill>
            <a:srgbClr val="FFFFFF"/>
          </a:solidFill>
          <a:ln w="12700">
            <a:solidFill>
              <a:srgbClr val="0F1923"/>
            </a:solidFill>
            <a:prstDash val="solid"/>
          </a:ln>
          <a:effectLst>
            <a:outerShdw sx="100000" sy="100000" kx="0" ky="0" algn="bl" rotWithShape="0" blurRad="127000" dist="50800" dir="5400000">
              <a:srgbClr val="000000">
                <a:alpha val="28000"/>
              </a:srgbClr>
            </a:outerShdw>
          </a:effectLst>
        </p:spPr>
      </p:sp>
      <p:pic>
        <p:nvPicPr>
          <p:cNvPr id="5" name="Image 0" descr="/tmp/claude-0/-home-user-Boulangerie/f122e8ab-b408-5ce6-930c-e0c5bddf9e4c/scratchpad/captures/administrateur/02-menu.png">    </p:cNvPr>
          <p:cNvPicPr>
            <a:picLocks noChangeAspect="1"/>
          </p:cNvPicPr>
          <p:nvPr/>
        </p:nvPicPr>
        <p:blipFill>
          <a:blip r:embed="rId1"/>
          <a:stretch>
            <a:fillRect/>
          </a:stretch>
        </p:blipFill>
        <p:spPr>
          <a:xfrm>
            <a:off x="1300734" y="1463040"/>
            <a:ext cx="1467612" cy="4892040"/>
          </a:xfrm>
          <a:prstGeom prst="rect">
            <a:avLst/>
          </a:prstGeom>
        </p:spPr>
      </p:pic>
      <p:sp>
        <p:nvSpPr>
          <p:cNvPr id="6" name="Shape 3"/>
          <p:cNvSpPr/>
          <p:nvPr/>
        </p:nvSpPr>
        <p:spPr>
          <a:xfrm>
            <a:off x="3977640" y="1600200"/>
            <a:ext cx="201168" cy="201168"/>
          </a:xfrm>
          <a:prstGeom prst="roundRect">
            <a:avLst>
              <a:gd name="adj" fmla="val 22727"/>
            </a:avLst>
          </a:prstGeom>
          <a:solidFill>
            <a:srgbClr val="DA9F4E"/>
          </a:solidFill>
          <a:ln/>
        </p:spPr>
      </p:sp>
      <p:sp>
        <p:nvSpPr>
          <p:cNvPr id="7" name="Text 4"/>
          <p:cNvSpPr/>
          <p:nvPr/>
        </p:nvSpPr>
        <p:spPr>
          <a:xfrm>
            <a:off x="4315968" y="1508760"/>
            <a:ext cx="7223760" cy="365760"/>
          </a:xfrm>
          <a:prstGeom prst="rect">
            <a:avLst/>
          </a:prstGeom>
          <a:noFill/>
          <a:ln/>
        </p:spPr>
        <p:txBody>
          <a:bodyPr wrap="square" lIns="0" tIns="0" rIns="0" bIns="0" rtlCol="0" anchor="ctr"/>
          <a:lstStyle/>
          <a:p>
            <a:pPr indent="0" marL="0">
              <a:buNone/>
            </a:pPr>
            <a:r>
              <a:rPr lang="en-US" sz="1500" b="1" dirty="0">
                <a:solidFill>
                  <a:srgbClr val="0F1923"/>
                </a:solidFill>
                <a:latin typeface="Calibri" pitchFamily="34" charset="0"/>
                <a:ea typeface="Calibri" pitchFamily="34" charset="-122"/>
                <a:cs typeface="Calibri" pitchFamily="34" charset="-120"/>
              </a:rPr>
              <a:t>Tout est en clair, rien n'est grisé</a:t>
            </a:r>
            <a:endParaRPr lang="en-US" sz="1500" dirty="0"/>
          </a:p>
        </p:txBody>
      </p:sp>
      <p:sp>
        <p:nvSpPr>
          <p:cNvPr id="8" name="Text 5"/>
          <p:cNvSpPr/>
          <p:nvPr/>
        </p:nvSpPr>
        <p:spPr>
          <a:xfrm>
            <a:off x="4315968" y="1965960"/>
            <a:ext cx="7223760" cy="1371600"/>
          </a:xfrm>
          <a:prstGeom prst="rect">
            <a:avLst/>
          </a:prstGeom>
          <a:noFill/>
          <a:ln/>
        </p:spPr>
        <p:txBody>
          <a:bodyPr wrap="square" lIns="0" tIns="0" rIns="0" bIns="0" rtlCol="0" anchor="ctr"/>
          <a:lstStyle/>
          <a:p>
            <a:pPr indent="0" marL="0">
              <a:lnSpc>
                <a:spcPct val="125000"/>
              </a:lnSpc>
              <a:buNone/>
            </a:pPr>
            <a:r>
              <a:rPr lang="en-US" sz="1250" dirty="0">
                <a:solidFill>
                  <a:srgbClr val="3A4553"/>
                </a:solidFill>
                <a:latin typeface="Calibri" pitchFamily="34" charset="0"/>
                <a:ea typeface="Calibri" pitchFamily="34" charset="-122"/>
                <a:cs typeface="Calibri" pitchFamily="34" charset="-120"/>
              </a:rPr>
              <a:t>Contrairement aux autres rôles, aucun module n'apparaît grisé dans votre menu — Administrateur a au minimum la lecture sur tout, et l'écriture directe sur Paramètres, Équipe et Travailleurs. Approbations, État système et Journal d'audit vous sont réservés, à vous et au DG.</a:t>
            </a:r>
            <a:endParaRPr lang="en-US" sz="1250" dirty="0"/>
          </a:p>
        </p:txBody>
      </p:sp>
      <p:sp>
        <p:nvSpPr>
          <p:cNvPr id="9" name="Text 6"/>
          <p:cNvSpPr/>
          <p:nvPr/>
        </p:nvSpPr>
        <p:spPr>
          <a:xfrm>
            <a:off x="3977640" y="3749040"/>
            <a:ext cx="7589520" cy="914400"/>
          </a:xfrm>
          <a:prstGeom prst="rect">
            <a:avLst/>
          </a:prstGeom>
          <a:noFill/>
          <a:ln/>
        </p:spPr>
        <p:txBody>
          <a:bodyPr wrap="square" lIns="0" tIns="0" rIns="0" bIns="0" rtlCol="0" anchor="ctr"/>
          <a:lstStyle/>
          <a:p>
            <a:pPr indent="0" marL="0">
              <a:lnSpc>
                <a:spcPct val="125000"/>
              </a:lnSpc>
              <a:buNone/>
            </a:pPr>
            <a:r>
              <a:rPr lang="en-US" sz="1200" i="1" dirty="0">
                <a:solidFill>
                  <a:srgbClr val="6B7684"/>
                </a:solidFill>
                <a:latin typeface="Calibri" pitchFamily="34" charset="0"/>
                <a:ea typeface="Calibri" pitchFamily="34" charset="-122"/>
                <a:cs typeface="Calibri" pitchFamily="34" charset="-120"/>
              </a:rPr>
              <a:t>Astuce : votre nom et votre rôle sont toujours visibles en bas de la barre latérale, avec le bouton « Se déconnecter ». Le badge « Principal » (couronne) n'apparaît, lui, que dans la liste Équipe.</a:t>
            </a:r>
            <a:endParaRPr lang="en-US" sz="1200" dirty="0"/>
          </a:p>
        </p:txBody>
      </p:sp>
      <p:sp>
        <p:nvSpPr>
          <p:cNvPr id="10" name="Text 7"/>
          <p:cNvSpPr/>
          <p:nvPr/>
        </p:nvSpPr>
        <p:spPr>
          <a:xfrm>
            <a:off x="502920" y="6400800"/>
            <a:ext cx="11185855" cy="292608"/>
          </a:xfrm>
          <a:prstGeom prst="rect">
            <a:avLst/>
          </a:prstGeom>
          <a:noFill/>
          <a:ln/>
        </p:spPr>
        <p:txBody>
          <a:bodyPr wrap="square" lIns="0" tIns="0" rIns="0" bIns="0" rtlCol="0" anchor="ctr"/>
          <a:lstStyle/>
          <a:p>
            <a:pPr algn="l" indent="0" marL="0">
              <a:buNone/>
            </a:pPr>
            <a:r>
              <a:rPr lang="en-US" sz="950" dirty="0">
                <a:solidFill>
                  <a:srgbClr val="A9A196"/>
                </a:solidFill>
                <a:latin typeface="Calibri" pitchFamily="34" charset="0"/>
                <a:ea typeface="Calibri" pitchFamily="34" charset="-122"/>
                <a:cs typeface="Calibri" pitchFamily="34" charset="-120"/>
              </a:rPr>
              <a:t>6 / 18</a:t>
            </a:r>
            <a:endParaRPr lang="en-US" sz="950" dirty="0"/>
          </a:p>
        </p:txBody>
      </p:sp>
      <p:sp>
        <p:nvSpPr>
          <p:cNvPr id="11" name="Text 8"/>
          <p:cNvSpPr/>
          <p:nvPr/>
        </p:nvSpPr>
        <p:spPr>
          <a:xfrm>
            <a:off x="502920" y="6400800"/>
            <a:ext cx="11185855" cy="292608"/>
          </a:xfrm>
          <a:prstGeom prst="rect">
            <a:avLst/>
          </a:prstGeom>
          <a:noFill/>
          <a:ln/>
        </p:spPr>
        <p:txBody>
          <a:bodyPr wrap="square" lIns="0" tIns="0" rIns="0" bIns="0" rtlCol="0" anchor="ctr"/>
          <a:lstStyle/>
          <a:p>
            <a:pPr algn="r" indent="0" marL="0">
              <a:buNone/>
            </a:pPr>
            <a:r>
              <a:rPr lang="en-US" sz="950" dirty="0">
                <a:solidFill>
                  <a:srgbClr val="A9A196"/>
                </a:solidFill>
                <a:latin typeface="Calibri" pitchFamily="34" charset="0"/>
                <a:ea typeface="Calibri" pitchFamily="34" charset="-122"/>
                <a:cs typeface="Calibri" pitchFamily="34" charset="-120"/>
              </a:rPr>
              <a:t>Boulangerie Lomoto — Guide Administrateur</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lIns="0" tIns="0" rIns="0" bIns="0" rtlCol="0" anchor="ctr"/>
          <a:lstStyle/>
          <a:p>
            <a:pPr indent="0" marL="0">
              <a:buNone/>
            </a:pPr>
            <a:r>
              <a:rPr lang="en-US" sz="1200" b="1" spc="200" kern="0" dirty="0">
                <a:solidFill>
                  <a:srgbClr val="AD5416"/>
                </a:solidFill>
                <a:latin typeface="Calibri" pitchFamily="34" charset="0"/>
                <a:ea typeface="Calibri" pitchFamily="34" charset="-122"/>
                <a:cs typeface="Calibri" pitchFamily="34" charset="-120"/>
              </a:rPr>
              <a:t>MODULE ÉQUIPE — ÉCRITURE</a:t>
            </a:r>
            <a:endParaRPr lang="en-US" sz="1200" dirty="0"/>
          </a:p>
        </p:txBody>
      </p:sp>
      <p:sp>
        <p:nvSpPr>
          <p:cNvPr id="3" name="Text 1"/>
          <p:cNvSpPr/>
          <p:nvPr/>
        </p:nvSpPr>
        <p:spPr>
          <a:xfrm>
            <a:off x="502920" y="658368"/>
            <a:ext cx="7772400" cy="685800"/>
          </a:xfrm>
          <a:prstGeom prst="rect">
            <a:avLst/>
          </a:prstGeom>
          <a:noFill/>
          <a:ln/>
        </p:spPr>
        <p:txBody>
          <a:bodyPr wrap="square" lIns="0" tIns="0" rIns="0" bIns="0" rtlCol="0" anchor="ctr"/>
          <a:lstStyle/>
          <a:p>
            <a:pPr indent="0" marL="0">
              <a:buNone/>
            </a:pPr>
            <a:r>
              <a:rPr lang="en-US" sz="3000" b="1" dirty="0">
                <a:solidFill>
                  <a:srgbClr val="0F1923"/>
                </a:solidFill>
                <a:latin typeface="Cambria" pitchFamily="34" charset="0"/>
                <a:ea typeface="Cambria" pitchFamily="34" charset="-122"/>
                <a:cs typeface="Cambria" pitchFamily="34" charset="-120"/>
              </a:rPr>
              <a:t>Créer un compte</a:t>
            </a:r>
            <a:endParaRPr lang="en-US" sz="3000" dirty="0"/>
          </a:p>
        </p:txBody>
      </p:sp>
      <p:sp>
        <p:nvSpPr>
          <p:cNvPr id="4" name="Shape 2"/>
          <p:cNvSpPr/>
          <p:nvPr/>
        </p:nvSpPr>
        <p:spPr>
          <a:xfrm>
            <a:off x="411480" y="1596092"/>
            <a:ext cx="5577840" cy="4671655"/>
          </a:xfrm>
          <a:prstGeom prst="roundRect">
            <a:avLst>
              <a:gd name="adj" fmla="val 1174"/>
            </a:avLst>
          </a:prstGeom>
          <a:solidFill>
            <a:srgbClr val="FFFFFF"/>
          </a:solidFill>
          <a:ln w="12700">
            <a:solidFill>
              <a:srgbClr val="CBAF91"/>
            </a:solidFill>
            <a:prstDash val="solid"/>
          </a:ln>
          <a:effectLst>
            <a:outerShdw sx="100000" sy="100000" kx="0" ky="0" algn="bl" rotWithShape="0" blurRad="127000" dist="50800" dir="5400000">
              <a:srgbClr val="000000">
                <a:alpha val="28000"/>
              </a:srgbClr>
            </a:outerShdw>
          </a:effectLst>
        </p:spPr>
      </p:sp>
      <p:pic>
        <p:nvPicPr>
          <p:cNvPr id="5" name="Image 0" descr="/tmp/claude-0/-home-user-Boulangerie/f122e8ab-b408-5ce6-930c-e0c5bddf9e4c/scratchpad/captures/administrateur/04-dialog-nouveau-compte.png">    </p:cNvPr>
          <p:cNvPicPr>
            <a:picLocks noChangeAspect="1"/>
          </p:cNvPicPr>
          <p:nvPr/>
        </p:nvPicPr>
        <p:blipFill>
          <a:blip r:embed="rId1"/>
          <a:stretch>
            <a:fillRect/>
          </a:stretch>
        </p:blipFill>
        <p:spPr>
          <a:xfrm>
            <a:off x="502920" y="1687532"/>
            <a:ext cx="5394960" cy="4488775"/>
          </a:xfrm>
          <a:prstGeom prst="rect">
            <a:avLst/>
          </a:prstGeom>
        </p:spPr>
      </p:pic>
      <p:sp>
        <p:nvSpPr>
          <p:cNvPr id="6" name="Text 3"/>
          <p:cNvSpPr/>
          <p:nvPr/>
        </p:nvSpPr>
        <p:spPr>
          <a:xfrm>
            <a:off x="6309360" y="1417320"/>
            <a:ext cx="365760" cy="548640"/>
          </a:xfrm>
          <a:prstGeom prst="rect">
            <a:avLst/>
          </a:prstGeom>
          <a:noFill/>
          <a:ln/>
        </p:spPr>
        <p:txBody>
          <a:bodyPr wrap="square" lIns="0" tIns="0" rIns="0" bIns="0" rtlCol="0" anchor="ctr"/>
          <a:lstStyle/>
          <a:p>
            <a:pPr indent="0" marL="0">
              <a:buNone/>
            </a:pPr>
            <a:r>
              <a:rPr lang="en-US" sz="1300" b="1" dirty="0">
                <a:solidFill>
                  <a:srgbClr val="DA9F4E"/>
                </a:solidFill>
                <a:latin typeface="Calibri" pitchFamily="34" charset="0"/>
                <a:ea typeface="Calibri" pitchFamily="34" charset="-122"/>
                <a:cs typeface="Calibri" pitchFamily="34" charset="-120"/>
              </a:rPr>
              <a:t>1.</a:t>
            </a:r>
            <a:endParaRPr lang="en-US" sz="1300" dirty="0"/>
          </a:p>
        </p:txBody>
      </p:sp>
      <p:sp>
        <p:nvSpPr>
          <p:cNvPr id="7" name="Text 4"/>
          <p:cNvSpPr/>
          <p:nvPr/>
        </p:nvSpPr>
        <p:spPr>
          <a:xfrm>
            <a:off x="6675120" y="1417320"/>
            <a:ext cx="4892040" cy="685800"/>
          </a:xfrm>
          <a:prstGeom prst="rect">
            <a:avLst/>
          </a:prstGeom>
          <a:noFill/>
          <a:ln/>
        </p:spPr>
        <p:txBody>
          <a:bodyPr wrap="square" lIns="0" tIns="0" rIns="0" bIns="0" rtlCol="0" anchor="ctr"/>
          <a:lstStyle/>
          <a:p>
            <a:pPr indent="0" marL="0">
              <a:lnSpc>
                <a:spcPct val="116000"/>
              </a:lnSpc>
              <a:buNone/>
            </a:pPr>
            <a:r>
              <a:rPr lang="en-US" sz="1200" dirty="0">
                <a:solidFill>
                  <a:srgbClr val="2C3644"/>
                </a:solidFill>
                <a:latin typeface="Calibri" pitchFamily="34" charset="0"/>
                <a:ea typeface="Calibri" pitchFamily="34" charset="-122"/>
                <a:cs typeface="Calibri" pitchFamily="34" charset="-120"/>
              </a:rPr>
              <a:t>Cliquez sur « Nouveau compte » et choisissez la fiche Travailleur — son email professionnel actif devient l'identifiant de connexion.</a:t>
            </a:r>
            <a:endParaRPr lang="en-US" sz="1200" dirty="0"/>
          </a:p>
        </p:txBody>
      </p:sp>
      <p:sp>
        <p:nvSpPr>
          <p:cNvPr id="8" name="Text 5"/>
          <p:cNvSpPr/>
          <p:nvPr/>
        </p:nvSpPr>
        <p:spPr>
          <a:xfrm>
            <a:off x="6309360" y="2286000"/>
            <a:ext cx="365760" cy="548640"/>
          </a:xfrm>
          <a:prstGeom prst="rect">
            <a:avLst/>
          </a:prstGeom>
          <a:noFill/>
          <a:ln/>
        </p:spPr>
        <p:txBody>
          <a:bodyPr wrap="square" lIns="0" tIns="0" rIns="0" bIns="0" rtlCol="0" anchor="ctr"/>
          <a:lstStyle/>
          <a:p>
            <a:pPr indent="0" marL="0">
              <a:buNone/>
            </a:pPr>
            <a:r>
              <a:rPr lang="en-US" sz="1300" b="1" dirty="0">
                <a:solidFill>
                  <a:srgbClr val="DA9F4E"/>
                </a:solidFill>
                <a:latin typeface="Calibri" pitchFamily="34" charset="0"/>
                <a:ea typeface="Calibri" pitchFamily="34" charset="-122"/>
                <a:cs typeface="Calibri" pitchFamily="34" charset="-120"/>
              </a:rPr>
              <a:t>2.</a:t>
            </a:r>
            <a:endParaRPr lang="en-US" sz="1300" dirty="0"/>
          </a:p>
        </p:txBody>
      </p:sp>
      <p:sp>
        <p:nvSpPr>
          <p:cNvPr id="9" name="Text 6"/>
          <p:cNvSpPr/>
          <p:nvPr/>
        </p:nvSpPr>
        <p:spPr>
          <a:xfrm>
            <a:off x="6675120" y="2286000"/>
            <a:ext cx="4892040" cy="685800"/>
          </a:xfrm>
          <a:prstGeom prst="rect">
            <a:avLst/>
          </a:prstGeom>
          <a:noFill/>
          <a:ln/>
        </p:spPr>
        <p:txBody>
          <a:bodyPr wrap="square" lIns="0" tIns="0" rIns="0" bIns="0" rtlCol="0" anchor="ctr"/>
          <a:lstStyle/>
          <a:p>
            <a:pPr indent="0" marL="0">
              <a:lnSpc>
                <a:spcPct val="116000"/>
              </a:lnSpc>
              <a:buNone/>
            </a:pPr>
            <a:r>
              <a:rPr lang="en-US" sz="1200" dirty="0">
                <a:solidFill>
                  <a:srgbClr val="2C3644"/>
                </a:solidFill>
                <a:latin typeface="Calibri" pitchFamily="34" charset="0"/>
                <a:ea typeface="Calibri" pitchFamily="34" charset="-122"/>
                <a:cs typeface="Calibri" pitchFamily="34" charset="-120"/>
              </a:rPr>
              <a:t>Choisissez l'équipe (le rôle) et fixez un mot de passe initial que l'employé pourra changer ensuite.</a:t>
            </a:r>
            <a:endParaRPr lang="en-US" sz="1200" dirty="0"/>
          </a:p>
        </p:txBody>
      </p:sp>
      <p:sp>
        <p:nvSpPr>
          <p:cNvPr id="10" name="Text 7"/>
          <p:cNvSpPr/>
          <p:nvPr/>
        </p:nvSpPr>
        <p:spPr>
          <a:xfrm>
            <a:off x="6309360" y="3154680"/>
            <a:ext cx="365760" cy="548640"/>
          </a:xfrm>
          <a:prstGeom prst="rect">
            <a:avLst/>
          </a:prstGeom>
          <a:noFill/>
          <a:ln/>
        </p:spPr>
        <p:txBody>
          <a:bodyPr wrap="square" lIns="0" tIns="0" rIns="0" bIns="0" rtlCol="0" anchor="ctr"/>
          <a:lstStyle/>
          <a:p>
            <a:pPr indent="0" marL="0">
              <a:buNone/>
            </a:pPr>
            <a:r>
              <a:rPr lang="en-US" sz="1300" b="1" dirty="0">
                <a:solidFill>
                  <a:srgbClr val="DA9F4E"/>
                </a:solidFill>
                <a:latin typeface="Calibri" pitchFamily="34" charset="0"/>
                <a:ea typeface="Calibri" pitchFamily="34" charset="-122"/>
                <a:cs typeface="Calibri" pitchFamily="34" charset="-120"/>
              </a:rPr>
              <a:t>3.</a:t>
            </a:r>
            <a:endParaRPr lang="en-US" sz="1300" dirty="0"/>
          </a:p>
        </p:txBody>
      </p:sp>
      <p:sp>
        <p:nvSpPr>
          <p:cNvPr id="11" name="Text 8"/>
          <p:cNvSpPr/>
          <p:nvPr/>
        </p:nvSpPr>
        <p:spPr>
          <a:xfrm>
            <a:off x="6675120" y="3154680"/>
            <a:ext cx="4892040" cy="685800"/>
          </a:xfrm>
          <a:prstGeom prst="rect">
            <a:avLst/>
          </a:prstGeom>
          <a:noFill/>
          <a:ln/>
        </p:spPr>
        <p:txBody>
          <a:bodyPr wrap="square" lIns="0" tIns="0" rIns="0" bIns="0" rtlCol="0" anchor="ctr"/>
          <a:lstStyle/>
          <a:p>
            <a:pPr indent="0" marL="0">
              <a:lnSpc>
                <a:spcPct val="116000"/>
              </a:lnSpc>
              <a:buNone/>
            </a:pPr>
            <a:r>
              <a:rPr lang="en-US" sz="1200" dirty="0">
                <a:solidFill>
                  <a:srgbClr val="2C3644"/>
                </a:solidFill>
                <a:latin typeface="Calibri" pitchFamily="34" charset="0"/>
                <a:ea typeface="Calibri" pitchFamily="34" charset="-122"/>
                <a:cs typeface="Calibri" pitchFamily="34" charset="-120"/>
              </a:rPr>
              <a:t>Enregistrez. Si l'équipe choisie est « Administrateur », c'est une tâche critique.</a:t>
            </a:r>
            <a:endParaRPr lang="en-US" sz="1200" dirty="0"/>
          </a:p>
        </p:txBody>
      </p:sp>
      <p:sp>
        <p:nvSpPr>
          <p:cNvPr id="12" name="Shape 9"/>
          <p:cNvSpPr/>
          <p:nvPr/>
        </p:nvSpPr>
        <p:spPr>
          <a:xfrm>
            <a:off x="6309360" y="4069080"/>
            <a:ext cx="5257800" cy="1051560"/>
          </a:xfrm>
          <a:prstGeom prst="roundRect">
            <a:avLst>
              <a:gd name="adj" fmla="val 6087"/>
            </a:avLst>
          </a:prstGeom>
          <a:solidFill>
            <a:srgbClr val="F3E3C3"/>
          </a:solidFill>
          <a:ln/>
        </p:spPr>
      </p:sp>
      <p:sp>
        <p:nvSpPr>
          <p:cNvPr id="13" name="Text 10"/>
          <p:cNvSpPr/>
          <p:nvPr/>
        </p:nvSpPr>
        <p:spPr>
          <a:xfrm>
            <a:off x="6537960" y="4160520"/>
            <a:ext cx="4800600" cy="868680"/>
          </a:xfrm>
          <a:prstGeom prst="rect">
            <a:avLst/>
          </a:prstGeom>
          <a:noFill/>
          <a:ln/>
        </p:spPr>
        <p:txBody>
          <a:bodyPr wrap="square" lIns="0" tIns="0" rIns="0" bIns="0" rtlCol="0" anchor="t"/>
          <a:lstStyle/>
          <a:p>
            <a:pPr indent="0" marL="0">
              <a:lnSpc>
                <a:spcPct val="118000"/>
              </a:lnSpc>
              <a:buNone/>
            </a:pPr>
            <a:r>
              <a:rPr lang="en-US" sz="1100" b="1" dirty="0">
                <a:solidFill>
                  <a:srgbClr val="AD5416"/>
                </a:solidFill>
                <a:latin typeface="Calibri" pitchFamily="34" charset="0"/>
                <a:ea typeface="Calibri" pitchFamily="34" charset="-122"/>
                <a:cs typeface="Calibri" pitchFamily="34" charset="-120"/>
              </a:rPr>
              <a:t>En tant qu'Administrateur secondaire — </a:t>
            </a:r>
            <a:pPr indent="0" marL="0">
              <a:lnSpc>
                <a:spcPct val="118000"/>
              </a:lnSpc>
              <a:buNone/>
            </a:pPr>
            <a:r>
              <a:rPr lang="en-US" sz="1100" dirty="0">
                <a:solidFill>
                  <a:srgbClr val="5B4322"/>
                </a:solidFill>
                <a:latin typeface="Calibri" pitchFamily="34" charset="0"/>
                <a:ea typeface="Calibri" pitchFamily="34" charset="-122"/>
                <a:cs typeface="Calibri" pitchFamily="34" charset="-120"/>
              </a:rPr>
              <a:t>cette création part en demande d'approbation : le compte n'existe pas encore, l'Administrateur principal est notifié en temps réel.
</a:t>
            </a:r>
            <a:pPr indent="0" marL="0">
              <a:lnSpc>
                <a:spcPct val="118000"/>
              </a:lnSpc>
              <a:buNone/>
            </a:pPr>
            <a:r>
              <a:rPr lang="en-US" sz="1100" b="1" dirty="0">
                <a:solidFill>
                  <a:srgbClr val="5B4322"/>
                </a:solidFill>
                <a:latin typeface="Calibri" pitchFamily="34" charset="0"/>
                <a:ea typeface="Calibri" pitchFamily="34" charset="-122"/>
                <a:cs typeface="Calibri" pitchFamily="34" charset="-120"/>
              </a:rPr>
              <a:t>En tant que Principal, le compte est créé immédiatement, sans étape intermédiaire.</a:t>
            </a:r>
            <a:endParaRPr lang="en-US" sz="1100" dirty="0"/>
          </a:p>
        </p:txBody>
      </p:sp>
      <p:sp>
        <p:nvSpPr>
          <p:cNvPr id="14" name="Text 11"/>
          <p:cNvSpPr/>
          <p:nvPr/>
        </p:nvSpPr>
        <p:spPr>
          <a:xfrm>
            <a:off x="502920" y="6400800"/>
            <a:ext cx="11185855" cy="292608"/>
          </a:xfrm>
          <a:prstGeom prst="rect">
            <a:avLst/>
          </a:prstGeom>
          <a:noFill/>
          <a:ln/>
        </p:spPr>
        <p:txBody>
          <a:bodyPr wrap="square" lIns="0" tIns="0" rIns="0" bIns="0" rtlCol="0" anchor="ctr"/>
          <a:lstStyle/>
          <a:p>
            <a:pPr algn="l" indent="0" marL="0">
              <a:buNone/>
            </a:pPr>
            <a:r>
              <a:rPr lang="en-US" sz="950" dirty="0">
                <a:solidFill>
                  <a:srgbClr val="A9A196"/>
                </a:solidFill>
                <a:latin typeface="Calibri" pitchFamily="34" charset="0"/>
                <a:ea typeface="Calibri" pitchFamily="34" charset="-122"/>
                <a:cs typeface="Calibri" pitchFamily="34" charset="-120"/>
              </a:rPr>
              <a:t>7 / 18</a:t>
            </a:r>
            <a:endParaRPr lang="en-US" sz="950" dirty="0"/>
          </a:p>
        </p:txBody>
      </p:sp>
      <p:sp>
        <p:nvSpPr>
          <p:cNvPr id="15" name="Text 12"/>
          <p:cNvSpPr/>
          <p:nvPr/>
        </p:nvSpPr>
        <p:spPr>
          <a:xfrm>
            <a:off x="502920" y="6400800"/>
            <a:ext cx="11185855" cy="292608"/>
          </a:xfrm>
          <a:prstGeom prst="rect">
            <a:avLst/>
          </a:prstGeom>
          <a:noFill/>
          <a:ln/>
        </p:spPr>
        <p:txBody>
          <a:bodyPr wrap="square" lIns="0" tIns="0" rIns="0" bIns="0" rtlCol="0" anchor="ctr"/>
          <a:lstStyle/>
          <a:p>
            <a:pPr algn="r" indent="0" marL="0">
              <a:buNone/>
            </a:pPr>
            <a:r>
              <a:rPr lang="en-US" sz="950" dirty="0">
                <a:solidFill>
                  <a:srgbClr val="A9A196"/>
                </a:solidFill>
                <a:latin typeface="Calibri" pitchFamily="34" charset="0"/>
                <a:ea typeface="Calibri" pitchFamily="34" charset="-122"/>
                <a:cs typeface="Calibri" pitchFamily="34" charset="-120"/>
              </a:rPr>
              <a:t>Boulangerie Lomoto — Guide Administrateur</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lIns="0" tIns="0" rIns="0" bIns="0" rtlCol="0" anchor="ctr"/>
          <a:lstStyle/>
          <a:p>
            <a:pPr indent="0" marL="0">
              <a:buNone/>
            </a:pPr>
            <a:r>
              <a:rPr lang="en-US" sz="1200" b="1" spc="200" kern="0" dirty="0">
                <a:solidFill>
                  <a:srgbClr val="AD5416"/>
                </a:solidFill>
                <a:latin typeface="Calibri" pitchFamily="34" charset="0"/>
                <a:ea typeface="Calibri" pitchFamily="34" charset="-122"/>
                <a:cs typeface="Calibri" pitchFamily="34" charset="-120"/>
              </a:rPr>
              <a:t>MODULE ÉQUIPE — ÉCRITURE</a:t>
            </a:r>
            <a:endParaRPr lang="en-US" sz="1200" dirty="0"/>
          </a:p>
        </p:txBody>
      </p:sp>
      <p:sp>
        <p:nvSpPr>
          <p:cNvPr id="3" name="Text 1"/>
          <p:cNvSpPr/>
          <p:nvPr/>
        </p:nvSpPr>
        <p:spPr>
          <a:xfrm>
            <a:off x="502920" y="658368"/>
            <a:ext cx="7772400" cy="685800"/>
          </a:xfrm>
          <a:prstGeom prst="rect">
            <a:avLst/>
          </a:prstGeom>
          <a:noFill/>
          <a:ln/>
        </p:spPr>
        <p:txBody>
          <a:bodyPr wrap="square" lIns="0" tIns="0" rIns="0" bIns="0" rtlCol="0" anchor="ctr"/>
          <a:lstStyle/>
          <a:p>
            <a:pPr indent="0" marL="0">
              <a:buNone/>
            </a:pPr>
            <a:r>
              <a:rPr lang="en-US" sz="3000" b="1" dirty="0">
                <a:solidFill>
                  <a:srgbClr val="0F1923"/>
                </a:solidFill>
                <a:latin typeface="Cambria" pitchFamily="34" charset="0"/>
                <a:ea typeface="Cambria" pitchFamily="34" charset="-122"/>
                <a:cs typeface="Cambria" pitchFamily="34" charset="-120"/>
              </a:rPr>
              <a:t>Activer ou désactiver un compte</a:t>
            </a:r>
            <a:endParaRPr lang="en-US" sz="3000" dirty="0"/>
          </a:p>
        </p:txBody>
      </p:sp>
      <p:sp>
        <p:nvSpPr>
          <p:cNvPr id="4" name="Shape 2"/>
          <p:cNvSpPr/>
          <p:nvPr/>
        </p:nvSpPr>
        <p:spPr>
          <a:xfrm>
            <a:off x="411480" y="2965906"/>
            <a:ext cx="5577840" cy="1932027"/>
          </a:xfrm>
          <a:prstGeom prst="roundRect">
            <a:avLst>
              <a:gd name="adj" fmla="val 2840"/>
            </a:avLst>
          </a:prstGeom>
          <a:solidFill>
            <a:srgbClr val="FFFFFF"/>
          </a:solidFill>
          <a:ln w="12700">
            <a:solidFill>
              <a:srgbClr val="CBAF91"/>
            </a:solidFill>
            <a:prstDash val="solid"/>
          </a:ln>
          <a:effectLst>
            <a:outerShdw sx="100000" sy="100000" kx="0" ky="0" algn="bl" rotWithShape="0" blurRad="127000" dist="50800" dir="5400000">
              <a:srgbClr val="000000">
                <a:alpha val="28000"/>
              </a:srgbClr>
            </a:outerShdw>
          </a:effectLst>
        </p:spPr>
      </p:sp>
      <p:pic>
        <p:nvPicPr>
          <p:cNvPr id="5" name="Image 0" descr="/tmp/claude-0/-home-user-Boulangerie/f122e8ab-b408-5ce6-930c-e0c5bddf9e4c/scratchpad/captures/administrateur/08-dialog-confirmation-desactivation.png">    </p:cNvPr>
          <p:cNvPicPr>
            <a:picLocks noChangeAspect="1"/>
          </p:cNvPicPr>
          <p:nvPr/>
        </p:nvPicPr>
        <p:blipFill>
          <a:blip r:embed="rId1"/>
          <a:stretch>
            <a:fillRect/>
          </a:stretch>
        </p:blipFill>
        <p:spPr>
          <a:xfrm>
            <a:off x="502920" y="3057346"/>
            <a:ext cx="5394960" cy="1749147"/>
          </a:xfrm>
          <a:prstGeom prst="rect">
            <a:avLst/>
          </a:prstGeom>
        </p:spPr>
      </p:pic>
      <p:sp>
        <p:nvSpPr>
          <p:cNvPr id="6" name="Text 3"/>
          <p:cNvSpPr/>
          <p:nvPr/>
        </p:nvSpPr>
        <p:spPr>
          <a:xfrm>
            <a:off x="6309360" y="1417320"/>
            <a:ext cx="365760" cy="548640"/>
          </a:xfrm>
          <a:prstGeom prst="rect">
            <a:avLst/>
          </a:prstGeom>
          <a:noFill/>
          <a:ln/>
        </p:spPr>
        <p:txBody>
          <a:bodyPr wrap="square" lIns="0" tIns="0" rIns="0" bIns="0" rtlCol="0" anchor="ctr"/>
          <a:lstStyle/>
          <a:p>
            <a:pPr indent="0" marL="0">
              <a:buNone/>
            </a:pPr>
            <a:r>
              <a:rPr lang="en-US" sz="1300" b="1" dirty="0">
                <a:solidFill>
                  <a:srgbClr val="DA9F4E"/>
                </a:solidFill>
                <a:latin typeface="Calibri" pitchFamily="34" charset="0"/>
                <a:ea typeface="Calibri" pitchFamily="34" charset="-122"/>
                <a:cs typeface="Calibri" pitchFamily="34" charset="-120"/>
              </a:rPr>
              <a:t>1.</a:t>
            </a:r>
            <a:endParaRPr lang="en-US" sz="1300" dirty="0"/>
          </a:p>
        </p:txBody>
      </p:sp>
      <p:sp>
        <p:nvSpPr>
          <p:cNvPr id="7" name="Text 4"/>
          <p:cNvSpPr/>
          <p:nvPr/>
        </p:nvSpPr>
        <p:spPr>
          <a:xfrm>
            <a:off x="6675120" y="1417320"/>
            <a:ext cx="4892040" cy="685800"/>
          </a:xfrm>
          <a:prstGeom prst="rect">
            <a:avLst/>
          </a:prstGeom>
          <a:noFill/>
          <a:ln/>
        </p:spPr>
        <p:txBody>
          <a:bodyPr wrap="square" lIns="0" tIns="0" rIns="0" bIns="0" rtlCol="0" anchor="ctr"/>
          <a:lstStyle/>
          <a:p>
            <a:pPr indent="0" marL="0">
              <a:lnSpc>
                <a:spcPct val="116000"/>
              </a:lnSpc>
              <a:buNone/>
            </a:pPr>
            <a:r>
              <a:rPr lang="en-US" sz="1200" dirty="0">
                <a:solidFill>
                  <a:srgbClr val="2C3644"/>
                </a:solidFill>
                <a:latin typeface="Calibri" pitchFamily="34" charset="0"/>
                <a:ea typeface="Calibri" pitchFamily="34" charset="-122"/>
                <a:cs typeface="Calibri" pitchFamily="34" charset="-120"/>
              </a:rPr>
              <a:t>Sur la fiche d'un compte, cliquez sur l'icône d'alimentation dans les actions.</a:t>
            </a:r>
            <a:endParaRPr lang="en-US" sz="1200" dirty="0"/>
          </a:p>
        </p:txBody>
      </p:sp>
      <p:sp>
        <p:nvSpPr>
          <p:cNvPr id="8" name="Text 5"/>
          <p:cNvSpPr/>
          <p:nvPr/>
        </p:nvSpPr>
        <p:spPr>
          <a:xfrm>
            <a:off x="6309360" y="2286000"/>
            <a:ext cx="365760" cy="548640"/>
          </a:xfrm>
          <a:prstGeom prst="rect">
            <a:avLst/>
          </a:prstGeom>
          <a:noFill/>
          <a:ln/>
        </p:spPr>
        <p:txBody>
          <a:bodyPr wrap="square" lIns="0" tIns="0" rIns="0" bIns="0" rtlCol="0" anchor="ctr"/>
          <a:lstStyle/>
          <a:p>
            <a:pPr indent="0" marL="0">
              <a:buNone/>
            </a:pPr>
            <a:r>
              <a:rPr lang="en-US" sz="1300" b="1" dirty="0">
                <a:solidFill>
                  <a:srgbClr val="DA9F4E"/>
                </a:solidFill>
                <a:latin typeface="Calibri" pitchFamily="34" charset="0"/>
                <a:ea typeface="Calibri" pitchFamily="34" charset="-122"/>
                <a:cs typeface="Calibri" pitchFamily="34" charset="-120"/>
              </a:rPr>
              <a:t>2.</a:t>
            </a:r>
            <a:endParaRPr lang="en-US" sz="1300" dirty="0"/>
          </a:p>
        </p:txBody>
      </p:sp>
      <p:sp>
        <p:nvSpPr>
          <p:cNvPr id="9" name="Text 6"/>
          <p:cNvSpPr/>
          <p:nvPr/>
        </p:nvSpPr>
        <p:spPr>
          <a:xfrm>
            <a:off x="6675120" y="2286000"/>
            <a:ext cx="4892040" cy="685800"/>
          </a:xfrm>
          <a:prstGeom prst="rect">
            <a:avLst/>
          </a:prstGeom>
          <a:noFill/>
          <a:ln/>
        </p:spPr>
        <p:txBody>
          <a:bodyPr wrap="square" lIns="0" tIns="0" rIns="0" bIns="0" rtlCol="0" anchor="ctr"/>
          <a:lstStyle/>
          <a:p>
            <a:pPr indent="0" marL="0">
              <a:lnSpc>
                <a:spcPct val="116000"/>
              </a:lnSpc>
              <a:buNone/>
            </a:pPr>
            <a:r>
              <a:rPr lang="en-US" sz="1200" dirty="0">
                <a:solidFill>
                  <a:srgbClr val="2C3644"/>
                </a:solidFill>
                <a:latin typeface="Calibri" pitchFamily="34" charset="0"/>
                <a:ea typeface="Calibri" pitchFamily="34" charset="-122"/>
                <a:cs typeface="Calibri" pitchFamily="34" charset="-120"/>
              </a:rPr>
              <a:t>Confirmez — un compte désactivé ne peut plus se connecter, mais tout son historique reste intact.</a:t>
            </a:r>
            <a:endParaRPr lang="en-US" sz="1200" dirty="0"/>
          </a:p>
        </p:txBody>
      </p:sp>
      <p:sp>
        <p:nvSpPr>
          <p:cNvPr id="10" name="Text 7"/>
          <p:cNvSpPr/>
          <p:nvPr/>
        </p:nvSpPr>
        <p:spPr>
          <a:xfrm>
            <a:off x="6309360" y="3154680"/>
            <a:ext cx="365760" cy="548640"/>
          </a:xfrm>
          <a:prstGeom prst="rect">
            <a:avLst/>
          </a:prstGeom>
          <a:noFill/>
          <a:ln/>
        </p:spPr>
        <p:txBody>
          <a:bodyPr wrap="square" lIns="0" tIns="0" rIns="0" bIns="0" rtlCol="0" anchor="ctr"/>
          <a:lstStyle/>
          <a:p>
            <a:pPr indent="0" marL="0">
              <a:buNone/>
            </a:pPr>
            <a:r>
              <a:rPr lang="en-US" sz="1300" b="1" dirty="0">
                <a:solidFill>
                  <a:srgbClr val="DA9F4E"/>
                </a:solidFill>
                <a:latin typeface="Calibri" pitchFamily="34" charset="0"/>
                <a:ea typeface="Calibri" pitchFamily="34" charset="-122"/>
                <a:cs typeface="Calibri" pitchFamily="34" charset="-120"/>
              </a:rPr>
              <a:t>3.</a:t>
            </a:r>
            <a:endParaRPr lang="en-US" sz="1300" dirty="0"/>
          </a:p>
        </p:txBody>
      </p:sp>
      <p:sp>
        <p:nvSpPr>
          <p:cNvPr id="11" name="Text 8"/>
          <p:cNvSpPr/>
          <p:nvPr/>
        </p:nvSpPr>
        <p:spPr>
          <a:xfrm>
            <a:off x="6675120" y="3154680"/>
            <a:ext cx="4892040" cy="685800"/>
          </a:xfrm>
          <a:prstGeom prst="rect">
            <a:avLst/>
          </a:prstGeom>
          <a:noFill/>
          <a:ln/>
        </p:spPr>
        <p:txBody>
          <a:bodyPr wrap="square" lIns="0" tIns="0" rIns="0" bIns="0" rtlCol="0" anchor="ctr"/>
          <a:lstStyle/>
          <a:p>
            <a:pPr indent="0" marL="0">
              <a:lnSpc>
                <a:spcPct val="116000"/>
              </a:lnSpc>
              <a:buNone/>
            </a:pPr>
            <a:r>
              <a:rPr lang="en-US" sz="1200" dirty="0">
                <a:solidFill>
                  <a:srgbClr val="2C3644"/>
                </a:solidFill>
                <a:latin typeface="Calibri" pitchFamily="34" charset="0"/>
                <a:ea typeface="Calibri" pitchFamily="34" charset="-122"/>
                <a:cs typeface="Calibri" pitchFamily="34" charset="-120"/>
              </a:rPr>
              <a:t>Le même bouton réactive le compte à tout moment.</a:t>
            </a:r>
            <a:endParaRPr lang="en-US" sz="1200" dirty="0"/>
          </a:p>
        </p:txBody>
      </p:sp>
      <p:sp>
        <p:nvSpPr>
          <p:cNvPr id="12" name="Shape 9"/>
          <p:cNvSpPr/>
          <p:nvPr/>
        </p:nvSpPr>
        <p:spPr>
          <a:xfrm>
            <a:off x="6309360" y="4069080"/>
            <a:ext cx="5257800" cy="868680"/>
          </a:xfrm>
          <a:prstGeom prst="roundRect">
            <a:avLst>
              <a:gd name="adj" fmla="val 7368"/>
            </a:avLst>
          </a:prstGeom>
          <a:solidFill>
            <a:srgbClr val="F3E3C3"/>
          </a:solidFill>
          <a:ln/>
        </p:spPr>
      </p:sp>
      <p:sp>
        <p:nvSpPr>
          <p:cNvPr id="13" name="Text 10"/>
          <p:cNvSpPr/>
          <p:nvPr/>
        </p:nvSpPr>
        <p:spPr>
          <a:xfrm>
            <a:off x="6537960" y="4160520"/>
            <a:ext cx="4800600" cy="685800"/>
          </a:xfrm>
          <a:prstGeom prst="rect">
            <a:avLst/>
          </a:prstGeom>
          <a:noFill/>
          <a:ln/>
        </p:spPr>
        <p:txBody>
          <a:bodyPr wrap="square" lIns="0" tIns="0" rIns="0" bIns="0" rtlCol="0" anchor="t"/>
          <a:lstStyle/>
          <a:p>
            <a:pPr indent="0" marL="0">
              <a:lnSpc>
                <a:spcPct val="118000"/>
              </a:lnSpc>
              <a:buNone/>
            </a:pPr>
            <a:r>
              <a:rPr lang="en-US" sz="1100" b="1" dirty="0">
                <a:solidFill>
                  <a:srgbClr val="AD5416"/>
                </a:solidFill>
                <a:latin typeface="Calibri" pitchFamily="34" charset="0"/>
                <a:ea typeface="Calibri" pitchFamily="34" charset="-122"/>
                <a:cs typeface="Calibri" pitchFamily="34" charset="-120"/>
              </a:rPr>
              <a:t>Action directe, ni critique ni réservée au Principal — </a:t>
            </a:r>
            <a:pPr indent="0" marL="0">
              <a:lnSpc>
                <a:spcPct val="118000"/>
              </a:lnSpc>
              <a:buNone/>
            </a:pPr>
            <a:r>
              <a:rPr lang="en-US" sz="1100" dirty="0">
                <a:solidFill>
                  <a:srgbClr val="5B4322"/>
                </a:solidFill>
                <a:latin typeface="Calibri" pitchFamily="34" charset="0"/>
                <a:ea typeface="Calibri" pitchFamily="34" charset="-122"/>
                <a:cs typeface="Calibri" pitchFamily="34" charset="-120"/>
              </a:rPr>
              <a:t>tout Administrateur, Principal ou secondaire, peut activer ou désactiver n'importe quel compte, sauf le sien.</a:t>
            </a:r>
            <a:endParaRPr lang="en-US" sz="1100" dirty="0"/>
          </a:p>
        </p:txBody>
      </p:sp>
      <p:sp>
        <p:nvSpPr>
          <p:cNvPr id="14" name="Text 11"/>
          <p:cNvSpPr/>
          <p:nvPr/>
        </p:nvSpPr>
        <p:spPr>
          <a:xfrm>
            <a:off x="6309360" y="5074920"/>
            <a:ext cx="5257800" cy="594360"/>
          </a:xfrm>
          <a:prstGeom prst="rect">
            <a:avLst/>
          </a:prstGeom>
          <a:noFill/>
          <a:ln/>
        </p:spPr>
        <p:txBody>
          <a:bodyPr wrap="square" lIns="0" tIns="0" rIns="0" bIns="0" rtlCol="0" anchor="ctr"/>
          <a:lstStyle/>
          <a:p>
            <a:pPr indent="0" marL="0">
              <a:lnSpc>
                <a:spcPct val="118000"/>
              </a:lnSpc>
              <a:buNone/>
            </a:pPr>
            <a:r>
              <a:rPr lang="en-US" sz="1050" i="1" dirty="0">
                <a:solidFill>
                  <a:srgbClr val="6B7684"/>
                </a:solidFill>
                <a:latin typeface="Calibri" pitchFamily="34" charset="0"/>
                <a:ea typeface="Calibri" pitchFamily="34" charset="-122"/>
                <a:cs typeface="Calibri" pitchFamily="34" charset="-120"/>
              </a:rPr>
              <a:t>Impossible de désactiver votre propre compte, ni celui du Principal sans avoir d'abord transféré son statut.</a:t>
            </a:r>
            <a:endParaRPr lang="en-US" sz="1050" dirty="0"/>
          </a:p>
        </p:txBody>
      </p:sp>
      <p:sp>
        <p:nvSpPr>
          <p:cNvPr id="15" name="Text 12"/>
          <p:cNvSpPr/>
          <p:nvPr/>
        </p:nvSpPr>
        <p:spPr>
          <a:xfrm>
            <a:off x="502920" y="6400800"/>
            <a:ext cx="11185855" cy="292608"/>
          </a:xfrm>
          <a:prstGeom prst="rect">
            <a:avLst/>
          </a:prstGeom>
          <a:noFill/>
          <a:ln/>
        </p:spPr>
        <p:txBody>
          <a:bodyPr wrap="square" lIns="0" tIns="0" rIns="0" bIns="0" rtlCol="0" anchor="ctr"/>
          <a:lstStyle/>
          <a:p>
            <a:pPr algn="l" indent="0" marL="0">
              <a:buNone/>
            </a:pPr>
            <a:r>
              <a:rPr lang="en-US" sz="950" dirty="0">
                <a:solidFill>
                  <a:srgbClr val="A9A196"/>
                </a:solidFill>
                <a:latin typeface="Calibri" pitchFamily="34" charset="0"/>
                <a:ea typeface="Calibri" pitchFamily="34" charset="-122"/>
                <a:cs typeface="Calibri" pitchFamily="34" charset="-120"/>
              </a:rPr>
              <a:t>8 / 18</a:t>
            </a:r>
            <a:endParaRPr lang="en-US" sz="950" dirty="0"/>
          </a:p>
        </p:txBody>
      </p:sp>
      <p:sp>
        <p:nvSpPr>
          <p:cNvPr id="16" name="Text 13"/>
          <p:cNvSpPr/>
          <p:nvPr/>
        </p:nvSpPr>
        <p:spPr>
          <a:xfrm>
            <a:off x="502920" y="6400800"/>
            <a:ext cx="11185855" cy="292608"/>
          </a:xfrm>
          <a:prstGeom prst="rect">
            <a:avLst/>
          </a:prstGeom>
          <a:noFill/>
          <a:ln/>
        </p:spPr>
        <p:txBody>
          <a:bodyPr wrap="square" lIns="0" tIns="0" rIns="0" bIns="0" rtlCol="0" anchor="ctr"/>
          <a:lstStyle/>
          <a:p>
            <a:pPr algn="r" indent="0" marL="0">
              <a:buNone/>
            </a:pPr>
            <a:r>
              <a:rPr lang="en-US" sz="950" dirty="0">
                <a:solidFill>
                  <a:srgbClr val="A9A196"/>
                </a:solidFill>
                <a:latin typeface="Calibri" pitchFamily="34" charset="0"/>
                <a:ea typeface="Calibri" pitchFamily="34" charset="-122"/>
                <a:cs typeface="Calibri" pitchFamily="34" charset="-120"/>
              </a:rPr>
              <a:t>Boulangerie Lomoto — Guide Administrateur</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lIns="0" tIns="0" rIns="0" bIns="0" rtlCol="0" anchor="ctr"/>
          <a:lstStyle/>
          <a:p>
            <a:pPr indent="0" marL="0">
              <a:buNone/>
            </a:pPr>
            <a:r>
              <a:rPr lang="en-US" sz="1200" b="1" spc="200" kern="0" dirty="0">
                <a:solidFill>
                  <a:srgbClr val="AD5416"/>
                </a:solidFill>
                <a:latin typeface="Calibri" pitchFamily="34" charset="0"/>
                <a:ea typeface="Calibri" pitchFamily="34" charset="-122"/>
                <a:cs typeface="Calibri" pitchFamily="34" charset="-120"/>
              </a:rPr>
              <a:t>MODULE ÉQUIPE — ÉCRITURE</a:t>
            </a:r>
            <a:endParaRPr lang="en-US" sz="1200" dirty="0"/>
          </a:p>
        </p:txBody>
      </p:sp>
      <p:sp>
        <p:nvSpPr>
          <p:cNvPr id="3" name="Text 1"/>
          <p:cNvSpPr/>
          <p:nvPr/>
        </p:nvSpPr>
        <p:spPr>
          <a:xfrm>
            <a:off x="502920" y="658368"/>
            <a:ext cx="7772400" cy="685800"/>
          </a:xfrm>
          <a:prstGeom prst="rect">
            <a:avLst/>
          </a:prstGeom>
          <a:noFill/>
          <a:ln/>
        </p:spPr>
        <p:txBody>
          <a:bodyPr wrap="square" lIns="0" tIns="0" rIns="0" bIns="0" rtlCol="0" anchor="ctr"/>
          <a:lstStyle/>
          <a:p>
            <a:pPr indent="0" marL="0">
              <a:buNone/>
            </a:pPr>
            <a:r>
              <a:rPr lang="en-US" sz="3000" b="1" dirty="0">
                <a:solidFill>
                  <a:srgbClr val="0F1923"/>
                </a:solidFill>
                <a:latin typeface="Cambria" pitchFamily="34" charset="0"/>
                <a:ea typeface="Cambria" pitchFamily="34" charset="-122"/>
                <a:cs typeface="Cambria" pitchFamily="34" charset="-120"/>
              </a:rPr>
              <a:t>Approbations : suivre sa demande</a:t>
            </a:r>
            <a:endParaRPr lang="en-US" sz="3000" dirty="0"/>
          </a:p>
        </p:txBody>
      </p:sp>
      <p:sp>
        <p:nvSpPr>
          <p:cNvPr id="4" name="Shape 2"/>
          <p:cNvSpPr/>
          <p:nvPr/>
        </p:nvSpPr>
        <p:spPr>
          <a:xfrm>
            <a:off x="411480" y="2154555"/>
            <a:ext cx="5577840" cy="3554730"/>
          </a:xfrm>
          <a:prstGeom prst="roundRect">
            <a:avLst>
              <a:gd name="adj" fmla="val 1543"/>
            </a:avLst>
          </a:prstGeom>
          <a:solidFill>
            <a:srgbClr val="FFFFFF"/>
          </a:solidFill>
          <a:ln w="12700">
            <a:solidFill>
              <a:srgbClr val="CBAF91"/>
            </a:solidFill>
            <a:prstDash val="solid"/>
          </a:ln>
          <a:effectLst>
            <a:outerShdw sx="100000" sy="100000" kx="0" ky="0" algn="bl" rotWithShape="0" blurRad="127000" dist="50800" dir="5400000">
              <a:srgbClr val="000000">
                <a:alpha val="28000"/>
              </a:srgbClr>
            </a:outerShdw>
          </a:effectLst>
        </p:spPr>
      </p:sp>
      <p:pic>
        <p:nvPicPr>
          <p:cNvPr id="5" name="Image 0" descr="/tmp/claude-0/-home-user-Boulangerie/f122e8ab-b408-5ce6-930c-e0c5bddf9e4c/scratchpad/captures/administrateur/06-approbations-secondaire.png">    </p:cNvPr>
          <p:cNvPicPr>
            <a:picLocks noChangeAspect="1"/>
          </p:cNvPicPr>
          <p:nvPr/>
        </p:nvPicPr>
        <p:blipFill>
          <a:blip r:embed="rId1"/>
          <a:stretch>
            <a:fillRect/>
          </a:stretch>
        </p:blipFill>
        <p:spPr>
          <a:xfrm>
            <a:off x="502920" y="2245995"/>
            <a:ext cx="5394960" cy="3371850"/>
          </a:xfrm>
          <a:prstGeom prst="rect">
            <a:avLst/>
          </a:prstGeom>
        </p:spPr>
      </p:pic>
      <p:sp>
        <p:nvSpPr>
          <p:cNvPr id="6" name="Text 3"/>
          <p:cNvSpPr/>
          <p:nvPr/>
        </p:nvSpPr>
        <p:spPr>
          <a:xfrm>
            <a:off x="6309360" y="1554480"/>
            <a:ext cx="365760" cy="548640"/>
          </a:xfrm>
          <a:prstGeom prst="rect">
            <a:avLst/>
          </a:prstGeom>
          <a:noFill/>
          <a:ln/>
        </p:spPr>
        <p:txBody>
          <a:bodyPr wrap="square" lIns="0" tIns="0" rIns="0" bIns="0" rtlCol="0" anchor="ctr"/>
          <a:lstStyle/>
          <a:p>
            <a:pPr indent="0" marL="0">
              <a:buNone/>
            </a:pPr>
            <a:r>
              <a:rPr lang="en-US" sz="1300" b="1" dirty="0">
                <a:solidFill>
                  <a:srgbClr val="DA9F4E"/>
                </a:solidFill>
                <a:latin typeface="Calibri" pitchFamily="34" charset="0"/>
                <a:ea typeface="Calibri" pitchFamily="34" charset="-122"/>
                <a:cs typeface="Calibri" pitchFamily="34" charset="-120"/>
              </a:rPr>
              <a:t>1.</a:t>
            </a:r>
            <a:endParaRPr lang="en-US" sz="1300" dirty="0"/>
          </a:p>
        </p:txBody>
      </p:sp>
      <p:sp>
        <p:nvSpPr>
          <p:cNvPr id="7" name="Text 4"/>
          <p:cNvSpPr/>
          <p:nvPr/>
        </p:nvSpPr>
        <p:spPr>
          <a:xfrm>
            <a:off x="6675120" y="1554480"/>
            <a:ext cx="4892040" cy="685800"/>
          </a:xfrm>
          <a:prstGeom prst="rect">
            <a:avLst/>
          </a:prstGeom>
          <a:noFill/>
          <a:ln/>
        </p:spPr>
        <p:txBody>
          <a:bodyPr wrap="square" lIns="0" tIns="0" rIns="0" bIns="0" rtlCol="0" anchor="ctr"/>
          <a:lstStyle/>
          <a:p>
            <a:pPr indent="0" marL="0">
              <a:lnSpc>
                <a:spcPct val="116000"/>
              </a:lnSpc>
              <a:buNone/>
            </a:pPr>
            <a:r>
              <a:rPr lang="en-US" sz="1200" dirty="0">
                <a:solidFill>
                  <a:srgbClr val="2C3644"/>
                </a:solidFill>
                <a:latin typeface="Calibri" pitchFamily="34" charset="0"/>
                <a:ea typeface="Calibri" pitchFamily="34" charset="-122"/>
                <a:cs typeface="Calibri" pitchFamily="34" charset="-120"/>
              </a:rPr>
              <a:t>Toute tâche critique que vous soumettez apparaît ici, avec son statut « En attente ».</a:t>
            </a:r>
            <a:endParaRPr lang="en-US" sz="1200" dirty="0"/>
          </a:p>
        </p:txBody>
      </p:sp>
      <p:sp>
        <p:nvSpPr>
          <p:cNvPr id="8" name="Text 5"/>
          <p:cNvSpPr/>
          <p:nvPr/>
        </p:nvSpPr>
        <p:spPr>
          <a:xfrm>
            <a:off x="6309360" y="2468880"/>
            <a:ext cx="365760" cy="548640"/>
          </a:xfrm>
          <a:prstGeom prst="rect">
            <a:avLst/>
          </a:prstGeom>
          <a:noFill/>
          <a:ln/>
        </p:spPr>
        <p:txBody>
          <a:bodyPr wrap="square" lIns="0" tIns="0" rIns="0" bIns="0" rtlCol="0" anchor="ctr"/>
          <a:lstStyle/>
          <a:p>
            <a:pPr indent="0" marL="0">
              <a:buNone/>
            </a:pPr>
            <a:r>
              <a:rPr lang="en-US" sz="1300" b="1" dirty="0">
                <a:solidFill>
                  <a:srgbClr val="DA9F4E"/>
                </a:solidFill>
                <a:latin typeface="Calibri" pitchFamily="34" charset="0"/>
                <a:ea typeface="Calibri" pitchFamily="34" charset="-122"/>
                <a:cs typeface="Calibri" pitchFamily="34" charset="-120"/>
              </a:rPr>
              <a:t>2.</a:t>
            </a:r>
            <a:endParaRPr lang="en-US" sz="1300" dirty="0"/>
          </a:p>
        </p:txBody>
      </p:sp>
      <p:sp>
        <p:nvSpPr>
          <p:cNvPr id="9" name="Text 6"/>
          <p:cNvSpPr/>
          <p:nvPr/>
        </p:nvSpPr>
        <p:spPr>
          <a:xfrm>
            <a:off x="6675120" y="2468880"/>
            <a:ext cx="4892040" cy="685800"/>
          </a:xfrm>
          <a:prstGeom prst="rect">
            <a:avLst/>
          </a:prstGeom>
          <a:noFill/>
          <a:ln/>
        </p:spPr>
        <p:txBody>
          <a:bodyPr wrap="square" lIns="0" tIns="0" rIns="0" bIns="0" rtlCol="0" anchor="ctr"/>
          <a:lstStyle/>
          <a:p>
            <a:pPr indent="0" marL="0">
              <a:lnSpc>
                <a:spcPct val="116000"/>
              </a:lnSpc>
              <a:buNone/>
            </a:pPr>
            <a:r>
              <a:rPr lang="en-US" sz="1200" dirty="0">
                <a:solidFill>
                  <a:srgbClr val="2C3644"/>
                </a:solidFill>
                <a:latin typeface="Calibri" pitchFamily="34" charset="0"/>
                <a:ea typeface="Calibri" pitchFamily="34" charset="-122"/>
                <a:cs typeface="Calibri" pitchFamily="34" charset="-120"/>
              </a:rPr>
              <a:t>Aucun bouton Approuver/Rejeter de votre côté — c'est un suivi, pas une décision.</a:t>
            </a:r>
            <a:endParaRPr lang="en-US" sz="1200" dirty="0"/>
          </a:p>
        </p:txBody>
      </p:sp>
      <p:sp>
        <p:nvSpPr>
          <p:cNvPr id="10" name="Text 7"/>
          <p:cNvSpPr/>
          <p:nvPr/>
        </p:nvSpPr>
        <p:spPr>
          <a:xfrm>
            <a:off x="6309360" y="3383280"/>
            <a:ext cx="365760" cy="548640"/>
          </a:xfrm>
          <a:prstGeom prst="rect">
            <a:avLst/>
          </a:prstGeom>
          <a:noFill/>
          <a:ln/>
        </p:spPr>
        <p:txBody>
          <a:bodyPr wrap="square" lIns="0" tIns="0" rIns="0" bIns="0" rtlCol="0" anchor="ctr"/>
          <a:lstStyle/>
          <a:p>
            <a:pPr indent="0" marL="0">
              <a:buNone/>
            </a:pPr>
            <a:r>
              <a:rPr lang="en-US" sz="1300" b="1" dirty="0">
                <a:solidFill>
                  <a:srgbClr val="DA9F4E"/>
                </a:solidFill>
                <a:latin typeface="Calibri" pitchFamily="34" charset="0"/>
                <a:ea typeface="Calibri" pitchFamily="34" charset="-122"/>
                <a:cs typeface="Calibri" pitchFamily="34" charset="-120"/>
              </a:rPr>
              <a:t>3.</a:t>
            </a:r>
            <a:endParaRPr lang="en-US" sz="1300" dirty="0"/>
          </a:p>
        </p:txBody>
      </p:sp>
      <p:sp>
        <p:nvSpPr>
          <p:cNvPr id="11" name="Text 8"/>
          <p:cNvSpPr/>
          <p:nvPr/>
        </p:nvSpPr>
        <p:spPr>
          <a:xfrm>
            <a:off x="6675120" y="3383280"/>
            <a:ext cx="4892040" cy="685800"/>
          </a:xfrm>
          <a:prstGeom prst="rect">
            <a:avLst/>
          </a:prstGeom>
          <a:noFill/>
          <a:ln/>
        </p:spPr>
        <p:txBody>
          <a:bodyPr wrap="square" lIns="0" tIns="0" rIns="0" bIns="0" rtlCol="0" anchor="ctr"/>
          <a:lstStyle/>
          <a:p>
            <a:pPr indent="0" marL="0">
              <a:lnSpc>
                <a:spcPct val="116000"/>
              </a:lnSpc>
              <a:buNone/>
            </a:pPr>
            <a:r>
              <a:rPr lang="en-US" sz="1200" dirty="0">
                <a:solidFill>
                  <a:srgbClr val="2C3644"/>
                </a:solidFill>
                <a:latin typeface="Calibri" pitchFamily="34" charset="0"/>
                <a:ea typeface="Calibri" pitchFamily="34" charset="-122"/>
                <a:cs typeface="Calibri" pitchFamily="34" charset="-120"/>
              </a:rPr>
              <a:t>Une fois traitée par le Principal, la demande passe en historique : Approuvée ou Rejetée, avec la date.</a:t>
            </a:r>
            <a:endParaRPr lang="en-US" sz="1200" dirty="0"/>
          </a:p>
        </p:txBody>
      </p:sp>
      <p:sp>
        <p:nvSpPr>
          <p:cNvPr id="12" name="Shape 9"/>
          <p:cNvSpPr/>
          <p:nvPr/>
        </p:nvSpPr>
        <p:spPr>
          <a:xfrm>
            <a:off x="6309360" y="4343400"/>
            <a:ext cx="5257800" cy="868680"/>
          </a:xfrm>
          <a:prstGeom prst="roundRect">
            <a:avLst>
              <a:gd name="adj" fmla="val 7368"/>
            </a:avLst>
          </a:prstGeom>
          <a:solidFill>
            <a:srgbClr val="F3E3C3"/>
          </a:solidFill>
          <a:ln/>
        </p:spPr>
      </p:sp>
      <p:sp>
        <p:nvSpPr>
          <p:cNvPr id="13" name="Text 10"/>
          <p:cNvSpPr/>
          <p:nvPr/>
        </p:nvSpPr>
        <p:spPr>
          <a:xfrm>
            <a:off x="6537960" y="4434840"/>
            <a:ext cx="4800600" cy="685800"/>
          </a:xfrm>
          <a:prstGeom prst="rect">
            <a:avLst/>
          </a:prstGeom>
          <a:noFill/>
          <a:ln/>
        </p:spPr>
        <p:txBody>
          <a:bodyPr wrap="square" lIns="0" tIns="0" rIns="0" bIns="0" rtlCol="0" anchor="t"/>
          <a:lstStyle/>
          <a:p>
            <a:pPr indent="0" marL="0">
              <a:lnSpc>
                <a:spcPct val="118000"/>
              </a:lnSpc>
              <a:buNone/>
            </a:pPr>
            <a:r>
              <a:rPr lang="en-US" sz="1100" b="1" dirty="0">
                <a:solidFill>
                  <a:srgbClr val="AD5416"/>
                </a:solidFill>
                <a:latin typeface="Calibri" pitchFamily="34" charset="0"/>
                <a:ea typeface="Calibri" pitchFamily="34" charset="-122"/>
                <a:cs typeface="Calibri" pitchFamily="34" charset="-120"/>
              </a:rPr>
              <a:t>En tant que secondaire, </a:t>
            </a:r>
            <a:pPr indent="0" marL="0">
              <a:lnSpc>
                <a:spcPct val="118000"/>
              </a:lnSpc>
              <a:buNone/>
            </a:pPr>
            <a:r>
              <a:rPr lang="en-US" sz="1100" dirty="0">
                <a:solidFill>
                  <a:srgbClr val="5B4322"/>
                </a:solidFill>
                <a:latin typeface="Calibri" pitchFamily="34" charset="0"/>
                <a:ea typeface="Calibri" pitchFamily="34" charset="-122"/>
                <a:cs typeface="Calibri" pitchFamily="34" charset="-120"/>
              </a:rPr>
              <a:t>vous ne voyez que vos propres demandes ici — jamais celles des autres comptes.</a:t>
            </a:r>
            <a:endParaRPr lang="en-US" sz="1100" dirty="0"/>
          </a:p>
        </p:txBody>
      </p:sp>
      <p:sp>
        <p:nvSpPr>
          <p:cNvPr id="14" name="Text 11"/>
          <p:cNvSpPr/>
          <p:nvPr/>
        </p:nvSpPr>
        <p:spPr>
          <a:xfrm>
            <a:off x="502920" y="6400800"/>
            <a:ext cx="11185855" cy="292608"/>
          </a:xfrm>
          <a:prstGeom prst="rect">
            <a:avLst/>
          </a:prstGeom>
          <a:noFill/>
          <a:ln/>
        </p:spPr>
        <p:txBody>
          <a:bodyPr wrap="square" lIns="0" tIns="0" rIns="0" bIns="0" rtlCol="0" anchor="ctr"/>
          <a:lstStyle/>
          <a:p>
            <a:pPr algn="l" indent="0" marL="0">
              <a:buNone/>
            </a:pPr>
            <a:r>
              <a:rPr lang="en-US" sz="950" dirty="0">
                <a:solidFill>
                  <a:srgbClr val="A9A196"/>
                </a:solidFill>
                <a:latin typeface="Calibri" pitchFamily="34" charset="0"/>
                <a:ea typeface="Calibri" pitchFamily="34" charset="-122"/>
                <a:cs typeface="Calibri" pitchFamily="34" charset="-120"/>
              </a:rPr>
              <a:t>9 / 18</a:t>
            </a:r>
            <a:endParaRPr lang="en-US" sz="950" dirty="0"/>
          </a:p>
        </p:txBody>
      </p:sp>
      <p:sp>
        <p:nvSpPr>
          <p:cNvPr id="15" name="Text 12"/>
          <p:cNvSpPr/>
          <p:nvPr/>
        </p:nvSpPr>
        <p:spPr>
          <a:xfrm>
            <a:off x="502920" y="6400800"/>
            <a:ext cx="11185855" cy="292608"/>
          </a:xfrm>
          <a:prstGeom prst="rect">
            <a:avLst/>
          </a:prstGeom>
          <a:noFill/>
          <a:ln/>
        </p:spPr>
        <p:txBody>
          <a:bodyPr wrap="square" lIns="0" tIns="0" rIns="0" bIns="0" rtlCol="0" anchor="ctr"/>
          <a:lstStyle/>
          <a:p>
            <a:pPr algn="r" indent="0" marL="0">
              <a:buNone/>
            </a:pPr>
            <a:r>
              <a:rPr lang="en-US" sz="950" dirty="0">
                <a:solidFill>
                  <a:srgbClr val="A9A196"/>
                </a:solidFill>
                <a:latin typeface="Calibri" pitchFamily="34" charset="0"/>
                <a:ea typeface="Calibri" pitchFamily="34" charset="-122"/>
                <a:cs typeface="Calibri" pitchFamily="34" charset="-120"/>
              </a:rPr>
              <a:t>Boulangerie Lomoto — Guide Administrateur</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lIns="0" tIns="0" rIns="0" bIns="0" rtlCol="0" anchor="ctr"/>
          <a:lstStyle/>
          <a:p>
            <a:pPr indent="0" marL="0">
              <a:buNone/>
            </a:pPr>
            <a:r>
              <a:rPr lang="en-US" sz="1200" b="1" spc="200" kern="0" dirty="0">
                <a:solidFill>
                  <a:srgbClr val="AD5416"/>
                </a:solidFill>
                <a:latin typeface="Calibri" pitchFamily="34" charset="0"/>
                <a:ea typeface="Calibri" pitchFamily="34" charset="-122"/>
                <a:cs typeface="Calibri" pitchFamily="34" charset="-120"/>
              </a:rPr>
              <a:t>MODULE ÉQUIPE — ÉCRITURE</a:t>
            </a:r>
            <a:endParaRPr lang="en-US" sz="1200" dirty="0"/>
          </a:p>
        </p:txBody>
      </p:sp>
      <p:sp>
        <p:nvSpPr>
          <p:cNvPr id="3" name="Text 1"/>
          <p:cNvSpPr/>
          <p:nvPr/>
        </p:nvSpPr>
        <p:spPr>
          <a:xfrm>
            <a:off x="502920" y="658368"/>
            <a:ext cx="7772400" cy="685800"/>
          </a:xfrm>
          <a:prstGeom prst="rect">
            <a:avLst/>
          </a:prstGeom>
          <a:noFill/>
          <a:ln/>
        </p:spPr>
        <p:txBody>
          <a:bodyPr wrap="square" lIns="0" tIns="0" rIns="0" bIns="0" rtlCol="0" anchor="ctr"/>
          <a:lstStyle/>
          <a:p>
            <a:pPr indent="0" marL="0">
              <a:buNone/>
            </a:pPr>
            <a:r>
              <a:rPr lang="en-US" sz="3000" b="1" dirty="0">
                <a:solidFill>
                  <a:srgbClr val="0F1923"/>
                </a:solidFill>
                <a:latin typeface="Cambria" pitchFamily="34" charset="0"/>
                <a:ea typeface="Cambria" pitchFamily="34" charset="-122"/>
                <a:cs typeface="Cambria" pitchFamily="34" charset="-120"/>
              </a:rPr>
              <a:t>Approbations : décider</a:t>
            </a:r>
            <a:endParaRPr lang="en-US" sz="3000" dirty="0"/>
          </a:p>
        </p:txBody>
      </p:sp>
      <p:sp>
        <p:nvSpPr>
          <p:cNvPr id="4" name="Shape 2"/>
          <p:cNvSpPr/>
          <p:nvPr/>
        </p:nvSpPr>
        <p:spPr>
          <a:xfrm>
            <a:off x="411480" y="2154555"/>
            <a:ext cx="5577840" cy="3554730"/>
          </a:xfrm>
          <a:prstGeom prst="roundRect">
            <a:avLst>
              <a:gd name="adj" fmla="val 1543"/>
            </a:avLst>
          </a:prstGeom>
          <a:solidFill>
            <a:srgbClr val="FFFFFF"/>
          </a:solidFill>
          <a:ln w="12700">
            <a:solidFill>
              <a:srgbClr val="CBAF91"/>
            </a:solidFill>
            <a:prstDash val="solid"/>
          </a:ln>
          <a:effectLst>
            <a:outerShdw sx="100000" sy="100000" kx="0" ky="0" algn="bl" rotWithShape="0" blurRad="127000" dist="50800" dir="5400000">
              <a:srgbClr val="000000">
                <a:alpha val="28000"/>
              </a:srgbClr>
            </a:outerShdw>
          </a:effectLst>
        </p:spPr>
      </p:sp>
      <p:pic>
        <p:nvPicPr>
          <p:cNvPr id="5" name="Image 0" descr="/tmp/claude-0/-home-user-Boulangerie/f122e8ab-b408-5ce6-930c-e0c5bddf9e4c/scratchpad/captures/administrateur/11-approbations-principal.png">    </p:cNvPr>
          <p:cNvPicPr>
            <a:picLocks noChangeAspect="1"/>
          </p:cNvPicPr>
          <p:nvPr/>
        </p:nvPicPr>
        <p:blipFill>
          <a:blip r:embed="rId1"/>
          <a:stretch>
            <a:fillRect/>
          </a:stretch>
        </p:blipFill>
        <p:spPr>
          <a:xfrm>
            <a:off x="502920" y="2245995"/>
            <a:ext cx="5394960" cy="3371850"/>
          </a:xfrm>
          <a:prstGeom prst="rect">
            <a:avLst/>
          </a:prstGeom>
        </p:spPr>
      </p:pic>
      <p:sp>
        <p:nvSpPr>
          <p:cNvPr id="6" name="Text 3"/>
          <p:cNvSpPr/>
          <p:nvPr/>
        </p:nvSpPr>
        <p:spPr>
          <a:xfrm>
            <a:off x="6309360" y="1554480"/>
            <a:ext cx="365760" cy="548640"/>
          </a:xfrm>
          <a:prstGeom prst="rect">
            <a:avLst/>
          </a:prstGeom>
          <a:noFill/>
          <a:ln/>
        </p:spPr>
        <p:txBody>
          <a:bodyPr wrap="square" lIns="0" tIns="0" rIns="0" bIns="0" rtlCol="0" anchor="ctr"/>
          <a:lstStyle/>
          <a:p>
            <a:pPr indent="0" marL="0">
              <a:buNone/>
            </a:pPr>
            <a:r>
              <a:rPr lang="en-US" sz="1300" b="1" dirty="0">
                <a:solidFill>
                  <a:srgbClr val="DA9F4E"/>
                </a:solidFill>
                <a:latin typeface="Calibri" pitchFamily="34" charset="0"/>
                <a:ea typeface="Calibri" pitchFamily="34" charset="-122"/>
                <a:cs typeface="Calibri" pitchFamily="34" charset="-120"/>
              </a:rPr>
              <a:t>1.</a:t>
            </a:r>
            <a:endParaRPr lang="en-US" sz="1300" dirty="0"/>
          </a:p>
        </p:txBody>
      </p:sp>
      <p:sp>
        <p:nvSpPr>
          <p:cNvPr id="7" name="Text 4"/>
          <p:cNvSpPr/>
          <p:nvPr/>
        </p:nvSpPr>
        <p:spPr>
          <a:xfrm>
            <a:off x="6675120" y="1554480"/>
            <a:ext cx="4892040" cy="685800"/>
          </a:xfrm>
          <a:prstGeom prst="rect">
            <a:avLst/>
          </a:prstGeom>
          <a:noFill/>
          <a:ln/>
        </p:spPr>
        <p:txBody>
          <a:bodyPr wrap="square" lIns="0" tIns="0" rIns="0" bIns="0" rtlCol="0" anchor="ctr"/>
          <a:lstStyle/>
          <a:p>
            <a:pPr indent="0" marL="0">
              <a:lnSpc>
                <a:spcPct val="116000"/>
              </a:lnSpc>
              <a:buNone/>
            </a:pPr>
            <a:r>
              <a:rPr lang="en-US" sz="1200" dirty="0">
                <a:solidFill>
                  <a:srgbClr val="2C3644"/>
                </a:solidFill>
                <a:latin typeface="Calibri" pitchFamily="34" charset="0"/>
                <a:ea typeface="Calibri" pitchFamily="34" charset="-122"/>
                <a:cs typeface="Calibri" pitchFamily="34" charset="-120"/>
              </a:rPr>
              <a:t>En tant que Principal, vous voyez les demandes de tous les comptes secondaires, pas seulement les vôtres.</a:t>
            </a:r>
            <a:endParaRPr lang="en-US" sz="1200" dirty="0"/>
          </a:p>
        </p:txBody>
      </p:sp>
      <p:sp>
        <p:nvSpPr>
          <p:cNvPr id="8" name="Text 5"/>
          <p:cNvSpPr/>
          <p:nvPr/>
        </p:nvSpPr>
        <p:spPr>
          <a:xfrm>
            <a:off x="6309360" y="2468880"/>
            <a:ext cx="365760" cy="548640"/>
          </a:xfrm>
          <a:prstGeom prst="rect">
            <a:avLst/>
          </a:prstGeom>
          <a:noFill/>
          <a:ln/>
        </p:spPr>
        <p:txBody>
          <a:bodyPr wrap="square" lIns="0" tIns="0" rIns="0" bIns="0" rtlCol="0" anchor="ctr"/>
          <a:lstStyle/>
          <a:p>
            <a:pPr indent="0" marL="0">
              <a:buNone/>
            </a:pPr>
            <a:r>
              <a:rPr lang="en-US" sz="1300" b="1" dirty="0">
                <a:solidFill>
                  <a:srgbClr val="DA9F4E"/>
                </a:solidFill>
                <a:latin typeface="Calibri" pitchFamily="34" charset="0"/>
                <a:ea typeface="Calibri" pitchFamily="34" charset="-122"/>
                <a:cs typeface="Calibri" pitchFamily="34" charset="-120"/>
              </a:rPr>
              <a:t>2.</a:t>
            </a:r>
            <a:endParaRPr lang="en-US" sz="1300" dirty="0"/>
          </a:p>
        </p:txBody>
      </p:sp>
      <p:sp>
        <p:nvSpPr>
          <p:cNvPr id="9" name="Text 6"/>
          <p:cNvSpPr/>
          <p:nvPr/>
        </p:nvSpPr>
        <p:spPr>
          <a:xfrm>
            <a:off x="6675120" y="2468880"/>
            <a:ext cx="4892040" cy="685800"/>
          </a:xfrm>
          <a:prstGeom prst="rect">
            <a:avLst/>
          </a:prstGeom>
          <a:noFill/>
          <a:ln/>
        </p:spPr>
        <p:txBody>
          <a:bodyPr wrap="square" lIns="0" tIns="0" rIns="0" bIns="0" rtlCol="0" anchor="ctr"/>
          <a:lstStyle/>
          <a:p>
            <a:pPr indent="0" marL="0">
              <a:lnSpc>
                <a:spcPct val="116000"/>
              </a:lnSpc>
              <a:buNone/>
            </a:pPr>
            <a:r>
              <a:rPr lang="en-US" sz="1200" dirty="0">
                <a:solidFill>
                  <a:srgbClr val="2C3644"/>
                </a:solidFill>
                <a:latin typeface="Calibri" pitchFamily="34" charset="0"/>
                <a:ea typeface="Calibri" pitchFamily="34" charset="-122"/>
                <a:cs typeface="Calibri" pitchFamily="34" charset="-120"/>
              </a:rPr>
              <a:t>« Approuver » exécute l'action telle que soumise — l'état est revérifié à ce moment-là, pas seulement au moment de la demande.</a:t>
            </a:r>
            <a:endParaRPr lang="en-US" sz="1200" dirty="0"/>
          </a:p>
        </p:txBody>
      </p:sp>
      <p:sp>
        <p:nvSpPr>
          <p:cNvPr id="10" name="Text 7"/>
          <p:cNvSpPr/>
          <p:nvPr/>
        </p:nvSpPr>
        <p:spPr>
          <a:xfrm>
            <a:off x="6309360" y="3383280"/>
            <a:ext cx="365760" cy="548640"/>
          </a:xfrm>
          <a:prstGeom prst="rect">
            <a:avLst/>
          </a:prstGeom>
          <a:noFill/>
          <a:ln/>
        </p:spPr>
        <p:txBody>
          <a:bodyPr wrap="square" lIns="0" tIns="0" rIns="0" bIns="0" rtlCol="0" anchor="ctr"/>
          <a:lstStyle/>
          <a:p>
            <a:pPr indent="0" marL="0">
              <a:buNone/>
            </a:pPr>
            <a:r>
              <a:rPr lang="en-US" sz="1300" b="1" dirty="0">
                <a:solidFill>
                  <a:srgbClr val="DA9F4E"/>
                </a:solidFill>
                <a:latin typeface="Calibri" pitchFamily="34" charset="0"/>
                <a:ea typeface="Calibri" pitchFamily="34" charset="-122"/>
                <a:cs typeface="Calibri" pitchFamily="34" charset="-120"/>
              </a:rPr>
              <a:t>3.</a:t>
            </a:r>
            <a:endParaRPr lang="en-US" sz="1300" dirty="0"/>
          </a:p>
        </p:txBody>
      </p:sp>
      <p:sp>
        <p:nvSpPr>
          <p:cNvPr id="11" name="Text 8"/>
          <p:cNvSpPr/>
          <p:nvPr/>
        </p:nvSpPr>
        <p:spPr>
          <a:xfrm>
            <a:off x="6675120" y="3383280"/>
            <a:ext cx="4892040" cy="685800"/>
          </a:xfrm>
          <a:prstGeom prst="rect">
            <a:avLst/>
          </a:prstGeom>
          <a:noFill/>
          <a:ln/>
        </p:spPr>
        <p:txBody>
          <a:bodyPr wrap="square" lIns="0" tIns="0" rIns="0" bIns="0" rtlCol="0" anchor="ctr"/>
          <a:lstStyle/>
          <a:p>
            <a:pPr indent="0" marL="0">
              <a:lnSpc>
                <a:spcPct val="116000"/>
              </a:lnSpc>
              <a:buNone/>
            </a:pPr>
            <a:r>
              <a:rPr lang="en-US" sz="1200" dirty="0">
                <a:solidFill>
                  <a:srgbClr val="2C3644"/>
                </a:solidFill>
                <a:latin typeface="Calibri" pitchFamily="34" charset="0"/>
                <a:ea typeface="Calibri" pitchFamily="34" charset="-122"/>
                <a:cs typeface="Calibri" pitchFamily="34" charset="-120"/>
              </a:rPr>
              <a:t>« Rejeter » ferme la demande sans rien exécuter ; le demandeur voit le résultat dans son propre suivi.</a:t>
            </a:r>
            <a:endParaRPr lang="en-US" sz="1200" dirty="0"/>
          </a:p>
        </p:txBody>
      </p:sp>
      <p:sp>
        <p:nvSpPr>
          <p:cNvPr id="12" name="Shape 9"/>
          <p:cNvSpPr/>
          <p:nvPr/>
        </p:nvSpPr>
        <p:spPr>
          <a:xfrm>
            <a:off x="6309360" y="4343400"/>
            <a:ext cx="5257800" cy="868680"/>
          </a:xfrm>
          <a:prstGeom prst="roundRect">
            <a:avLst>
              <a:gd name="adj" fmla="val 7368"/>
            </a:avLst>
          </a:prstGeom>
          <a:solidFill>
            <a:srgbClr val="F3E3C3"/>
          </a:solidFill>
          <a:ln/>
        </p:spPr>
      </p:sp>
      <p:sp>
        <p:nvSpPr>
          <p:cNvPr id="13" name="Text 10"/>
          <p:cNvSpPr/>
          <p:nvPr/>
        </p:nvSpPr>
        <p:spPr>
          <a:xfrm>
            <a:off x="6537960" y="4434840"/>
            <a:ext cx="4800600" cy="685800"/>
          </a:xfrm>
          <a:prstGeom prst="rect">
            <a:avLst/>
          </a:prstGeom>
          <a:noFill/>
          <a:ln/>
        </p:spPr>
        <p:txBody>
          <a:bodyPr wrap="square" lIns="0" tIns="0" rIns="0" bIns="0" rtlCol="0" anchor="t"/>
          <a:lstStyle/>
          <a:p>
            <a:pPr indent="0" marL="0">
              <a:lnSpc>
                <a:spcPct val="118000"/>
              </a:lnSpc>
              <a:buNone/>
            </a:pPr>
            <a:r>
              <a:rPr lang="en-US" sz="1100" b="1" dirty="0">
                <a:solidFill>
                  <a:srgbClr val="AD5416"/>
                </a:solidFill>
                <a:latin typeface="Calibri" pitchFamily="34" charset="0"/>
                <a:ea typeface="Calibri" pitchFamily="34" charset="-122"/>
                <a:cs typeface="Calibri" pitchFamily="34" charset="-120"/>
              </a:rPr>
              <a:t>Piège à éviter — </a:t>
            </a:r>
            <a:pPr indent="0" marL="0">
              <a:lnSpc>
                <a:spcPct val="118000"/>
              </a:lnSpc>
              <a:buNone/>
            </a:pPr>
            <a:r>
              <a:rPr lang="en-US" sz="1100" dirty="0">
                <a:solidFill>
                  <a:srgbClr val="5B4322"/>
                </a:solidFill>
                <a:latin typeface="Calibri" pitchFamily="34" charset="0"/>
                <a:ea typeface="Calibri" pitchFamily="34" charset="-122"/>
                <a:cs typeface="Calibri" pitchFamily="34" charset="-120"/>
              </a:rPr>
              <a:t>une demande approuvée peut échouer si la situation a changé entretemps (ex. quota de comptes Administrateur atteint) — l'erreur s'affiche alors sur la demande elle-même.</a:t>
            </a:r>
            <a:endParaRPr lang="en-US" sz="1100" dirty="0"/>
          </a:p>
        </p:txBody>
      </p:sp>
      <p:sp>
        <p:nvSpPr>
          <p:cNvPr id="14" name="Text 11"/>
          <p:cNvSpPr/>
          <p:nvPr/>
        </p:nvSpPr>
        <p:spPr>
          <a:xfrm>
            <a:off x="502920" y="6400800"/>
            <a:ext cx="11185855" cy="292608"/>
          </a:xfrm>
          <a:prstGeom prst="rect">
            <a:avLst/>
          </a:prstGeom>
          <a:noFill/>
          <a:ln/>
        </p:spPr>
        <p:txBody>
          <a:bodyPr wrap="square" lIns="0" tIns="0" rIns="0" bIns="0" rtlCol="0" anchor="ctr"/>
          <a:lstStyle/>
          <a:p>
            <a:pPr algn="l" indent="0" marL="0">
              <a:buNone/>
            </a:pPr>
            <a:r>
              <a:rPr lang="en-US" sz="950" dirty="0">
                <a:solidFill>
                  <a:srgbClr val="A9A196"/>
                </a:solidFill>
                <a:latin typeface="Calibri" pitchFamily="34" charset="0"/>
                <a:ea typeface="Calibri" pitchFamily="34" charset="-122"/>
                <a:cs typeface="Calibri" pitchFamily="34" charset="-120"/>
              </a:rPr>
              <a:t>10 / 18</a:t>
            </a:r>
            <a:endParaRPr lang="en-US" sz="950" dirty="0"/>
          </a:p>
        </p:txBody>
      </p:sp>
      <p:sp>
        <p:nvSpPr>
          <p:cNvPr id="15" name="Text 12"/>
          <p:cNvSpPr/>
          <p:nvPr/>
        </p:nvSpPr>
        <p:spPr>
          <a:xfrm>
            <a:off x="502920" y="6400800"/>
            <a:ext cx="11185855" cy="292608"/>
          </a:xfrm>
          <a:prstGeom prst="rect">
            <a:avLst/>
          </a:prstGeom>
          <a:noFill/>
          <a:ln/>
        </p:spPr>
        <p:txBody>
          <a:bodyPr wrap="square" lIns="0" tIns="0" rIns="0" bIns="0" rtlCol="0" anchor="ctr"/>
          <a:lstStyle/>
          <a:p>
            <a:pPr algn="r" indent="0" marL="0">
              <a:buNone/>
            </a:pPr>
            <a:r>
              <a:rPr lang="en-US" sz="950" dirty="0">
                <a:solidFill>
                  <a:srgbClr val="A9A196"/>
                </a:solidFill>
                <a:latin typeface="Calibri" pitchFamily="34" charset="0"/>
                <a:ea typeface="Calibri" pitchFamily="34" charset="-122"/>
                <a:cs typeface="Calibri" pitchFamily="34" charset="-120"/>
              </a:rPr>
              <a:t>Boulangerie Lomoto — Guide Administrateur</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lIns="0" tIns="0" rIns="0" bIns="0" rtlCol="0" anchor="ctr"/>
          <a:lstStyle/>
          <a:p>
            <a:pPr indent="0" marL="0">
              <a:buNone/>
            </a:pPr>
            <a:r>
              <a:rPr lang="en-US" sz="1200" b="1" spc="200" kern="0" dirty="0">
                <a:solidFill>
                  <a:srgbClr val="AD5416"/>
                </a:solidFill>
                <a:latin typeface="Calibri" pitchFamily="34" charset="0"/>
                <a:ea typeface="Calibri" pitchFamily="34" charset="-122"/>
                <a:cs typeface="Calibri" pitchFamily="34" charset="-120"/>
              </a:rPr>
              <a:t>MODULE ÉQUIPE — ÉCRITURE</a:t>
            </a:r>
            <a:endParaRPr lang="en-US" sz="1200" dirty="0"/>
          </a:p>
        </p:txBody>
      </p:sp>
      <p:sp>
        <p:nvSpPr>
          <p:cNvPr id="3" name="Text 1"/>
          <p:cNvSpPr/>
          <p:nvPr/>
        </p:nvSpPr>
        <p:spPr>
          <a:xfrm>
            <a:off x="502920" y="658368"/>
            <a:ext cx="5394960" cy="960120"/>
          </a:xfrm>
          <a:prstGeom prst="rect">
            <a:avLst/>
          </a:prstGeom>
          <a:noFill/>
          <a:ln/>
        </p:spPr>
        <p:txBody>
          <a:bodyPr wrap="square" lIns="0" tIns="0" rIns="0" bIns="0" rtlCol="0" anchor="ctr"/>
          <a:lstStyle/>
          <a:p>
            <a:pPr indent="0" marL="0">
              <a:buNone/>
            </a:pPr>
            <a:r>
              <a:rPr lang="en-US" sz="2600" b="1" dirty="0">
                <a:solidFill>
                  <a:srgbClr val="0F1923"/>
                </a:solidFill>
                <a:latin typeface="Cambria" pitchFamily="34" charset="0"/>
                <a:ea typeface="Cambria" pitchFamily="34" charset="-122"/>
                <a:cs typeface="Cambria" pitchFamily="34" charset="-120"/>
              </a:rPr>
              <a:t>État système : ce que voit un secondaire</a:t>
            </a:r>
            <a:endParaRPr lang="en-US" sz="2600" dirty="0"/>
          </a:p>
        </p:txBody>
      </p:sp>
      <p:sp>
        <p:nvSpPr>
          <p:cNvPr id="4" name="Shape 2"/>
          <p:cNvSpPr/>
          <p:nvPr/>
        </p:nvSpPr>
        <p:spPr>
          <a:xfrm>
            <a:off x="502920" y="1691640"/>
            <a:ext cx="1371600" cy="329184"/>
          </a:xfrm>
          <a:prstGeom prst="roundRect">
            <a:avLst>
              <a:gd name="adj" fmla="val 50000"/>
            </a:avLst>
          </a:prstGeom>
          <a:solidFill>
            <a:srgbClr val="DA9F4E"/>
          </a:solidFill>
          <a:ln/>
        </p:spPr>
      </p:sp>
      <p:sp>
        <p:nvSpPr>
          <p:cNvPr id="5" name="Text 3"/>
          <p:cNvSpPr/>
          <p:nvPr/>
        </p:nvSpPr>
        <p:spPr>
          <a:xfrm>
            <a:off x="502920" y="1691640"/>
            <a:ext cx="137160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Vue secondaire</a:t>
            </a:r>
            <a:endParaRPr lang="en-US" sz="1050" dirty="0"/>
          </a:p>
        </p:txBody>
      </p:sp>
      <p:sp>
        <p:nvSpPr>
          <p:cNvPr id="6" name="Text 4"/>
          <p:cNvSpPr/>
          <p:nvPr/>
        </p:nvSpPr>
        <p:spPr>
          <a:xfrm>
            <a:off x="502920" y="2240280"/>
            <a:ext cx="5120640" cy="3931920"/>
          </a:xfrm>
          <a:prstGeom prst="rect">
            <a:avLst/>
          </a:prstGeom>
          <a:noFill/>
          <a:ln/>
        </p:spPr>
        <p:txBody>
          <a:bodyPr wrap="square" lIns="0" tIns="0" rIns="0" bIns="0" rtlCol="0" anchor="t"/>
          <a:lstStyle/>
          <a:p>
            <a:pPr indent="0" marL="0">
              <a:lnSpc>
                <a:spcPct val="122000"/>
              </a:lnSpc>
              <a:spcAft>
                <a:spcPts val="1400"/>
              </a:spcAft>
              <a:buNone/>
            </a:pPr>
            <a:r>
              <a:rPr lang="en-US" sz="1300" dirty="0">
                <a:solidFill>
                  <a:srgbClr val="2C3644"/>
                </a:solidFill>
                <a:latin typeface="Calibri" pitchFamily="34" charset="0"/>
                <a:ea typeface="Calibri" pitchFamily="34" charset="-122"/>
                <a:cs typeface="Calibri" pitchFamily="34" charset="-120"/>
              </a:rPr>
              <a:t>État système affiche l'état technique de l'application : base de données connectée, nombre d'utilisateurs actifs, sauvegardes, et diagnostic de l'Assistant IA.</a:t>
            </a:r>
            <a:endParaRPr lang="en-US" sz="1300" dirty="0"/>
          </a:p>
          <a:p>
            <a:pPr indent="0" marL="0">
              <a:lnSpc>
                <a:spcPct val="122000"/>
              </a:lnSpc>
              <a:spcAft>
                <a:spcPts val="1400"/>
              </a:spcAft>
              <a:buNone/>
            </a:pPr>
            <a:r>
              <a:rPr lang="en-US" sz="1300" dirty="0">
                <a:solidFill>
                  <a:srgbClr val="2C3644"/>
                </a:solidFill>
                <a:latin typeface="Calibri" pitchFamily="34" charset="0"/>
                <a:ea typeface="Calibri" pitchFamily="34" charset="-122"/>
                <a:cs typeface="Calibri" pitchFamily="34" charset="-120"/>
              </a:rPr>
              <a:t>Les actions de sauvegarde et de réinitialisation de la base sont réservées au Principal — un secondaire voit un simple message à leur place, jamais de bouton masqué qui échouerait silencieusement.</a:t>
            </a:r>
            <a:endParaRPr lang="en-US" sz="1300" dirty="0"/>
          </a:p>
        </p:txBody>
      </p:sp>
      <p:sp>
        <p:nvSpPr>
          <p:cNvPr id="7" name="Shape 5"/>
          <p:cNvSpPr/>
          <p:nvPr/>
        </p:nvSpPr>
        <p:spPr>
          <a:xfrm>
            <a:off x="502920" y="4590288"/>
            <a:ext cx="82296" cy="82296"/>
          </a:xfrm>
          <a:prstGeom prst="ellipse">
            <a:avLst/>
          </a:prstGeom>
          <a:solidFill>
            <a:srgbClr val="AD5416"/>
          </a:solidFill>
          <a:ln/>
        </p:spPr>
      </p:sp>
      <p:sp>
        <p:nvSpPr>
          <p:cNvPr id="8" name="Text 6"/>
          <p:cNvSpPr/>
          <p:nvPr/>
        </p:nvSpPr>
        <p:spPr>
          <a:xfrm>
            <a:off x="722376" y="4526280"/>
            <a:ext cx="4937760" cy="365760"/>
          </a:xfrm>
          <a:prstGeom prst="rect">
            <a:avLst/>
          </a:prstGeom>
          <a:noFill/>
          <a:ln/>
        </p:spPr>
        <p:txBody>
          <a:bodyPr wrap="square" lIns="0" tIns="0" rIns="0" bIns="0" rtlCol="0" anchor="ctr"/>
          <a:lstStyle/>
          <a:p>
            <a:pPr indent="0" marL="0">
              <a:buNone/>
            </a:pPr>
            <a:r>
              <a:rPr lang="en-US" sz="1250" dirty="0">
                <a:solidFill>
                  <a:srgbClr val="2C3644"/>
                </a:solidFill>
                <a:latin typeface="Calibri" pitchFamily="34" charset="0"/>
                <a:ea typeface="Calibri" pitchFamily="34" charset="-122"/>
                <a:cs typeface="Calibri" pitchFamily="34" charset="-120"/>
              </a:rPr>
              <a:t>Le serveur revérifie toujours la permission, même si l'interface masque le bouton</a:t>
            </a:r>
            <a:endParaRPr lang="en-US" sz="1250" dirty="0"/>
          </a:p>
        </p:txBody>
      </p:sp>
      <p:sp>
        <p:nvSpPr>
          <p:cNvPr id="9" name="Shape 7"/>
          <p:cNvSpPr/>
          <p:nvPr/>
        </p:nvSpPr>
        <p:spPr>
          <a:xfrm>
            <a:off x="502920" y="4992624"/>
            <a:ext cx="82296" cy="82296"/>
          </a:xfrm>
          <a:prstGeom prst="ellipse">
            <a:avLst/>
          </a:prstGeom>
          <a:solidFill>
            <a:srgbClr val="AD5416"/>
          </a:solidFill>
          <a:ln/>
        </p:spPr>
      </p:sp>
      <p:sp>
        <p:nvSpPr>
          <p:cNvPr id="10" name="Text 8"/>
          <p:cNvSpPr/>
          <p:nvPr/>
        </p:nvSpPr>
        <p:spPr>
          <a:xfrm>
            <a:off x="722376" y="4928616"/>
            <a:ext cx="4937760" cy="365760"/>
          </a:xfrm>
          <a:prstGeom prst="rect">
            <a:avLst/>
          </a:prstGeom>
          <a:noFill/>
          <a:ln/>
        </p:spPr>
        <p:txBody>
          <a:bodyPr wrap="square" lIns="0" tIns="0" rIns="0" bIns="0" rtlCol="0" anchor="ctr"/>
          <a:lstStyle/>
          <a:p>
            <a:pPr indent="0" marL="0">
              <a:buNone/>
            </a:pPr>
            <a:r>
              <a:rPr lang="en-US" sz="1250" dirty="0">
                <a:solidFill>
                  <a:srgbClr val="2C3644"/>
                </a:solidFill>
                <a:latin typeface="Calibri" pitchFamily="34" charset="0"/>
                <a:ea typeface="Calibri" pitchFamily="34" charset="-122"/>
                <a:cs typeface="Calibri" pitchFamily="34" charset="-120"/>
              </a:rPr>
              <a:t>Le diagnostic Assistant IA, lui, reste accessible aux deux niveaux</a:t>
            </a:r>
            <a:endParaRPr lang="en-US" sz="1250" dirty="0"/>
          </a:p>
        </p:txBody>
      </p:sp>
      <p:sp>
        <p:nvSpPr>
          <p:cNvPr id="11" name="Shape 9"/>
          <p:cNvSpPr/>
          <p:nvPr/>
        </p:nvSpPr>
        <p:spPr>
          <a:xfrm>
            <a:off x="6080760" y="2080260"/>
            <a:ext cx="5669280" cy="3611880"/>
          </a:xfrm>
          <a:prstGeom prst="roundRect">
            <a:avLst>
              <a:gd name="adj" fmla="val 1519"/>
            </a:avLst>
          </a:prstGeom>
          <a:solidFill>
            <a:srgbClr val="FFFFFF"/>
          </a:solidFill>
          <a:ln w="12700">
            <a:solidFill>
              <a:srgbClr val="CBAF91"/>
            </a:solidFill>
            <a:prstDash val="solid"/>
          </a:ln>
          <a:effectLst>
            <a:outerShdw sx="100000" sy="100000" kx="0" ky="0" algn="bl" rotWithShape="0" blurRad="127000" dist="50800" dir="5400000">
              <a:srgbClr val="000000">
                <a:alpha val="28000"/>
              </a:srgbClr>
            </a:outerShdw>
          </a:effectLst>
        </p:spPr>
      </p:sp>
      <p:pic>
        <p:nvPicPr>
          <p:cNvPr id="12" name="Image 0" descr="/tmp/claude-0/-home-user-Boulangerie/f122e8ab-b408-5ce6-930c-e0c5bddf9e4c/scratchpad/captures/administrateur/07-etat-systeme-secondaire.png">    </p:cNvPr>
          <p:cNvPicPr>
            <a:picLocks noChangeAspect="1"/>
          </p:cNvPicPr>
          <p:nvPr/>
        </p:nvPicPr>
        <p:blipFill>
          <a:blip r:embed="rId1"/>
          <a:stretch>
            <a:fillRect/>
          </a:stretch>
        </p:blipFill>
        <p:spPr>
          <a:xfrm>
            <a:off x="6172200" y="2171700"/>
            <a:ext cx="5486400" cy="3429000"/>
          </a:xfrm>
          <a:prstGeom prst="rect">
            <a:avLst/>
          </a:prstGeom>
        </p:spPr>
      </p:pic>
      <p:sp>
        <p:nvSpPr>
          <p:cNvPr id="13" name="Text 10"/>
          <p:cNvSpPr/>
          <p:nvPr/>
        </p:nvSpPr>
        <p:spPr>
          <a:xfrm>
            <a:off x="502920" y="6400800"/>
            <a:ext cx="11185855" cy="292608"/>
          </a:xfrm>
          <a:prstGeom prst="rect">
            <a:avLst/>
          </a:prstGeom>
          <a:noFill/>
          <a:ln/>
        </p:spPr>
        <p:txBody>
          <a:bodyPr wrap="square" lIns="0" tIns="0" rIns="0" bIns="0" rtlCol="0" anchor="ctr"/>
          <a:lstStyle/>
          <a:p>
            <a:pPr algn="l" indent="0" marL="0">
              <a:buNone/>
            </a:pPr>
            <a:r>
              <a:rPr lang="en-US" sz="950" dirty="0">
                <a:solidFill>
                  <a:srgbClr val="A9A196"/>
                </a:solidFill>
                <a:latin typeface="Calibri" pitchFamily="34" charset="0"/>
                <a:ea typeface="Calibri" pitchFamily="34" charset="-122"/>
                <a:cs typeface="Calibri" pitchFamily="34" charset="-120"/>
              </a:rPr>
              <a:t>11 / 18</a:t>
            </a:r>
            <a:endParaRPr lang="en-US" sz="950" dirty="0"/>
          </a:p>
        </p:txBody>
      </p:sp>
      <p:sp>
        <p:nvSpPr>
          <p:cNvPr id="14" name="Text 11"/>
          <p:cNvSpPr/>
          <p:nvPr/>
        </p:nvSpPr>
        <p:spPr>
          <a:xfrm>
            <a:off x="502920" y="6400800"/>
            <a:ext cx="11185855" cy="292608"/>
          </a:xfrm>
          <a:prstGeom prst="rect">
            <a:avLst/>
          </a:prstGeom>
          <a:noFill/>
          <a:ln/>
        </p:spPr>
        <p:txBody>
          <a:bodyPr wrap="square" lIns="0" tIns="0" rIns="0" bIns="0" rtlCol="0" anchor="ctr"/>
          <a:lstStyle/>
          <a:p>
            <a:pPr algn="r" indent="0" marL="0">
              <a:buNone/>
            </a:pPr>
            <a:r>
              <a:rPr lang="en-US" sz="950" dirty="0">
                <a:solidFill>
                  <a:srgbClr val="A9A196"/>
                </a:solidFill>
                <a:latin typeface="Calibri" pitchFamily="34" charset="0"/>
                <a:ea typeface="Calibri" pitchFamily="34" charset="-122"/>
                <a:cs typeface="Calibri" pitchFamily="34" charset="-120"/>
              </a:rPr>
              <a:t>Boulangerie Lomoto — Guide Administrateur</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lIns="0" tIns="0" rIns="0" bIns="0" rtlCol="0" anchor="ctr"/>
          <a:lstStyle/>
          <a:p>
            <a:pPr indent="0" marL="0">
              <a:buNone/>
            </a:pPr>
            <a:r>
              <a:rPr lang="en-US" sz="1200" b="1" spc="200" kern="0" dirty="0">
                <a:solidFill>
                  <a:srgbClr val="AD5416"/>
                </a:solidFill>
                <a:latin typeface="Calibri" pitchFamily="34" charset="0"/>
                <a:ea typeface="Calibri" pitchFamily="34" charset="-122"/>
                <a:cs typeface="Calibri" pitchFamily="34" charset="-120"/>
              </a:rPr>
              <a:t>MODULE ÉQUIPE — ÉCRITURE</a:t>
            </a:r>
            <a:endParaRPr lang="en-US" sz="1200" dirty="0"/>
          </a:p>
        </p:txBody>
      </p:sp>
      <p:sp>
        <p:nvSpPr>
          <p:cNvPr id="3" name="Text 1"/>
          <p:cNvSpPr/>
          <p:nvPr/>
        </p:nvSpPr>
        <p:spPr>
          <a:xfrm>
            <a:off x="502920" y="658368"/>
            <a:ext cx="5394960" cy="960120"/>
          </a:xfrm>
          <a:prstGeom prst="rect">
            <a:avLst/>
          </a:prstGeom>
          <a:noFill/>
          <a:ln/>
        </p:spPr>
        <p:txBody>
          <a:bodyPr wrap="square" lIns="0" tIns="0" rIns="0" bIns="0" rtlCol="0" anchor="ctr"/>
          <a:lstStyle/>
          <a:p>
            <a:pPr indent="0" marL="0">
              <a:buNone/>
            </a:pPr>
            <a:r>
              <a:rPr lang="en-US" sz="2600" b="1" dirty="0">
                <a:solidFill>
                  <a:srgbClr val="0F1923"/>
                </a:solidFill>
                <a:latin typeface="Cambria" pitchFamily="34" charset="0"/>
                <a:ea typeface="Cambria" pitchFamily="34" charset="-122"/>
                <a:cs typeface="Cambria" pitchFamily="34" charset="-120"/>
              </a:rPr>
              <a:t>État système : ce que voit le Principal</a:t>
            </a:r>
            <a:endParaRPr lang="en-US" sz="2600" dirty="0"/>
          </a:p>
        </p:txBody>
      </p:sp>
      <p:sp>
        <p:nvSpPr>
          <p:cNvPr id="4" name="Shape 2"/>
          <p:cNvSpPr/>
          <p:nvPr/>
        </p:nvSpPr>
        <p:spPr>
          <a:xfrm>
            <a:off x="502920" y="1691640"/>
            <a:ext cx="1371600" cy="329184"/>
          </a:xfrm>
          <a:prstGeom prst="roundRect">
            <a:avLst>
              <a:gd name="adj" fmla="val 50000"/>
            </a:avLst>
          </a:prstGeom>
          <a:solidFill>
            <a:srgbClr val="AD5416"/>
          </a:solidFill>
          <a:ln/>
        </p:spPr>
      </p:sp>
      <p:sp>
        <p:nvSpPr>
          <p:cNvPr id="5" name="Text 3"/>
          <p:cNvSpPr/>
          <p:nvPr/>
        </p:nvSpPr>
        <p:spPr>
          <a:xfrm>
            <a:off x="502920" y="1691640"/>
            <a:ext cx="137160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Vue principale</a:t>
            </a:r>
            <a:endParaRPr lang="en-US" sz="1050" dirty="0"/>
          </a:p>
        </p:txBody>
      </p:sp>
      <p:sp>
        <p:nvSpPr>
          <p:cNvPr id="6" name="Text 4"/>
          <p:cNvSpPr/>
          <p:nvPr/>
        </p:nvSpPr>
        <p:spPr>
          <a:xfrm>
            <a:off x="502920" y="2240280"/>
            <a:ext cx="5120640" cy="3931920"/>
          </a:xfrm>
          <a:prstGeom prst="rect">
            <a:avLst/>
          </a:prstGeom>
          <a:noFill/>
          <a:ln/>
        </p:spPr>
        <p:txBody>
          <a:bodyPr wrap="square" lIns="0" tIns="0" rIns="0" bIns="0" rtlCol="0" anchor="t"/>
          <a:lstStyle/>
          <a:p>
            <a:pPr indent="0" marL="0">
              <a:lnSpc>
                <a:spcPct val="122000"/>
              </a:lnSpc>
              <a:spcAft>
                <a:spcPts val="1400"/>
              </a:spcAft>
              <a:buNone/>
            </a:pPr>
            <a:r>
              <a:rPr lang="en-US" sz="1300" dirty="0">
                <a:solidFill>
                  <a:srgbClr val="2C3644"/>
                </a:solidFill>
                <a:latin typeface="Calibri" pitchFamily="34" charset="0"/>
                <a:ea typeface="Calibri" pitchFamily="34" charset="-122"/>
                <a:cs typeface="Calibri" pitchFamily="34" charset="-120"/>
              </a:rPr>
              <a:t>Deux boutons supplémentaires apparaissent : télécharger la dernière sauvegarde automatique déjà écrite sur le serveur, ou en générer une nouvelle à la demande.</a:t>
            </a:r>
            <a:endParaRPr lang="en-US" sz="1300" dirty="0"/>
          </a:p>
          <a:p>
            <a:pPr indent="0" marL="0">
              <a:lnSpc>
                <a:spcPct val="122000"/>
              </a:lnSpc>
              <a:spcAft>
                <a:spcPts val="1400"/>
              </a:spcAft>
              <a:buNone/>
            </a:pPr>
            <a:r>
              <a:rPr lang="en-US" sz="1300" dirty="0">
                <a:solidFill>
                  <a:srgbClr val="2C3644"/>
                </a:solidFill>
                <a:latin typeface="Calibri" pitchFamily="34" charset="0"/>
                <a:ea typeface="Calibri" pitchFamily="34" charset="-122"/>
                <a:cs typeface="Calibri" pitchFamily="34" charset="-120"/>
              </a:rPr>
              <a:t>Une sauvegarde automatique tourne chaque nuit et reste sur le disque du serveur — non garanti de survivre à un redéploiement. Le Principal est responsable d'en garder une copie externe régulièrement (clé USB, disque).</a:t>
            </a:r>
            <a:endParaRPr lang="en-US" sz="1300" dirty="0"/>
          </a:p>
        </p:txBody>
      </p:sp>
      <p:sp>
        <p:nvSpPr>
          <p:cNvPr id="7" name="Shape 5"/>
          <p:cNvSpPr/>
          <p:nvPr/>
        </p:nvSpPr>
        <p:spPr>
          <a:xfrm>
            <a:off x="502920" y="4681728"/>
            <a:ext cx="82296" cy="82296"/>
          </a:xfrm>
          <a:prstGeom prst="ellipse">
            <a:avLst/>
          </a:prstGeom>
          <a:solidFill>
            <a:srgbClr val="AD5416"/>
          </a:solidFill>
          <a:ln/>
        </p:spPr>
      </p:sp>
      <p:sp>
        <p:nvSpPr>
          <p:cNvPr id="8" name="Text 6"/>
          <p:cNvSpPr/>
          <p:nvPr/>
        </p:nvSpPr>
        <p:spPr>
          <a:xfrm>
            <a:off x="722376" y="4617720"/>
            <a:ext cx="4937760" cy="365760"/>
          </a:xfrm>
          <a:prstGeom prst="rect">
            <a:avLst/>
          </a:prstGeom>
          <a:noFill/>
          <a:ln/>
        </p:spPr>
        <p:txBody>
          <a:bodyPr wrap="square" lIns="0" tIns="0" rIns="0" bIns="0" rtlCol="0" anchor="ctr"/>
          <a:lstStyle/>
          <a:p>
            <a:pPr indent="0" marL="0">
              <a:buNone/>
            </a:pPr>
            <a:r>
              <a:rPr lang="en-US" sz="1250" dirty="0">
                <a:solidFill>
                  <a:srgbClr val="2C3644"/>
                </a:solidFill>
                <a:latin typeface="Calibri" pitchFamily="34" charset="0"/>
                <a:ea typeface="Calibri" pitchFamily="34" charset="-122"/>
                <a:cs typeface="Calibri" pitchFamily="34" charset="-120"/>
              </a:rPr>
              <a:t>Chaque sauvegarde (auto ou manuelle) est journalisée, succès ou échec</a:t>
            </a:r>
            <a:endParaRPr lang="en-US" sz="1250" dirty="0"/>
          </a:p>
        </p:txBody>
      </p:sp>
      <p:sp>
        <p:nvSpPr>
          <p:cNvPr id="9" name="Shape 7"/>
          <p:cNvSpPr/>
          <p:nvPr/>
        </p:nvSpPr>
        <p:spPr>
          <a:xfrm>
            <a:off x="502920" y="5084064"/>
            <a:ext cx="82296" cy="82296"/>
          </a:xfrm>
          <a:prstGeom prst="ellipse">
            <a:avLst/>
          </a:prstGeom>
          <a:solidFill>
            <a:srgbClr val="AD5416"/>
          </a:solidFill>
          <a:ln/>
        </p:spPr>
      </p:sp>
      <p:sp>
        <p:nvSpPr>
          <p:cNvPr id="10" name="Text 8"/>
          <p:cNvSpPr/>
          <p:nvPr/>
        </p:nvSpPr>
        <p:spPr>
          <a:xfrm>
            <a:off x="722376" y="5020056"/>
            <a:ext cx="4937760" cy="365760"/>
          </a:xfrm>
          <a:prstGeom prst="rect">
            <a:avLst/>
          </a:prstGeom>
          <a:noFill/>
          <a:ln/>
        </p:spPr>
        <p:txBody>
          <a:bodyPr wrap="square" lIns="0" tIns="0" rIns="0" bIns="0" rtlCol="0" anchor="ctr"/>
          <a:lstStyle/>
          <a:p>
            <a:pPr indent="0" marL="0">
              <a:buNone/>
            </a:pPr>
            <a:r>
              <a:rPr lang="en-US" sz="1250" dirty="0">
                <a:solidFill>
                  <a:srgbClr val="2C3644"/>
                </a:solidFill>
                <a:latin typeface="Calibri" pitchFamily="34" charset="0"/>
                <a:ea typeface="Calibri" pitchFamily="34" charset="-122"/>
                <a:cs typeface="Calibri" pitchFamily="34" charset="-120"/>
              </a:rPr>
              <a:t>La réinitialisation de la base, plus bas sur cet écran, est irréversible et exige une confirmation par saisie exacte</a:t>
            </a:r>
            <a:endParaRPr lang="en-US" sz="1250" dirty="0"/>
          </a:p>
        </p:txBody>
      </p:sp>
      <p:sp>
        <p:nvSpPr>
          <p:cNvPr id="11" name="Shape 9"/>
          <p:cNvSpPr/>
          <p:nvPr/>
        </p:nvSpPr>
        <p:spPr>
          <a:xfrm>
            <a:off x="6080760" y="2080260"/>
            <a:ext cx="5669280" cy="3611880"/>
          </a:xfrm>
          <a:prstGeom prst="roundRect">
            <a:avLst>
              <a:gd name="adj" fmla="val 1519"/>
            </a:avLst>
          </a:prstGeom>
          <a:solidFill>
            <a:srgbClr val="FFFFFF"/>
          </a:solidFill>
          <a:ln w="12700">
            <a:solidFill>
              <a:srgbClr val="CBAF91"/>
            </a:solidFill>
            <a:prstDash val="solid"/>
          </a:ln>
          <a:effectLst>
            <a:outerShdw sx="100000" sy="100000" kx="0" ky="0" algn="bl" rotWithShape="0" blurRad="127000" dist="50800" dir="5400000">
              <a:srgbClr val="000000">
                <a:alpha val="28000"/>
              </a:srgbClr>
            </a:outerShdw>
          </a:effectLst>
        </p:spPr>
      </p:sp>
      <p:pic>
        <p:nvPicPr>
          <p:cNvPr id="12" name="Image 0" descr="/tmp/claude-0/-home-user-Boulangerie/f122e8ab-b408-5ce6-930c-e0c5bddf9e4c/scratchpad/captures/administrateur/13-etat-systeme-principal.png">    </p:cNvPr>
          <p:cNvPicPr>
            <a:picLocks noChangeAspect="1"/>
          </p:cNvPicPr>
          <p:nvPr/>
        </p:nvPicPr>
        <p:blipFill>
          <a:blip r:embed="rId1"/>
          <a:stretch>
            <a:fillRect/>
          </a:stretch>
        </p:blipFill>
        <p:spPr>
          <a:xfrm>
            <a:off x="6172200" y="2171700"/>
            <a:ext cx="5486400" cy="3429000"/>
          </a:xfrm>
          <a:prstGeom prst="rect">
            <a:avLst/>
          </a:prstGeom>
        </p:spPr>
      </p:pic>
      <p:sp>
        <p:nvSpPr>
          <p:cNvPr id="13" name="Text 10"/>
          <p:cNvSpPr/>
          <p:nvPr/>
        </p:nvSpPr>
        <p:spPr>
          <a:xfrm>
            <a:off x="502920" y="6400800"/>
            <a:ext cx="11185855" cy="292608"/>
          </a:xfrm>
          <a:prstGeom prst="rect">
            <a:avLst/>
          </a:prstGeom>
          <a:noFill/>
          <a:ln/>
        </p:spPr>
        <p:txBody>
          <a:bodyPr wrap="square" lIns="0" tIns="0" rIns="0" bIns="0" rtlCol="0" anchor="ctr"/>
          <a:lstStyle/>
          <a:p>
            <a:pPr algn="l" indent="0" marL="0">
              <a:buNone/>
            </a:pPr>
            <a:r>
              <a:rPr lang="en-US" sz="950" dirty="0">
                <a:solidFill>
                  <a:srgbClr val="A9A196"/>
                </a:solidFill>
                <a:latin typeface="Calibri" pitchFamily="34" charset="0"/>
                <a:ea typeface="Calibri" pitchFamily="34" charset="-122"/>
                <a:cs typeface="Calibri" pitchFamily="34" charset="-120"/>
              </a:rPr>
              <a:t>12 / 18</a:t>
            </a:r>
            <a:endParaRPr lang="en-US" sz="950" dirty="0"/>
          </a:p>
        </p:txBody>
      </p:sp>
      <p:sp>
        <p:nvSpPr>
          <p:cNvPr id="14" name="Text 11"/>
          <p:cNvSpPr/>
          <p:nvPr/>
        </p:nvSpPr>
        <p:spPr>
          <a:xfrm>
            <a:off x="502920" y="6400800"/>
            <a:ext cx="11185855" cy="292608"/>
          </a:xfrm>
          <a:prstGeom prst="rect">
            <a:avLst/>
          </a:prstGeom>
          <a:noFill/>
          <a:ln/>
        </p:spPr>
        <p:txBody>
          <a:bodyPr wrap="square" lIns="0" tIns="0" rIns="0" bIns="0" rtlCol="0" anchor="ctr"/>
          <a:lstStyle/>
          <a:p>
            <a:pPr algn="r" indent="0" marL="0">
              <a:buNone/>
            </a:pPr>
            <a:r>
              <a:rPr lang="en-US" sz="950" dirty="0">
                <a:solidFill>
                  <a:srgbClr val="A9A196"/>
                </a:solidFill>
                <a:latin typeface="Calibri" pitchFamily="34" charset="0"/>
                <a:ea typeface="Calibri" pitchFamily="34" charset="-122"/>
                <a:cs typeface="Calibri" pitchFamily="34" charset="-120"/>
              </a:rPr>
              <a:t>Boulangerie Lomoto — Guide Administrateur</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lIns="0" tIns="0" rIns="0" bIns="0" rtlCol="0" anchor="ctr"/>
          <a:lstStyle/>
          <a:p>
            <a:pPr indent="0" marL="0">
              <a:buNone/>
            </a:pPr>
            <a:r>
              <a:rPr lang="en-US" sz="1200" b="1" spc="200" kern="0" dirty="0">
                <a:solidFill>
                  <a:srgbClr val="AD5416"/>
                </a:solidFill>
                <a:latin typeface="Calibri" pitchFamily="34" charset="0"/>
                <a:ea typeface="Calibri" pitchFamily="34" charset="-122"/>
                <a:cs typeface="Calibri" pitchFamily="34" charset="-120"/>
              </a:rPr>
              <a:t>LECTURE ÉTENDUE</a:t>
            </a:r>
            <a:endParaRPr lang="en-US" sz="1200" dirty="0"/>
          </a:p>
        </p:txBody>
      </p:sp>
      <p:sp>
        <p:nvSpPr>
          <p:cNvPr id="3" name="Text 1"/>
          <p:cNvSpPr/>
          <p:nvPr/>
        </p:nvSpPr>
        <p:spPr>
          <a:xfrm>
            <a:off x="502920" y="658368"/>
            <a:ext cx="5394960" cy="960120"/>
          </a:xfrm>
          <a:prstGeom prst="rect">
            <a:avLst/>
          </a:prstGeom>
          <a:noFill/>
          <a:ln/>
        </p:spPr>
        <p:txBody>
          <a:bodyPr wrap="square" lIns="0" tIns="0" rIns="0" bIns="0" rtlCol="0" anchor="ctr"/>
          <a:lstStyle/>
          <a:p>
            <a:pPr indent="0" marL="0">
              <a:buNone/>
            </a:pPr>
            <a:r>
              <a:rPr lang="en-US" sz="2600" b="1" dirty="0">
                <a:solidFill>
                  <a:srgbClr val="0F1923"/>
                </a:solidFill>
                <a:latin typeface="Cambria" pitchFamily="34" charset="0"/>
                <a:ea typeface="Cambria" pitchFamily="34" charset="-122"/>
                <a:cs typeface="Cambria" pitchFamily="34" charset="-120"/>
              </a:rPr>
              <a:t>Journal d'audit : la traçabilité totale</a:t>
            </a:r>
            <a:endParaRPr lang="en-US" sz="2600" dirty="0"/>
          </a:p>
        </p:txBody>
      </p:sp>
      <p:sp>
        <p:nvSpPr>
          <p:cNvPr id="4" name="Text 2"/>
          <p:cNvSpPr/>
          <p:nvPr/>
        </p:nvSpPr>
        <p:spPr>
          <a:xfrm>
            <a:off x="502920" y="1828800"/>
            <a:ext cx="5120640" cy="3931920"/>
          </a:xfrm>
          <a:prstGeom prst="rect">
            <a:avLst/>
          </a:prstGeom>
          <a:noFill/>
          <a:ln/>
        </p:spPr>
        <p:txBody>
          <a:bodyPr wrap="square" lIns="0" tIns="0" rIns="0" bIns="0" rtlCol="0" anchor="t"/>
          <a:lstStyle/>
          <a:p>
            <a:pPr indent="0" marL="0">
              <a:lnSpc>
                <a:spcPct val="122000"/>
              </a:lnSpc>
              <a:spcAft>
                <a:spcPts val="1400"/>
              </a:spcAft>
              <a:buNone/>
            </a:pPr>
            <a:r>
              <a:rPr lang="en-US" sz="1300" dirty="0">
                <a:solidFill>
                  <a:srgbClr val="2C3644"/>
                </a:solidFill>
                <a:latin typeface="Calibri" pitchFamily="34" charset="0"/>
                <a:ea typeface="Calibri" pitchFamily="34" charset="-122"/>
                <a:cs typeface="Calibri" pitchFamily="34" charset="-120"/>
              </a:rPr>
              <a:t>Historique immuable de toutes les modifications et suppressions faites dans l'application, tous rôles confondus — réservé au DG et aux Administrateurs.</a:t>
            </a:r>
            <a:endParaRPr lang="en-US" sz="1300" dirty="0"/>
          </a:p>
          <a:p>
            <a:pPr indent="0" marL="0">
              <a:lnSpc>
                <a:spcPct val="122000"/>
              </a:lnSpc>
              <a:spcAft>
                <a:spcPts val="1400"/>
              </a:spcAft>
              <a:buNone/>
            </a:pPr>
            <a:r>
              <a:rPr lang="en-US" sz="1300" dirty="0">
                <a:solidFill>
                  <a:srgbClr val="2C3644"/>
                </a:solidFill>
                <a:latin typeface="Calibri" pitchFamily="34" charset="0"/>
                <a:ea typeface="Calibri" pitchFamily="34" charset="-122"/>
                <a:cs typeface="Calibri" pitchFamily="34" charset="-120"/>
              </a:rPr>
              <a:t>Chaque ligne se déplie pour comparer l'avant et l'après, champ par champ. Filtrez par utilisateur, par module ou par période pour retrouver une action précise.</a:t>
            </a:r>
            <a:endParaRPr lang="en-US" sz="1300" dirty="0"/>
          </a:p>
        </p:txBody>
      </p:sp>
      <p:sp>
        <p:nvSpPr>
          <p:cNvPr id="5" name="Shape 3"/>
          <p:cNvSpPr/>
          <p:nvPr/>
        </p:nvSpPr>
        <p:spPr>
          <a:xfrm>
            <a:off x="502920" y="4178808"/>
            <a:ext cx="82296" cy="82296"/>
          </a:xfrm>
          <a:prstGeom prst="ellipse">
            <a:avLst/>
          </a:prstGeom>
          <a:solidFill>
            <a:srgbClr val="AD5416"/>
          </a:solidFill>
          <a:ln/>
        </p:spPr>
      </p:sp>
      <p:sp>
        <p:nvSpPr>
          <p:cNvPr id="6" name="Text 4"/>
          <p:cNvSpPr/>
          <p:nvPr/>
        </p:nvSpPr>
        <p:spPr>
          <a:xfrm>
            <a:off x="722376" y="4114800"/>
            <a:ext cx="4937760" cy="365760"/>
          </a:xfrm>
          <a:prstGeom prst="rect">
            <a:avLst/>
          </a:prstGeom>
          <a:noFill/>
          <a:ln/>
        </p:spPr>
        <p:txBody>
          <a:bodyPr wrap="square" lIns="0" tIns="0" rIns="0" bIns="0" rtlCol="0" anchor="ctr"/>
          <a:lstStyle/>
          <a:p>
            <a:pPr indent="0" marL="0">
              <a:buNone/>
            </a:pPr>
            <a:r>
              <a:rPr lang="en-US" sz="1250" dirty="0">
                <a:solidFill>
                  <a:srgbClr val="2C3644"/>
                </a:solidFill>
                <a:latin typeface="Calibri" pitchFamily="34" charset="0"/>
                <a:ea typeface="Calibri" pitchFamily="34" charset="-122"/>
                <a:cs typeface="Calibri" pitchFamily="34" charset="-120"/>
              </a:rPr>
              <a:t>Rien n'est jamais retiré de ce journal, y compris vos propres actions</a:t>
            </a:r>
            <a:endParaRPr lang="en-US" sz="1250" dirty="0"/>
          </a:p>
        </p:txBody>
      </p:sp>
      <p:sp>
        <p:nvSpPr>
          <p:cNvPr id="7" name="Shape 5"/>
          <p:cNvSpPr/>
          <p:nvPr/>
        </p:nvSpPr>
        <p:spPr>
          <a:xfrm>
            <a:off x="502920" y="4581144"/>
            <a:ext cx="82296" cy="82296"/>
          </a:xfrm>
          <a:prstGeom prst="ellipse">
            <a:avLst/>
          </a:prstGeom>
          <a:solidFill>
            <a:srgbClr val="AD5416"/>
          </a:solidFill>
          <a:ln/>
        </p:spPr>
      </p:sp>
      <p:sp>
        <p:nvSpPr>
          <p:cNvPr id="8" name="Text 6"/>
          <p:cNvSpPr/>
          <p:nvPr/>
        </p:nvSpPr>
        <p:spPr>
          <a:xfrm>
            <a:off x="722376" y="4517136"/>
            <a:ext cx="4937760" cy="365760"/>
          </a:xfrm>
          <a:prstGeom prst="rect">
            <a:avLst/>
          </a:prstGeom>
          <a:noFill/>
          <a:ln/>
        </p:spPr>
        <p:txBody>
          <a:bodyPr wrap="square" lIns="0" tIns="0" rIns="0" bIns="0" rtlCol="0" anchor="ctr"/>
          <a:lstStyle/>
          <a:p>
            <a:pPr indent="0" marL="0">
              <a:buNone/>
            </a:pPr>
            <a:r>
              <a:rPr lang="en-US" sz="1250" dirty="0">
                <a:solidFill>
                  <a:srgbClr val="2C3644"/>
                </a:solidFill>
                <a:latin typeface="Calibri" pitchFamily="34" charset="0"/>
                <a:ea typeface="Calibri" pitchFamily="34" charset="-122"/>
                <a:cs typeface="Calibri" pitchFamily="34" charset="-120"/>
              </a:rPr>
              <a:t>Une intervention du Principal hors de son périmètre habituel y est visible comme toute autre action</a:t>
            </a:r>
            <a:endParaRPr lang="en-US" sz="1250" dirty="0"/>
          </a:p>
        </p:txBody>
      </p:sp>
      <p:sp>
        <p:nvSpPr>
          <p:cNvPr id="9" name="Shape 7"/>
          <p:cNvSpPr/>
          <p:nvPr/>
        </p:nvSpPr>
        <p:spPr>
          <a:xfrm>
            <a:off x="6080760" y="2080260"/>
            <a:ext cx="5669280" cy="3611880"/>
          </a:xfrm>
          <a:prstGeom prst="roundRect">
            <a:avLst>
              <a:gd name="adj" fmla="val 1519"/>
            </a:avLst>
          </a:prstGeom>
          <a:solidFill>
            <a:srgbClr val="FFFFFF"/>
          </a:solidFill>
          <a:ln w="12700">
            <a:solidFill>
              <a:srgbClr val="CBAF91"/>
            </a:solidFill>
            <a:prstDash val="solid"/>
          </a:ln>
          <a:effectLst>
            <a:outerShdw sx="100000" sy="100000" kx="0" ky="0" algn="bl" rotWithShape="0" blurRad="127000" dist="50800" dir="5400000">
              <a:srgbClr val="000000">
                <a:alpha val="28000"/>
              </a:srgbClr>
            </a:outerShdw>
          </a:effectLst>
        </p:spPr>
      </p:sp>
      <p:pic>
        <p:nvPicPr>
          <p:cNvPr id="10" name="Image 0" descr="/tmp/claude-0/-home-user-Boulangerie/f122e8ab-b408-5ce6-930c-e0c5bddf9e4c/scratchpad/captures/administrateur/14-journal-audit.png">    </p:cNvPr>
          <p:cNvPicPr>
            <a:picLocks noChangeAspect="1"/>
          </p:cNvPicPr>
          <p:nvPr/>
        </p:nvPicPr>
        <p:blipFill>
          <a:blip r:embed="rId1"/>
          <a:stretch>
            <a:fillRect/>
          </a:stretch>
        </p:blipFill>
        <p:spPr>
          <a:xfrm>
            <a:off x="6172200" y="2171700"/>
            <a:ext cx="5486400" cy="3429000"/>
          </a:xfrm>
          <a:prstGeom prst="rect">
            <a:avLst/>
          </a:prstGeom>
        </p:spPr>
      </p:pic>
      <p:sp>
        <p:nvSpPr>
          <p:cNvPr id="11" name="Text 8"/>
          <p:cNvSpPr/>
          <p:nvPr/>
        </p:nvSpPr>
        <p:spPr>
          <a:xfrm>
            <a:off x="502920" y="6400800"/>
            <a:ext cx="11185855" cy="292608"/>
          </a:xfrm>
          <a:prstGeom prst="rect">
            <a:avLst/>
          </a:prstGeom>
          <a:noFill/>
          <a:ln/>
        </p:spPr>
        <p:txBody>
          <a:bodyPr wrap="square" lIns="0" tIns="0" rIns="0" bIns="0" rtlCol="0" anchor="ctr"/>
          <a:lstStyle/>
          <a:p>
            <a:pPr algn="l" indent="0" marL="0">
              <a:buNone/>
            </a:pPr>
            <a:r>
              <a:rPr lang="en-US" sz="950" dirty="0">
                <a:solidFill>
                  <a:srgbClr val="A9A196"/>
                </a:solidFill>
                <a:latin typeface="Calibri" pitchFamily="34" charset="0"/>
                <a:ea typeface="Calibri" pitchFamily="34" charset="-122"/>
                <a:cs typeface="Calibri" pitchFamily="34" charset="-120"/>
              </a:rPr>
              <a:t>13 / 18</a:t>
            </a:r>
            <a:endParaRPr lang="en-US" sz="950" dirty="0"/>
          </a:p>
        </p:txBody>
      </p:sp>
      <p:sp>
        <p:nvSpPr>
          <p:cNvPr id="12" name="Text 9"/>
          <p:cNvSpPr/>
          <p:nvPr/>
        </p:nvSpPr>
        <p:spPr>
          <a:xfrm>
            <a:off x="502920" y="6400800"/>
            <a:ext cx="11185855" cy="292608"/>
          </a:xfrm>
          <a:prstGeom prst="rect">
            <a:avLst/>
          </a:prstGeom>
          <a:noFill/>
          <a:ln/>
        </p:spPr>
        <p:txBody>
          <a:bodyPr wrap="square" lIns="0" tIns="0" rIns="0" bIns="0" rtlCol="0" anchor="ctr"/>
          <a:lstStyle/>
          <a:p>
            <a:pPr algn="r" indent="0" marL="0">
              <a:buNone/>
            </a:pPr>
            <a:r>
              <a:rPr lang="en-US" sz="950" dirty="0">
                <a:solidFill>
                  <a:srgbClr val="A9A196"/>
                </a:solidFill>
                <a:latin typeface="Calibri" pitchFamily="34" charset="0"/>
                <a:ea typeface="Calibri" pitchFamily="34" charset="-122"/>
                <a:cs typeface="Calibri" pitchFamily="34" charset="-120"/>
              </a:rPr>
              <a:t>Boulangerie Lomoto — Guide Administrateur</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lIns="0" tIns="0" rIns="0" bIns="0" rtlCol="0" anchor="ctr"/>
          <a:lstStyle/>
          <a:p>
            <a:pPr indent="0" marL="0">
              <a:buNone/>
            </a:pPr>
            <a:r>
              <a:rPr lang="en-US" sz="1200" b="1" spc="200" kern="0" dirty="0">
                <a:solidFill>
                  <a:srgbClr val="AD5416"/>
                </a:solidFill>
                <a:latin typeface="Calibri" pitchFamily="34" charset="0"/>
                <a:ea typeface="Calibri" pitchFamily="34" charset="-122"/>
                <a:cs typeface="Calibri" pitchFamily="34" charset="-120"/>
              </a:rPr>
              <a:t>RESTER INFORMÉ(E)</a:t>
            </a:r>
            <a:endParaRPr lang="en-US" sz="1200" dirty="0"/>
          </a:p>
        </p:txBody>
      </p:sp>
      <p:sp>
        <p:nvSpPr>
          <p:cNvPr id="3" name="Text 1"/>
          <p:cNvSpPr/>
          <p:nvPr/>
        </p:nvSpPr>
        <p:spPr>
          <a:xfrm>
            <a:off x="502920" y="658368"/>
            <a:ext cx="5394960" cy="960120"/>
          </a:xfrm>
          <a:prstGeom prst="rect">
            <a:avLst/>
          </a:prstGeom>
          <a:noFill/>
          <a:ln/>
        </p:spPr>
        <p:txBody>
          <a:bodyPr wrap="square" lIns="0" tIns="0" rIns="0" bIns="0" rtlCol="0" anchor="ctr"/>
          <a:lstStyle/>
          <a:p>
            <a:pPr indent="0" marL="0">
              <a:buNone/>
            </a:pPr>
            <a:r>
              <a:rPr lang="en-US" sz="2600" b="1" dirty="0">
                <a:solidFill>
                  <a:srgbClr val="0F1923"/>
                </a:solidFill>
                <a:latin typeface="Cambria" pitchFamily="34" charset="0"/>
                <a:ea typeface="Cambria" pitchFamily="34" charset="-122"/>
                <a:cs typeface="Cambria" pitchFamily="34" charset="-120"/>
              </a:rPr>
              <a:t>Notifications en temps réel</a:t>
            </a:r>
            <a:endParaRPr lang="en-US" sz="2600" dirty="0"/>
          </a:p>
        </p:txBody>
      </p:sp>
      <p:sp>
        <p:nvSpPr>
          <p:cNvPr id="4" name="Text 2"/>
          <p:cNvSpPr/>
          <p:nvPr/>
        </p:nvSpPr>
        <p:spPr>
          <a:xfrm>
            <a:off x="502920" y="1828800"/>
            <a:ext cx="5120640" cy="3931920"/>
          </a:xfrm>
          <a:prstGeom prst="rect">
            <a:avLst/>
          </a:prstGeom>
          <a:noFill/>
          <a:ln/>
        </p:spPr>
        <p:txBody>
          <a:bodyPr wrap="square" lIns="0" tIns="0" rIns="0" bIns="0" rtlCol="0" anchor="t"/>
          <a:lstStyle/>
          <a:p>
            <a:pPr indent="0" marL="0">
              <a:lnSpc>
                <a:spcPct val="122000"/>
              </a:lnSpc>
              <a:spcAft>
                <a:spcPts val="1400"/>
              </a:spcAft>
              <a:buNone/>
            </a:pPr>
            <a:r>
              <a:rPr lang="en-US" sz="1300" dirty="0">
                <a:solidFill>
                  <a:srgbClr val="2C3644"/>
                </a:solidFill>
                <a:latin typeface="Calibri" pitchFamily="34" charset="0"/>
                <a:ea typeface="Calibri" pitchFamily="34" charset="-122"/>
                <a:cs typeface="Calibri" pitchFamily="34" charset="-120"/>
              </a:rPr>
              <a:t>La cloche en haut à droite affiche un badge dès qu'un événement vous concerne — en priorité les demandes d'approbation, envoyées en temps réel au Principal dès qu'un secondaire soumet une tâche critique.</a:t>
            </a:r>
            <a:endParaRPr lang="en-US" sz="1300" dirty="0"/>
          </a:p>
          <a:p>
            <a:pPr indent="0" marL="0">
              <a:lnSpc>
                <a:spcPct val="122000"/>
              </a:lnSpc>
              <a:spcAft>
                <a:spcPts val="1400"/>
              </a:spcAft>
              <a:buNone/>
            </a:pPr>
            <a:r>
              <a:rPr lang="en-US" sz="1300" dirty="0">
                <a:solidFill>
                  <a:srgbClr val="2C3644"/>
                </a:solidFill>
                <a:latin typeface="Calibri" pitchFamily="34" charset="0"/>
                <a:ea typeface="Calibri" pitchFamily="34" charset="-122"/>
                <a:cs typeface="Calibri" pitchFamily="34" charset="-120"/>
              </a:rPr>
              <a:t>Les messages laissés à l'équipe depuis l'Assistant remontent aussi ici, avec la même priorité haute que les demandes d'approbation.</a:t>
            </a:r>
            <a:endParaRPr lang="en-US" sz="1300" dirty="0"/>
          </a:p>
        </p:txBody>
      </p:sp>
      <p:sp>
        <p:nvSpPr>
          <p:cNvPr id="5" name="Shape 3"/>
          <p:cNvSpPr/>
          <p:nvPr/>
        </p:nvSpPr>
        <p:spPr>
          <a:xfrm>
            <a:off x="502920" y="4178808"/>
            <a:ext cx="82296" cy="82296"/>
          </a:xfrm>
          <a:prstGeom prst="ellipse">
            <a:avLst/>
          </a:prstGeom>
          <a:solidFill>
            <a:srgbClr val="AD5416"/>
          </a:solidFill>
          <a:ln/>
        </p:spPr>
      </p:sp>
      <p:sp>
        <p:nvSpPr>
          <p:cNvPr id="6" name="Text 4"/>
          <p:cNvSpPr/>
          <p:nvPr/>
        </p:nvSpPr>
        <p:spPr>
          <a:xfrm>
            <a:off x="722376" y="4114800"/>
            <a:ext cx="4937760" cy="365760"/>
          </a:xfrm>
          <a:prstGeom prst="rect">
            <a:avLst/>
          </a:prstGeom>
          <a:noFill/>
          <a:ln/>
        </p:spPr>
        <p:txBody>
          <a:bodyPr wrap="square" lIns="0" tIns="0" rIns="0" bIns="0" rtlCol="0" anchor="ctr"/>
          <a:lstStyle/>
          <a:p>
            <a:pPr indent="0" marL="0">
              <a:buNone/>
            </a:pPr>
            <a:r>
              <a:rPr lang="en-US" sz="1250" dirty="0">
                <a:solidFill>
                  <a:srgbClr val="2C3644"/>
                </a:solidFill>
                <a:latin typeface="Calibri" pitchFamily="34" charset="0"/>
                <a:ea typeface="Calibri" pitchFamily="34" charset="-122"/>
                <a:cs typeface="Calibri" pitchFamily="34" charset="-120"/>
              </a:rPr>
              <a:t>« Tout lire » marque toutes les notifications comme vues</a:t>
            </a:r>
            <a:endParaRPr lang="en-US" sz="1250" dirty="0"/>
          </a:p>
        </p:txBody>
      </p:sp>
      <p:sp>
        <p:nvSpPr>
          <p:cNvPr id="7" name="Shape 5"/>
          <p:cNvSpPr/>
          <p:nvPr/>
        </p:nvSpPr>
        <p:spPr>
          <a:xfrm>
            <a:off x="502920" y="4581144"/>
            <a:ext cx="82296" cy="82296"/>
          </a:xfrm>
          <a:prstGeom prst="ellipse">
            <a:avLst/>
          </a:prstGeom>
          <a:solidFill>
            <a:srgbClr val="AD5416"/>
          </a:solidFill>
          <a:ln/>
        </p:spPr>
      </p:sp>
      <p:sp>
        <p:nvSpPr>
          <p:cNvPr id="8" name="Text 6"/>
          <p:cNvSpPr/>
          <p:nvPr/>
        </p:nvSpPr>
        <p:spPr>
          <a:xfrm>
            <a:off x="722376" y="4517136"/>
            <a:ext cx="4937760" cy="365760"/>
          </a:xfrm>
          <a:prstGeom prst="rect">
            <a:avLst/>
          </a:prstGeom>
          <a:noFill/>
          <a:ln/>
        </p:spPr>
        <p:txBody>
          <a:bodyPr wrap="square" lIns="0" tIns="0" rIns="0" bIns="0" rtlCol="0" anchor="ctr"/>
          <a:lstStyle/>
          <a:p>
            <a:pPr indent="0" marL="0">
              <a:buNone/>
            </a:pPr>
            <a:r>
              <a:rPr lang="en-US" sz="1250" dirty="0">
                <a:solidFill>
                  <a:srgbClr val="2C3644"/>
                </a:solidFill>
                <a:latin typeface="Calibri" pitchFamily="34" charset="0"/>
                <a:ea typeface="Calibri" pitchFamily="34" charset="-122"/>
                <a:cs typeface="Calibri" pitchFamily="34" charset="-120"/>
              </a:rPr>
              <a:t>Rien à installer : ça fonctionne tant que vous êtes connecté(e)</a:t>
            </a:r>
            <a:endParaRPr lang="en-US" sz="1250" dirty="0"/>
          </a:p>
        </p:txBody>
      </p:sp>
      <p:sp>
        <p:nvSpPr>
          <p:cNvPr id="9" name="Shape 7"/>
          <p:cNvSpPr/>
          <p:nvPr/>
        </p:nvSpPr>
        <p:spPr>
          <a:xfrm>
            <a:off x="6080760" y="2080260"/>
            <a:ext cx="5669280" cy="3611880"/>
          </a:xfrm>
          <a:prstGeom prst="roundRect">
            <a:avLst>
              <a:gd name="adj" fmla="val 1519"/>
            </a:avLst>
          </a:prstGeom>
          <a:solidFill>
            <a:srgbClr val="FFFFFF"/>
          </a:solidFill>
          <a:ln w="12700">
            <a:solidFill>
              <a:srgbClr val="CBAF91"/>
            </a:solidFill>
            <a:prstDash val="solid"/>
          </a:ln>
          <a:effectLst>
            <a:outerShdw sx="100000" sy="100000" kx="0" ky="0" algn="bl" rotWithShape="0" blurRad="127000" dist="50800" dir="5400000">
              <a:srgbClr val="000000">
                <a:alpha val="28000"/>
              </a:srgbClr>
            </a:outerShdw>
          </a:effectLst>
        </p:spPr>
      </p:sp>
      <p:pic>
        <p:nvPicPr>
          <p:cNvPr id="10" name="Image 0" descr="/tmp/claude-0/-home-user-Boulangerie/f122e8ab-b408-5ce6-930c-e0c5bddf9e4c/scratchpad/captures/administrateur/10-notifications-principal.png">    </p:cNvPr>
          <p:cNvPicPr>
            <a:picLocks noChangeAspect="1"/>
          </p:cNvPicPr>
          <p:nvPr/>
        </p:nvPicPr>
        <p:blipFill>
          <a:blip r:embed="rId1"/>
          <a:stretch>
            <a:fillRect/>
          </a:stretch>
        </p:blipFill>
        <p:spPr>
          <a:xfrm>
            <a:off x="6172200" y="2171700"/>
            <a:ext cx="5486400" cy="3429000"/>
          </a:xfrm>
          <a:prstGeom prst="rect">
            <a:avLst/>
          </a:prstGeom>
        </p:spPr>
      </p:pic>
      <p:sp>
        <p:nvSpPr>
          <p:cNvPr id="11" name="Text 8"/>
          <p:cNvSpPr/>
          <p:nvPr/>
        </p:nvSpPr>
        <p:spPr>
          <a:xfrm>
            <a:off x="502920" y="6400800"/>
            <a:ext cx="11185855" cy="292608"/>
          </a:xfrm>
          <a:prstGeom prst="rect">
            <a:avLst/>
          </a:prstGeom>
          <a:noFill/>
          <a:ln/>
        </p:spPr>
        <p:txBody>
          <a:bodyPr wrap="square" lIns="0" tIns="0" rIns="0" bIns="0" rtlCol="0" anchor="ctr"/>
          <a:lstStyle/>
          <a:p>
            <a:pPr algn="l" indent="0" marL="0">
              <a:buNone/>
            </a:pPr>
            <a:r>
              <a:rPr lang="en-US" sz="950" dirty="0">
                <a:solidFill>
                  <a:srgbClr val="A9A196"/>
                </a:solidFill>
                <a:latin typeface="Calibri" pitchFamily="34" charset="0"/>
                <a:ea typeface="Calibri" pitchFamily="34" charset="-122"/>
                <a:cs typeface="Calibri" pitchFamily="34" charset="-120"/>
              </a:rPr>
              <a:t>14 / 18</a:t>
            </a:r>
            <a:endParaRPr lang="en-US" sz="950" dirty="0"/>
          </a:p>
        </p:txBody>
      </p:sp>
      <p:sp>
        <p:nvSpPr>
          <p:cNvPr id="12" name="Text 9"/>
          <p:cNvSpPr/>
          <p:nvPr/>
        </p:nvSpPr>
        <p:spPr>
          <a:xfrm>
            <a:off x="502920" y="6400800"/>
            <a:ext cx="11185855" cy="292608"/>
          </a:xfrm>
          <a:prstGeom prst="rect">
            <a:avLst/>
          </a:prstGeom>
          <a:noFill/>
          <a:ln/>
        </p:spPr>
        <p:txBody>
          <a:bodyPr wrap="square" lIns="0" tIns="0" rIns="0" bIns="0" rtlCol="0" anchor="ctr"/>
          <a:lstStyle/>
          <a:p>
            <a:pPr algn="r" indent="0" marL="0">
              <a:buNone/>
            </a:pPr>
            <a:r>
              <a:rPr lang="en-US" sz="950" dirty="0">
                <a:solidFill>
                  <a:srgbClr val="A9A196"/>
                </a:solidFill>
                <a:latin typeface="Calibri" pitchFamily="34" charset="0"/>
                <a:ea typeface="Calibri" pitchFamily="34" charset="-122"/>
                <a:cs typeface="Calibri" pitchFamily="34" charset="-120"/>
              </a:rPr>
              <a:t>Boulangerie Lomoto — Guide Administrateur</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lIns="0" tIns="0" rIns="0" bIns="0" rtlCol="0" anchor="ctr"/>
          <a:lstStyle/>
          <a:p>
            <a:pPr indent="0" marL="0">
              <a:buNone/>
            </a:pPr>
            <a:r>
              <a:rPr lang="en-US" sz="1200" b="1" spc="200" kern="0" dirty="0">
                <a:solidFill>
                  <a:srgbClr val="AD5416"/>
                </a:solidFill>
                <a:latin typeface="Calibri" pitchFamily="34" charset="0"/>
                <a:ea typeface="Calibri" pitchFamily="34" charset="-122"/>
                <a:cs typeface="Calibri" pitchFamily="34" charset="-120"/>
              </a:rPr>
              <a:t>BESOIN D'AIDE DE VOTRE CÔTÉ ?</a:t>
            </a:r>
            <a:endParaRPr lang="en-US" sz="1200" dirty="0"/>
          </a:p>
        </p:txBody>
      </p:sp>
      <p:sp>
        <p:nvSpPr>
          <p:cNvPr id="3" name="Text 1"/>
          <p:cNvSpPr/>
          <p:nvPr/>
        </p:nvSpPr>
        <p:spPr>
          <a:xfrm>
            <a:off x="502920" y="658368"/>
            <a:ext cx="5394960" cy="960120"/>
          </a:xfrm>
          <a:prstGeom prst="rect">
            <a:avLst/>
          </a:prstGeom>
          <a:noFill/>
          <a:ln/>
        </p:spPr>
        <p:txBody>
          <a:bodyPr wrap="square" lIns="0" tIns="0" rIns="0" bIns="0" rtlCol="0" anchor="ctr"/>
          <a:lstStyle/>
          <a:p>
            <a:pPr indent="0" marL="0">
              <a:buNone/>
            </a:pPr>
            <a:r>
              <a:rPr lang="en-US" sz="2600" b="1" dirty="0">
                <a:solidFill>
                  <a:srgbClr val="0F1923"/>
                </a:solidFill>
                <a:latin typeface="Cambria" pitchFamily="34" charset="0"/>
                <a:ea typeface="Cambria" pitchFamily="34" charset="-122"/>
                <a:cs typeface="Cambria" pitchFamily="34" charset="-120"/>
              </a:rPr>
              <a:t>Assistant : répondre à l'équipe</a:t>
            </a:r>
            <a:endParaRPr lang="en-US" sz="2600" dirty="0"/>
          </a:p>
        </p:txBody>
      </p:sp>
      <p:sp>
        <p:nvSpPr>
          <p:cNvPr id="4" name="Text 2"/>
          <p:cNvSpPr/>
          <p:nvPr/>
        </p:nvSpPr>
        <p:spPr>
          <a:xfrm>
            <a:off x="502920" y="1828800"/>
            <a:ext cx="5120640" cy="3931920"/>
          </a:xfrm>
          <a:prstGeom prst="rect">
            <a:avLst/>
          </a:prstGeom>
          <a:noFill/>
          <a:ln/>
        </p:spPr>
        <p:txBody>
          <a:bodyPr wrap="square" lIns="0" tIns="0" rIns="0" bIns="0" rtlCol="0" anchor="t"/>
          <a:lstStyle/>
          <a:p>
            <a:pPr indent="0" marL="0">
              <a:lnSpc>
                <a:spcPct val="122000"/>
              </a:lnSpc>
              <a:spcAft>
                <a:spcPts val="1400"/>
              </a:spcAft>
              <a:buNone/>
            </a:pPr>
            <a:r>
              <a:rPr lang="en-US" sz="1300" dirty="0">
                <a:solidFill>
                  <a:srgbClr val="2C3644"/>
                </a:solidFill>
                <a:latin typeface="Calibri" pitchFamily="34" charset="0"/>
                <a:ea typeface="Calibri" pitchFamily="34" charset="-122"/>
                <a:cs typeface="Calibri" pitchFamily="34" charset="-120"/>
              </a:rPr>
              <a:t>Contrairement aux autres rôles, votre écran Assistant n'est pas une conversation unique : c'est la file de toutes les conversations de l'équipe. Sélectionnez un compte à gauche pour lire l'échange et répondre.</a:t>
            </a:r>
            <a:endParaRPr lang="en-US" sz="1300" dirty="0"/>
          </a:p>
          <a:p>
            <a:pPr indent="0" marL="0">
              <a:lnSpc>
                <a:spcPct val="122000"/>
              </a:lnSpc>
              <a:spcAft>
                <a:spcPts val="1400"/>
              </a:spcAft>
              <a:buNone/>
            </a:pPr>
            <a:r>
              <a:rPr lang="en-US" sz="1300" dirty="0">
                <a:solidFill>
                  <a:srgbClr val="2C3644"/>
                </a:solidFill>
                <a:latin typeface="Calibri" pitchFamily="34" charset="0"/>
                <a:ea typeface="Calibri" pitchFamily="34" charset="-122"/>
                <a:cs typeface="Calibri" pitchFamily="34" charset="-120"/>
              </a:rPr>
              <a:t>Un badge « Ouverte » signale une conversation encore active. « Clôturer » la ferme une fois la question réglée — l'historique reste consultable.</a:t>
            </a:r>
            <a:endParaRPr lang="en-US" sz="1300" dirty="0"/>
          </a:p>
        </p:txBody>
      </p:sp>
      <p:sp>
        <p:nvSpPr>
          <p:cNvPr id="5" name="Shape 3"/>
          <p:cNvSpPr/>
          <p:nvPr/>
        </p:nvSpPr>
        <p:spPr>
          <a:xfrm>
            <a:off x="502920" y="4270248"/>
            <a:ext cx="82296" cy="82296"/>
          </a:xfrm>
          <a:prstGeom prst="ellipse">
            <a:avLst/>
          </a:prstGeom>
          <a:solidFill>
            <a:srgbClr val="AD5416"/>
          </a:solidFill>
          <a:ln/>
        </p:spPr>
      </p:sp>
      <p:sp>
        <p:nvSpPr>
          <p:cNvPr id="6" name="Text 4"/>
          <p:cNvSpPr/>
          <p:nvPr/>
        </p:nvSpPr>
        <p:spPr>
          <a:xfrm>
            <a:off x="722376" y="4206240"/>
            <a:ext cx="4937760" cy="365760"/>
          </a:xfrm>
          <a:prstGeom prst="rect">
            <a:avLst/>
          </a:prstGeom>
          <a:noFill/>
          <a:ln/>
        </p:spPr>
        <p:txBody>
          <a:bodyPr wrap="square" lIns="0" tIns="0" rIns="0" bIns="0" rtlCol="0" anchor="ctr"/>
          <a:lstStyle/>
          <a:p>
            <a:pPr indent="0" marL="0">
              <a:buNone/>
            </a:pPr>
            <a:r>
              <a:rPr lang="en-US" sz="1250" dirty="0">
                <a:solidFill>
                  <a:srgbClr val="2C3644"/>
                </a:solidFill>
                <a:latin typeface="Calibri" pitchFamily="34" charset="0"/>
                <a:ea typeface="Calibri" pitchFamily="34" charset="-122"/>
                <a:cs typeface="Calibri" pitchFamily="34" charset="-120"/>
              </a:rPr>
              <a:t>N'importe lequel des trois comptes Admin peut répondre à n'importe quelle conversation</a:t>
            </a:r>
            <a:endParaRPr lang="en-US" sz="1250" dirty="0"/>
          </a:p>
        </p:txBody>
      </p:sp>
      <p:sp>
        <p:nvSpPr>
          <p:cNvPr id="7" name="Shape 5"/>
          <p:cNvSpPr/>
          <p:nvPr/>
        </p:nvSpPr>
        <p:spPr>
          <a:xfrm>
            <a:off x="502920" y="4672584"/>
            <a:ext cx="82296" cy="82296"/>
          </a:xfrm>
          <a:prstGeom prst="ellipse">
            <a:avLst/>
          </a:prstGeom>
          <a:solidFill>
            <a:srgbClr val="AD5416"/>
          </a:solidFill>
          <a:ln/>
        </p:spPr>
      </p:sp>
      <p:sp>
        <p:nvSpPr>
          <p:cNvPr id="8" name="Text 6"/>
          <p:cNvSpPr/>
          <p:nvPr/>
        </p:nvSpPr>
        <p:spPr>
          <a:xfrm>
            <a:off x="722376" y="4608576"/>
            <a:ext cx="4937760" cy="365760"/>
          </a:xfrm>
          <a:prstGeom prst="rect">
            <a:avLst/>
          </a:prstGeom>
          <a:noFill/>
          <a:ln/>
        </p:spPr>
        <p:txBody>
          <a:bodyPr wrap="square" lIns="0" tIns="0" rIns="0" bIns="0" rtlCol="0" anchor="ctr"/>
          <a:lstStyle/>
          <a:p>
            <a:pPr indent="0" marL="0">
              <a:buNone/>
            </a:pPr>
            <a:r>
              <a:rPr lang="en-US" sz="1250" dirty="0">
                <a:solidFill>
                  <a:srgbClr val="2C3644"/>
                </a:solidFill>
                <a:latin typeface="Calibri" pitchFamily="34" charset="0"/>
                <a:ea typeface="Calibri" pitchFamily="34" charset="-122"/>
                <a:cs typeface="Calibri" pitchFamily="34" charset="-120"/>
              </a:rPr>
              <a:t>Une capture d'écran jointe par l'employé s'affiche directement dans le fil</a:t>
            </a:r>
            <a:endParaRPr lang="en-US" sz="1250" dirty="0"/>
          </a:p>
        </p:txBody>
      </p:sp>
      <p:sp>
        <p:nvSpPr>
          <p:cNvPr id="9" name="Shape 7"/>
          <p:cNvSpPr/>
          <p:nvPr/>
        </p:nvSpPr>
        <p:spPr>
          <a:xfrm>
            <a:off x="6080760" y="2080260"/>
            <a:ext cx="5669280" cy="3611880"/>
          </a:xfrm>
          <a:prstGeom prst="roundRect">
            <a:avLst>
              <a:gd name="adj" fmla="val 1519"/>
            </a:avLst>
          </a:prstGeom>
          <a:solidFill>
            <a:srgbClr val="FFFFFF"/>
          </a:solidFill>
          <a:ln w="12700">
            <a:solidFill>
              <a:srgbClr val="CBAF91"/>
            </a:solidFill>
            <a:prstDash val="solid"/>
          </a:ln>
          <a:effectLst>
            <a:outerShdw sx="100000" sy="100000" kx="0" ky="0" algn="bl" rotWithShape="0" blurRad="127000" dist="50800" dir="5400000">
              <a:srgbClr val="000000">
                <a:alpha val="28000"/>
              </a:srgbClr>
            </a:outerShdw>
          </a:effectLst>
        </p:spPr>
      </p:sp>
      <p:pic>
        <p:nvPicPr>
          <p:cNvPr id="10" name="Image 0" descr="/tmp/claude-0/-home-user-Boulangerie/f122e8ab-b408-5ce6-930c-e0c5bddf9e4c/scratchpad/captures/administrateur/15-assistant-admin.png">    </p:cNvPr>
          <p:cNvPicPr>
            <a:picLocks noChangeAspect="1"/>
          </p:cNvPicPr>
          <p:nvPr/>
        </p:nvPicPr>
        <p:blipFill>
          <a:blip r:embed="rId1"/>
          <a:stretch>
            <a:fillRect/>
          </a:stretch>
        </p:blipFill>
        <p:spPr>
          <a:xfrm>
            <a:off x="6172200" y="2171700"/>
            <a:ext cx="5486400" cy="3429000"/>
          </a:xfrm>
          <a:prstGeom prst="rect">
            <a:avLst/>
          </a:prstGeom>
        </p:spPr>
      </p:pic>
      <p:sp>
        <p:nvSpPr>
          <p:cNvPr id="11" name="Text 8"/>
          <p:cNvSpPr/>
          <p:nvPr/>
        </p:nvSpPr>
        <p:spPr>
          <a:xfrm>
            <a:off x="502920" y="6400800"/>
            <a:ext cx="11185855" cy="292608"/>
          </a:xfrm>
          <a:prstGeom prst="rect">
            <a:avLst/>
          </a:prstGeom>
          <a:noFill/>
          <a:ln/>
        </p:spPr>
        <p:txBody>
          <a:bodyPr wrap="square" lIns="0" tIns="0" rIns="0" bIns="0" rtlCol="0" anchor="ctr"/>
          <a:lstStyle/>
          <a:p>
            <a:pPr algn="l" indent="0" marL="0">
              <a:buNone/>
            </a:pPr>
            <a:r>
              <a:rPr lang="en-US" sz="950" dirty="0">
                <a:solidFill>
                  <a:srgbClr val="A9A196"/>
                </a:solidFill>
                <a:latin typeface="Calibri" pitchFamily="34" charset="0"/>
                <a:ea typeface="Calibri" pitchFamily="34" charset="-122"/>
                <a:cs typeface="Calibri" pitchFamily="34" charset="-120"/>
              </a:rPr>
              <a:t>15 / 18</a:t>
            </a:r>
            <a:endParaRPr lang="en-US" sz="950" dirty="0"/>
          </a:p>
        </p:txBody>
      </p:sp>
      <p:sp>
        <p:nvSpPr>
          <p:cNvPr id="12" name="Text 9"/>
          <p:cNvSpPr/>
          <p:nvPr/>
        </p:nvSpPr>
        <p:spPr>
          <a:xfrm>
            <a:off x="502920" y="6400800"/>
            <a:ext cx="11185855" cy="292608"/>
          </a:xfrm>
          <a:prstGeom prst="rect">
            <a:avLst/>
          </a:prstGeom>
          <a:noFill/>
          <a:ln/>
        </p:spPr>
        <p:txBody>
          <a:bodyPr wrap="square" lIns="0" tIns="0" rIns="0" bIns="0" rtlCol="0" anchor="ctr"/>
          <a:lstStyle/>
          <a:p>
            <a:pPr algn="r" indent="0" marL="0">
              <a:buNone/>
            </a:pPr>
            <a:r>
              <a:rPr lang="en-US" sz="950" dirty="0">
                <a:solidFill>
                  <a:srgbClr val="A9A196"/>
                </a:solidFill>
                <a:latin typeface="Calibri" pitchFamily="34" charset="0"/>
                <a:ea typeface="Calibri" pitchFamily="34" charset="-122"/>
                <a:cs typeface="Calibri" pitchFamily="34" charset="-120"/>
              </a:rPr>
              <a:t>Boulangerie Lomoto — Guide Administrateur</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lIns="0" tIns="0" rIns="0" bIns="0" rtlCol="0" anchor="ctr"/>
          <a:lstStyle/>
          <a:p>
            <a:pPr indent="0" marL="0">
              <a:buNone/>
            </a:pPr>
            <a:r>
              <a:rPr lang="en-US" sz="1200" b="1" spc="200" kern="0" dirty="0">
                <a:solidFill>
                  <a:srgbClr val="AD5416"/>
                </a:solidFill>
                <a:latin typeface="Calibri" pitchFamily="34" charset="0"/>
                <a:ea typeface="Calibri" pitchFamily="34" charset="-122"/>
                <a:cs typeface="Calibri" pitchFamily="34" charset="-120"/>
              </a:rPr>
              <a:t>TOUJOURS ACCESSIBLE</a:t>
            </a:r>
            <a:endParaRPr lang="en-US" sz="1200" dirty="0"/>
          </a:p>
        </p:txBody>
      </p:sp>
      <p:sp>
        <p:nvSpPr>
          <p:cNvPr id="3" name="Text 1"/>
          <p:cNvSpPr/>
          <p:nvPr/>
        </p:nvSpPr>
        <p:spPr>
          <a:xfrm>
            <a:off x="502920" y="658368"/>
            <a:ext cx="5394960" cy="960120"/>
          </a:xfrm>
          <a:prstGeom prst="rect">
            <a:avLst/>
          </a:prstGeom>
          <a:noFill/>
          <a:ln/>
        </p:spPr>
        <p:txBody>
          <a:bodyPr wrap="square" lIns="0" tIns="0" rIns="0" bIns="0" rtlCol="0" anchor="ctr"/>
          <a:lstStyle/>
          <a:p>
            <a:pPr indent="0" marL="0">
              <a:buNone/>
            </a:pPr>
            <a:r>
              <a:rPr lang="en-US" sz="2600" b="1" dirty="0">
                <a:solidFill>
                  <a:srgbClr val="0F1923"/>
                </a:solidFill>
                <a:latin typeface="Cambria" pitchFamily="34" charset="0"/>
                <a:ea typeface="Cambria" pitchFamily="34" charset="-122"/>
                <a:cs typeface="Cambria" pitchFamily="34" charset="-120"/>
              </a:rPr>
              <a:t>Rapports : le journal de toute l'équipe</a:t>
            </a:r>
            <a:endParaRPr lang="en-US" sz="2600" dirty="0"/>
          </a:p>
        </p:txBody>
      </p:sp>
      <p:sp>
        <p:nvSpPr>
          <p:cNvPr id="4" name="Text 2"/>
          <p:cNvSpPr/>
          <p:nvPr/>
        </p:nvSpPr>
        <p:spPr>
          <a:xfrm>
            <a:off x="502920" y="1828800"/>
            <a:ext cx="5120640" cy="3931920"/>
          </a:xfrm>
          <a:prstGeom prst="rect">
            <a:avLst/>
          </a:prstGeom>
          <a:noFill/>
          <a:ln/>
        </p:spPr>
        <p:txBody>
          <a:bodyPr wrap="square" lIns="0" tIns="0" rIns="0" bIns="0" rtlCol="0" anchor="t"/>
          <a:lstStyle/>
          <a:p>
            <a:pPr indent="0" marL="0">
              <a:lnSpc>
                <a:spcPct val="122000"/>
              </a:lnSpc>
              <a:spcAft>
                <a:spcPts val="1400"/>
              </a:spcAft>
              <a:buNone/>
            </a:pPr>
            <a:r>
              <a:rPr lang="en-US" sz="1300" dirty="0">
                <a:solidFill>
                  <a:srgbClr val="2C3644"/>
                </a:solidFill>
                <a:latin typeface="Calibri" pitchFamily="34" charset="0"/>
                <a:ea typeface="Calibri" pitchFamily="34" charset="-122"/>
                <a:cs typeface="Calibri" pitchFamily="34" charset="-120"/>
              </a:rPr>
              <a:t>Contrairement aux autres rôles, dont l'écran Rapports n'affiche que leur propre historique, le vôtre est consolidé : vous y voyez les enregistrements de toute l'équipe, pas seulement les vôtres.</a:t>
            </a:r>
            <a:endParaRPr lang="en-US" sz="1300" dirty="0"/>
          </a:p>
          <a:p>
            <a:pPr indent="0" marL="0">
              <a:lnSpc>
                <a:spcPct val="122000"/>
              </a:lnSpc>
              <a:spcAft>
                <a:spcPts val="1400"/>
              </a:spcAft>
              <a:buNone/>
            </a:pPr>
            <a:r>
              <a:rPr lang="en-US" sz="1300" dirty="0">
                <a:solidFill>
                  <a:srgbClr val="2C3644"/>
                </a:solidFill>
                <a:latin typeface="Calibri" pitchFamily="34" charset="0"/>
                <a:ea typeface="Calibri" pitchFamily="34" charset="-122"/>
                <a:cs typeface="Calibri" pitchFamily="34" charset="-120"/>
              </a:rPr>
              <a:t>Filtrez par personne, par type d'action ou par période, puis imprimez ou téléchargez en PDF.</a:t>
            </a:r>
            <a:endParaRPr lang="en-US" sz="1300" dirty="0"/>
          </a:p>
        </p:txBody>
      </p:sp>
      <p:sp>
        <p:nvSpPr>
          <p:cNvPr id="5" name="Shape 3"/>
          <p:cNvSpPr/>
          <p:nvPr/>
        </p:nvSpPr>
        <p:spPr>
          <a:xfrm>
            <a:off x="502920" y="4178808"/>
            <a:ext cx="82296" cy="82296"/>
          </a:xfrm>
          <a:prstGeom prst="ellipse">
            <a:avLst/>
          </a:prstGeom>
          <a:solidFill>
            <a:srgbClr val="AD5416"/>
          </a:solidFill>
          <a:ln/>
        </p:spPr>
      </p:sp>
      <p:sp>
        <p:nvSpPr>
          <p:cNvPr id="6" name="Text 4"/>
          <p:cNvSpPr/>
          <p:nvPr/>
        </p:nvSpPr>
        <p:spPr>
          <a:xfrm>
            <a:off x="722376" y="4114800"/>
            <a:ext cx="4937760" cy="365760"/>
          </a:xfrm>
          <a:prstGeom prst="rect">
            <a:avLst/>
          </a:prstGeom>
          <a:noFill/>
          <a:ln/>
        </p:spPr>
        <p:txBody>
          <a:bodyPr wrap="square" lIns="0" tIns="0" rIns="0" bIns="0" rtlCol="0" anchor="ctr"/>
          <a:lstStyle/>
          <a:p>
            <a:pPr indent="0" marL="0">
              <a:buNone/>
            </a:pPr>
            <a:r>
              <a:rPr lang="en-US" sz="1250" dirty="0">
                <a:solidFill>
                  <a:srgbClr val="2C3644"/>
                </a:solidFill>
                <a:latin typeface="Calibri" pitchFamily="34" charset="0"/>
                <a:ea typeface="Calibri" pitchFamily="34" charset="-122"/>
                <a:cs typeface="Calibri" pitchFamily="34" charset="-120"/>
              </a:rPr>
              <a:t>Vue complémentaire au Journal d'audit — ici l'activité au fil de l'eau, pas seulement les modifications</a:t>
            </a:r>
            <a:endParaRPr lang="en-US" sz="1250" dirty="0"/>
          </a:p>
        </p:txBody>
      </p:sp>
      <p:sp>
        <p:nvSpPr>
          <p:cNvPr id="7" name="Shape 5"/>
          <p:cNvSpPr/>
          <p:nvPr/>
        </p:nvSpPr>
        <p:spPr>
          <a:xfrm>
            <a:off x="502920" y="4581144"/>
            <a:ext cx="82296" cy="82296"/>
          </a:xfrm>
          <a:prstGeom prst="ellipse">
            <a:avLst/>
          </a:prstGeom>
          <a:solidFill>
            <a:srgbClr val="AD5416"/>
          </a:solidFill>
          <a:ln/>
        </p:spPr>
      </p:sp>
      <p:sp>
        <p:nvSpPr>
          <p:cNvPr id="8" name="Text 6"/>
          <p:cNvSpPr/>
          <p:nvPr/>
        </p:nvSpPr>
        <p:spPr>
          <a:xfrm>
            <a:off x="722376" y="4517136"/>
            <a:ext cx="4937760" cy="365760"/>
          </a:xfrm>
          <a:prstGeom prst="rect">
            <a:avLst/>
          </a:prstGeom>
          <a:noFill/>
          <a:ln/>
        </p:spPr>
        <p:txBody>
          <a:bodyPr wrap="square" lIns="0" tIns="0" rIns="0" bIns="0" rtlCol="0" anchor="ctr"/>
          <a:lstStyle/>
          <a:p>
            <a:pPr indent="0" marL="0">
              <a:buNone/>
            </a:pPr>
            <a:r>
              <a:rPr lang="en-US" sz="1250" dirty="0">
                <a:solidFill>
                  <a:srgbClr val="2C3644"/>
                </a:solidFill>
                <a:latin typeface="Calibri" pitchFamily="34" charset="0"/>
                <a:ea typeface="Calibri" pitchFamily="34" charset="-122"/>
                <a:cs typeface="Calibri" pitchFamily="34" charset="-120"/>
              </a:rPr>
              <a:t>Utile pour un point rapide sur ce que l'équipe a fait aujourd'hui</a:t>
            </a:r>
            <a:endParaRPr lang="en-US" sz="1250" dirty="0"/>
          </a:p>
        </p:txBody>
      </p:sp>
      <p:sp>
        <p:nvSpPr>
          <p:cNvPr id="9" name="Shape 7"/>
          <p:cNvSpPr/>
          <p:nvPr/>
        </p:nvSpPr>
        <p:spPr>
          <a:xfrm>
            <a:off x="6080760" y="2080260"/>
            <a:ext cx="5669280" cy="3611880"/>
          </a:xfrm>
          <a:prstGeom prst="roundRect">
            <a:avLst>
              <a:gd name="adj" fmla="val 1519"/>
            </a:avLst>
          </a:prstGeom>
          <a:solidFill>
            <a:srgbClr val="FFFFFF"/>
          </a:solidFill>
          <a:ln w="12700">
            <a:solidFill>
              <a:srgbClr val="CBAF91"/>
            </a:solidFill>
            <a:prstDash val="solid"/>
          </a:ln>
          <a:effectLst>
            <a:outerShdw sx="100000" sy="100000" kx="0" ky="0" algn="bl" rotWithShape="0" blurRad="127000" dist="50800" dir="5400000">
              <a:srgbClr val="000000">
                <a:alpha val="28000"/>
              </a:srgbClr>
            </a:outerShdw>
          </a:effectLst>
        </p:spPr>
      </p:sp>
      <p:pic>
        <p:nvPicPr>
          <p:cNvPr id="10" name="Image 0" descr="/tmp/claude-0/-home-user-Boulangerie/f122e8ab-b408-5ce6-930c-e0c5bddf9e4c/scratchpad/captures/administrateur/16-rapports-personnels.png">    </p:cNvPr>
          <p:cNvPicPr>
            <a:picLocks noChangeAspect="1"/>
          </p:cNvPicPr>
          <p:nvPr/>
        </p:nvPicPr>
        <p:blipFill>
          <a:blip r:embed="rId1"/>
          <a:stretch>
            <a:fillRect/>
          </a:stretch>
        </p:blipFill>
        <p:spPr>
          <a:xfrm>
            <a:off x="6172200" y="2171700"/>
            <a:ext cx="5486400" cy="3429000"/>
          </a:xfrm>
          <a:prstGeom prst="rect">
            <a:avLst/>
          </a:prstGeom>
        </p:spPr>
      </p:pic>
      <p:sp>
        <p:nvSpPr>
          <p:cNvPr id="11" name="Text 8"/>
          <p:cNvSpPr/>
          <p:nvPr/>
        </p:nvSpPr>
        <p:spPr>
          <a:xfrm>
            <a:off x="502920" y="6400800"/>
            <a:ext cx="11185855" cy="292608"/>
          </a:xfrm>
          <a:prstGeom prst="rect">
            <a:avLst/>
          </a:prstGeom>
          <a:noFill/>
          <a:ln/>
        </p:spPr>
        <p:txBody>
          <a:bodyPr wrap="square" lIns="0" tIns="0" rIns="0" bIns="0" rtlCol="0" anchor="ctr"/>
          <a:lstStyle/>
          <a:p>
            <a:pPr algn="l" indent="0" marL="0">
              <a:buNone/>
            </a:pPr>
            <a:r>
              <a:rPr lang="en-US" sz="950" dirty="0">
                <a:solidFill>
                  <a:srgbClr val="A9A196"/>
                </a:solidFill>
                <a:latin typeface="Calibri" pitchFamily="34" charset="0"/>
                <a:ea typeface="Calibri" pitchFamily="34" charset="-122"/>
                <a:cs typeface="Calibri" pitchFamily="34" charset="-120"/>
              </a:rPr>
              <a:t>16 / 18</a:t>
            </a:r>
            <a:endParaRPr lang="en-US" sz="950" dirty="0"/>
          </a:p>
        </p:txBody>
      </p:sp>
      <p:sp>
        <p:nvSpPr>
          <p:cNvPr id="12" name="Text 9"/>
          <p:cNvSpPr/>
          <p:nvPr/>
        </p:nvSpPr>
        <p:spPr>
          <a:xfrm>
            <a:off x="502920" y="6400800"/>
            <a:ext cx="11185855" cy="292608"/>
          </a:xfrm>
          <a:prstGeom prst="rect">
            <a:avLst/>
          </a:prstGeom>
          <a:noFill/>
          <a:ln/>
        </p:spPr>
        <p:txBody>
          <a:bodyPr wrap="square" lIns="0" tIns="0" rIns="0" bIns="0" rtlCol="0" anchor="ctr"/>
          <a:lstStyle/>
          <a:p>
            <a:pPr algn="r" indent="0" marL="0">
              <a:buNone/>
            </a:pPr>
            <a:r>
              <a:rPr lang="en-US" sz="950" dirty="0">
                <a:solidFill>
                  <a:srgbClr val="A9A196"/>
                </a:solidFill>
                <a:latin typeface="Calibri" pitchFamily="34" charset="0"/>
                <a:ea typeface="Calibri" pitchFamily="34" charset="-122"/>
                <a:cs typeface="Calibri" pitchFamily="34" charset="-120"/>
              </a:rPr>
              <a:t>Boulangerie Lomoto — Guide Administrateur</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923"/>
        </a:solidFill>
      </p:bgPr>
    </p:bg>
    <p:spTree>
      <p:nvGrpSpPr>
        <p:cNvPr id="1" name=""/>
        <p:cNvGrpSpPr/>
        <p:nvPr/>
      </p:nvGrpSpPr>
      <p:grpSpPr>
        <a:xfrm>
          <a:off x="0" y="0"/>
          <a:ext cx="0" cy="0"/>
          <a:chOff x="0" y="0"/>
          <a:chExt cx="0" cy="0"/>
        </a:xfrm>
      </p:grpSpPr>
      <p:sp>
        <p:nvSpPr>
          <p:cNvPr id="2" name="Text 0"/>
          <p:cNvSpPr/>
          <p:nvPr/>
        </p:nvSpPr>
        <p:spPr>
          <a:xfrm>
            <a:off x="502920" y="384048"/>
            <a:ext cx="7315200" cy="320040"/>
          </a:xfrm>
          <a:prstGeom prst="rect">
            <a:avLst/>
          </a:prstGeom>
          <a:noFill/>
          <a:ln/>
        </p:spPr>
        <p:txBody>
          <a:bodyPr wrap="square" lIns="0" tIns="0" rIns="0" bIns="0" rtlCol="0" anchor="ctr"/>
          <a:lstStyle/>
          <a:p>
            <a:pPr indent="0" marL="0">
              <a:buNone/>
            </a:pPr>
            <a:r>
              <a:rPr lang="en-US" sz="1200" b="1" spc="200" kern="0" dirty="0">
                <a:solidFill>
                  <a:srgbClr val="DA9F4E"/>
                </a:solidFill>
                <a:latin typeface="Calibri" pitchFamily="34" charset="0"/>
                <a:ea typeface="Calibri" pitchFamily="34" charset="-122"/>
                <a:cs typeface="Calibri" pitchFamily="34" charset="-120"/>
              </a:rPr>
              <a:t>RÉCAPITULATIF</a:t>
            </a:r>
            <a:endParaRPr lang="en-US" sz="1200" dirty="0"/>
          </a:p>
        </p:txBody>
      </p:sp>
      <p:sp>
        <p:nvSpPr>
          <p:cNvPr id="3" name="Text 1"/>
          <p:cNvSpPr/>
          <p:nvPr/>
        </p:nvSpPr>
        <p:spPr>
          <a:xfrm>
            <a:off x="502920" y="658368"/>
            <a:ext cx="91440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Votre routine quotidienne</a:t>
            </a:r>
            <a:endParaRPr lang="en-US" sz="3000" dirty="0"/>
          </a:p>
        </p:txBody>
      </p:sp>
      <p:sp>
        <p:nvSpPr>
          <p:cNvPr id="4" name="Shape 2"/>
          <p:cNvSpPr/>
          <p:nvPr/>
        </p:nvSpPr>
        <p:spPr>
          <a:xfrm>
            <a:off x="1435075" y="3451860"/>
            <a:ext cx="9321546" cy="0"/>
          </a:xfrm>
          <a:prstGeom prst="line">
            <a:avLst/>
          </a:prstGeom>
          <a:noFill/>
          <a:ln w="19050">
            <a:solidFill>
              <a:srgbClr val="DA9F4E"/>
            </a:solidFill>
            <a:prstDash val="dash"/>
          </a:ln>
        </p:spPr>
      </p:sp>
      <p:sp>
        <p:nvSpPr>
          <p:cNvPr id="5" name="Shape 3"/>
          <p:cNvSpPr/>
          <p:nvPr/>
        </p:nvSpPr>
        <p:spPr>
          <a:xfrm>
            <a:off x="1000735" y="3017520"/>
            <a:ext cx="868680" cy="868680"/>
          </a:xfrm>
          <a:prstGeom prst="ellipse">
            <a:avLst/>
          </a:prstGeom>
          <a:solidFill>
            <a:srgbClr val="1C2B3A"/>
          </a:solidFill>
          <a:ln w="25400">
            <a:solidFill>
              <a:srgbClr val="DA9F4E"/>
            </a:solidFill>
            <a:prstDash val="solid"/>
          </a:ln>
        </p:spPr>
      </p:sp>
      <p:sp>
        <p:nvSpPr>
          <p:cNvPr id="6" name="Text 4"/>
          <p:cNvSpPr/>
          <p:nvPr/>
        </p:nvSpPr>
        <p:spPr>
          <a:xfrm>
            <a:off x="1000735" y="3017520"/>
            <a:ext cx="868680" cy="868680"/>
          </a:xfrm>
          <a:prstGeom prst="rect">
            <a:avLst/>
          </a:prstGeom>
          <a:noFill/>
          <a:ln/>
        </p:spPr>
        <p:txBody>
          <a:bodyPr wrap="square" lIns="0" tIns="0" rIns="0" bIns="0" rtlCol="0" anchor="ctr"/>
          <a:lstStyle/>
          <a:p>
            <a:pPr algn="ctr" indent="0" marL="0">
              <a:buNone/>
            </a:pPr>
            <a:r>
              <a:rPr lang="en-US" sz="2280" dirty="0">
                <a:solidFill>
                  <a:srgbClr val="000000"/>
                </a:solidFill>
              </a:rPr>
              <a:t>🔑</a:t>
            </a:r>
            <a:endParaRPr lang="en-US" sz="2280" dirty="0"/>
          </a:p>
        </p:txBody>
      </p:sp>
      <p:sp>
        <p:nvSpPr>
          <p:cNvPr id="7" name="Shape 5"/>
          <p:cNvSpPr/>
          <p:nvPr/>
        </p:nvSpPr>
        <p:spPr>
          <a:xfrm>
            <a:off x="1649959" y="2926080"/>
            <a:ext cx="310896" cy="310896"/>
          </a:xfrm>
          <a:prstGeom prst="ellipse">
            <a:avLst/>
          </a:prstGeom>
          <a:solidFill>
            <a:srgbClr val="DA9F4E"/>
          </a:solidFill>
          <a:ln w="19050">
            <a:solidFill>
              <a:srgbClr val="0F1923"/>
            </a:solidFill>
            <a:prstDash val="solid"/>
          </a:ln>
        </p:spPr>
      </p:sp>
      <p:sp>
        <p:nvSpPr>
          <p:cNvPr id="8" name="Text 6"/>
          <p:cNvSpPr/>
          <p:nvPr/>
        </p:nvSpPr>
        <p:spPr>
          <a:xfrm>
            <a:off x="1649959" y="2926080"/>
            <a:ext cx="310896" cy="310896"/>
          </a:xfrm>
          <a:prstGeom prst="rect">
            <a:avLst/>
          </a:prstGeom>
          <a:noFill/>
          <a:ln/>
        </p:spPr>
        <p:txBody>
          <a:bodyPr wrap="square" lIns="0" tIns="0" rIns="0" bIns="0" rtlCol="0" anchor="ctr"/>
          <a:lstStyle/>
          <a:p>
            <a:pPr algn="ctr" indent="0" marL="0">
              <a:buNone/>
            </a:pPr>
            <a:r>
              <a:rPr lang="en-US" sz="1100" b="1" dirty="0">
                <a:solidFill>
                  <a:srgbClr val="0F1923"/>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502920" y="4114800"/>
            <a:ext cx="1864309"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Connexion</a:t>
            </a:r>
            <a:endParaRPr lang="en-US" sz="1300" dirty="0"/>
          </a:p>
        </p:txBody>
      </p:sp>
      <p:sp>
        <p:nvSpPr>
          <p:cNvPr id="10" name="Text 8"/>
          <p:cNvSpPr/>
          <p:nvPr/>
        </p:nvSpPr>
        <p:spPr>
          <a:xfrm>
            <a:off x="594360" y="4480560"/>
            <a:ext cx="1681429" cy="822960"/>
          </a:xfrm>
          <a:prstGeom prst="rect">
            <a:avLst/>
          </a:prstGeom>
          <a:noFill/>
          <a:ln/>
        </p:spPr>
        <p:txBody>
          <a:bodyPr wrap="square" lIns="0" tIns="0" rIns="0" bIns="0" rtlCol="0" anchor="ctr"/>
          <a:lstStyle/>
          <a:p>
            <a:pPr algn="ctr" indent="0" marL="0">
              <a:lnSpc>
                <a:spcPct val="115000"/>
              </a:lnSpc>
              <a:buNone/>
            </a:pPr>
            <a:r>
              <a:rPr lang="en-US" sz="1000" dirty="0">
                <a:solidFill>
                  <a:srgbClr val="CBAF91"/>
                </a:solidFill>
                <a:latin typeface="Calibri" pitchFamily="34" charset="0"/>
                <a:ea typeface="Calibri" pitchFamily="34" charset="-122"/>
                <a:cs typeface="Calibri" pitchFamily="34" charset="-120"/>
              </a:rPr>
              <a:t>Adresse professionnelle + mot de passe</a:t>
            </a:r>
            <a:endParaRPr lang="en-US" sz="1000" dirty="0"/>
          </a:p>
        </p:txBody>
      </p:sp>
      <p:sp>
        <p:nvSpPr>
          <p:cNvPr id="11" name="Shape 9"/>
          <p:cNvSpPr/>
          <p:nvPr/>
        </p:nvSpPr>
        <p:spPr>
          <a:xfrm>
            <a:off x="2865044" y="3017520"/>
            <a:ext cx="868680" cy="868680"/>
          </a:xfrm>
          <a:prstGeom prst="ellipse">
            <a:avLst/>
          </a:prstGeom>
          <a:solidFill>
            <a:srgbClr val="1C2B3A"/>
          </a:solidFill>
          <a:ln w="25400">
            <a:solidFill>
              <a:srgbClr val="DA9F4E"/>
            </a:solidFill>
            <a:prstDash val="solid"/>
          </a:ln>
        </p:spPr>
      </p:sp>
      <p:sp>
        <p:nvSpPr>
          <p:cNvPr id="12" name="Text 10"/>
          <p:cNvSpPr/>
          <p:nvPr/>
        </p:nvSpPr>
        <p:spPr>
          <a:xfrm>
            <a:off x="2865044" y="3017520"/>
            <a:ext cx="868680" cy="868680"/>
          </a:xfrm>
          <a:prstGeom prst="rect">
            <a:avLst/>
          </a:prstGeom>
          <a:noFill/>
          <a:ln/>
        </p:spPr>
        <p:txBody>
          <a:bodyPr wrap="square" lIns="0" tIns="0" rIns="0" bIns="0" rtlCol="0" anchor="ctr"/>
          <a:lstStyle/>
          <a:p>
            <a:pPr algn="ctr" indent="0" marL="0">
              <a:buNone/>
            </a:pPr>
            <a:r>
              <a:rPr lang="en-US" sz="2280" dirty="0">
                <a:solidFill>
                  <a:srgbClr val="000000"/>
                </a:solidFill>
              </a:rPr>
              <a:t>🔔</a:t>
            </a:r>
            <a:endParaRPr lang="en-US" sz="2280" dirty="0"/>
          </a:p>
        </p:txBody>
      </p:sp>
      <p:sp>
        <p:nvSpPr>
          <p:cNvPr id="13" name="Shape 11"/>
          <p:cNvSpPr/>
          <p:nvPr/>
        </p:nvSpPr>
        <p:spPr>
          <a:xfrm>
            <a:off x="3514268" y="2926080"/>
            <a:ext cx="310896" cy="310896"/>
          </a:xfrm>
          <a:prstGeom prst="ellipse">
            <a:avLst/>
          </a:prstGeom>
          <a:solidFill>
            <a:srgbClr val="DA9F4E"/>
          </a:solidFill>
          <a:ln w="19050">
            <a:solidFill>
              <a:srgbClr val="0F1923"/>
            </a:solidFill>
            <a:prstDash val="solid"/>
          </a:ln>
        </p:spPr>
      </p:sp>
      <p:sp>
        <p:nvSpPr>
          <p:cNvPr id="14" name="Text 12"/>
          <p:cNvSpPr/>
          <p:nvPr/>
        </p:nvSpPr>
        <p:spPr>
          <a:xfrm>
            <a:off x="3514268" y="2926080"/>
            <a:ext cx="310896" cy="310896"/>
          </a:xfrm>
          <a:prstGeom prst="rect">
            <a:avLst/>
          </a:prstGeom>
          <a:noFill/>
          <a:ln/>
        </p:spPr>
        <p:txBody>
          <a:bodyPr wrap="square" lIns="0" tIns="0" rIns="0" bIns="0" rtlCol="0" anchor="ctr"/>
          <a:lstStyle/>
          <a:p>
            <a:pPr algn="ctr" indent="0" marL="0">
              <a:buNone/>
            </a:pPr>
            <a:r>
              <a:rPr lang="en-US" sz="1100" b="1" dirty="0">
                <a:solidFill>
                  <a:srgbClr val="0F1923"/>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2367229" y="4114800"/>
            <a:ext cx="1864309"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Notifications</a:t>
            </a:r>
            <a:endParaRPr lang="en-US" sz="1300" dirty="0"/>
          </a:p>
        </p:txBody>
      </p:sp>
      <p:sp>
        <p:nvSpPr>
          <p:cNvPr id="16" name="Text 14"/>
          <p:cNvSpPr/>
          <p:nvPr/>
        </p:nvSpPr>
        <p:spPr>
          <a:xfrm>
            <a:off x="2458669" y="4480560"/>
            <a:ext cx="1681429" cy="822960"/>
          </a:xfrm>
          <a:prstGeom prst="rect">
            <a:avLst/>
          </a:prstGeom>
          <a:noFill/>
          <a:ln/>
        </p:spPr>
        <p:txBody>
          <a:bodyPr wrap="square" lIns="0" tIns="0" rIns="0" bIns="0" rtlCol="0" anchor="ctr"/>
          <a:lstStyle/>
          <a:p>
            <a:pPr algn="ctr" indent="0" marL="0">
              <a:lnSpc>
                <a:spcPct val="115000"/>
              </a:lnSpc>
              <a:buNone/>
            </a:pPr>
            <a:r>
              <a:rPr lang="en-US" sz="1000" dirty="0">
                <a:solidFill>
                  <a:srgbClr val="CBAF91"/>
                </a:solidFill>
                <a:latin typeface="Calibri" pitchFamily="34" charset="0"/>
                <a:ea typeface="Calibri" pitchFamily="34" charset="-122"/>
                <a:cs typeface="Calibri" pitchFamily="34" charset="-120"/>
              </a:rPr>
              <a:t>Demandes d'approbation en priorité haute</a:t>
            </a:r>
            <a:endParaRPr lang="en-US" sz="1000" dirty="0"/>
          </a:p>
        </p:txBody>
      </p:sp>
      <p:sp>
        <p:nvSpPr>
          <p:cNvPr id="17" name="Shape 15"/>
          <p:cNvSpPr/>
          <p:nvPr/>
        </p:nvSpPr>
        <p:spPr>
          <a:xfrm>
            <a:off x="4729353" y="3017520"/>
            <a:ext cx="868680" cy="868680"/>
          </a:xfrm>
          <a:prstGeom prst="ellipse">
            <a:avLst/>
          </a:prstGeom>
          <a:solidFill>
            <a:srgbClr val="1C2B3A"/>
          </a:solidFill>
          <a:ln w="25400">
            <a:solidFill>
              <a:srgbClr val="DA9F4E"/>
            </a:solidFill>
            <a:prstDash val="solid"/>
          </a:ln>
        </p:spPr>
      </p:sp>
      <p:sp>
        <p:nvSpPr>
          <p:cNvPr id="18" name="Text 16"/>
          <p:cNvSpPr/>
          <p:nvPr/>
        </p:nvSpPr>
        <p:spPr>
          <a:xfrm>
            <a:off x="4729353" y="3017520"/>
            <a:ext cx="868680" cy="868680"/>
          </a:xfrm>
          <a:prstGeom prst="rect">
            <a:avLst/>
          </a:prstGeom>
          <a:noFill/>
          <a:ln/>
        </p:spPr>
        <p:txBody>
          <a:bodyPr wrap="square" lIns="0" tIns="0" rIns="0" bIns="0" rtlCol="0" anchor="ctr"/>
          <a:lstStyle/>
          <a:p>
            <a:pPr algn="ctr" indent="0" marL="0">
              <a:buNone/>
            </a:pPr>
            <a:r>
              <a:rPr lang="en-US" sz="2280" dirty="0">
                <a:solidFill>
                  <a:srgbClr val="000000"/>
                </a:solidFill>
              </a:rPr>
              <a:t>✅</a:t>
            </a:r>
            <a:endParaRPr lang="en-US" sz="2280" dirty="0"/>
          </a:p>
        </p:txBody>
      </p:sp>
      <p:sp>
        <p:nvSpPr>
          <p:cNvPr id="19" name="Shape 17"/>
          <p:cNvSpPr/>
          <p:nvPr/>
        </p:nvSpPr>
        <p:spPr>
          <a:xfrm>
            <a:off x="5378577" y="2926080"/>
            <a:ext cx="310896" cy="310896"/>
          </a:xfrm>
          <a:prstGeom prst="ellipse">
            <a:avLst/>
          </a:prstGeom>
          <a:solidFill>
            <a:srgbClr val="DA9F4E"/>
          </a:solidFill>
          <a:ln w="19050">
            <a:solidFill>
              <a:srgbClr val="0F1923"/>
            </a:solidFill>
            <a:prstDash val="solid"/>
          </a:ln>
        </p:spPr>
      </p:sp>
      <p:sp>
        <p:nvSpPr>
          <p:cNvPr id="20" name="Text 18"/>
          <p:cNvSpPr/>
          <p:nvPr/>
        </p:nvSpPr>
        <p:spPr>
          <a:xfrm>
            <a:off x="5378577" y="2926080"/>
            <a:ext cx="310896" cy="310896"/>
          </a:xfrm>
          <a:prstGeom prst="rect">
            <a:avLst/>
          </a:prstGeom>
          <a:noFill/>
          <a:ln/>
        </p:spPr>
        <p:txBody>
          <a:bodyPr wrap="square" lIns="0" tIns="0" rIns="0" bIns="0" rtlCol="0" anchor="ctr"/>
          <a:lstStyle/>
          <a:p>
            <a:pPr algn="ctr" indent="0" marL="0">
              <a:buNone/>
            </a:pPr>
            <a:r>
              <a:rPr lang="en-US" sz="1100" b="1" dirty="0">
                <a:solidFill>
                  <a:srgbClr val="0F1923"/>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4231538" y="4114800"/>
            <a:ext cx="1864309"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Approbations</a:t>
            </a:r>
            <a:endParaRPr lang="en-US" sz="1300" dirty="0"/>
          </a:p>
        </p:txBody>
      </p:sp>
      <p:sp>
        <p:nvSpPr>
          <p:cNvPr id="22" name="Text 20"/>
          <p:cNvSpPr/>
          <p:nvPr/>
        </p:nvSpPr>
        <p:spPr>
          <a:xfrm>
            <a:off x="4322978" y="4480560"/>
            <a:ext cx="1681429" cy="822960"/>
          </a:xfrm>
          <a:prstGeom prst="rect">
            <a:avLst/>
          </a:prstGeom>
          <a:noFill/>
          <a:ln/>
        </p:spPr>
        <p:txBody>
          <a:bodyPr wrap="square" lIns="0" tIns="0" rIns="0" bIns="0" rtlCol="0" anchor="ctr"/>
          <a:lstStyle/>
          <a:p>
            <a:pPr algn="ctr" indent="0" marL="0">
              <a:lnSpc>
                <a:spcPct val="115000"/>
              </a:lnSpc>
              <a:buNone/>
            </a:pPr>
            <a:r>
              <a:rPr lang="en-US" sz="1000" dirty="0">
                <a:solidFill>
                  <a:srgbClr val="CBAF91"/>
                </a:solidFill>
                <a:latin typeface="Calibri" pitchFamily="34" charset="0"/>
                <a:ea typeface="Calibri" pitchFamily="34" charset="-122"/>
                <a:cs typeface="Calibri" pitchFamily="34" charset="-120"/>
              </a:rPr>
              <a:t>Décider (Principal) ou suivre (secondaire)</a:t>
            </a:r>
            <a:endParaRPr lang="en-US" sz="1000" dirty="0"/>
          </a:p>
        </p:txBody>
      </p:sp>
      <p:sp>
        <p:nvSpPr>
          <p:cNvPr id="23" name="Shape 21"/>
          <p:cNvSpPr/>
          <p:nvPr/>
        </p:nvSpPr>
        <p:spPr>
          <a:xfrm>
            <a:off x="6593662" y="3017520"/>
            <a:ext cx="868680" cy="868680"/>
          </a:xfrm>
          <a:prstGeom prst="ellipse">
            <a:avLst/>
          </a:prstGeom>
          <a:solidFill>
            <a:srgbClr val="1C2B3A"/>
          </a:solidFill>
          <a:ln w="25400">
            <a:solidFill>
              <a:srgbClr val="DA9F4E"/>
            </a:solidFill>
            <a:prstDash val="solid"/>
          </a:ln>
        </p:spPr>
      </p:sp>
      <p:sp>
        <p:nvSpPr>
          <p:cNvPr id="24" name="Text 22"/>
          <p:cNvSpPr/>
          <p:nvPr/>
        </p:nvSpPr>
        <p:spPr>
          <a:xfrm>
            <a:off x="6593662" y="3017520"/>
            <a:ext cx="868680" cy="868680"/>
          </a:xfrm>
          <a:prstGeom prst="rect">
            <a:avLst/>
          </a:prstGeom>
          <a:noFill/>
          <a:ln/>
        </p:spPr>
        <p:txBody>
          <a:bodyPr wrap="square" lIns="0" tIns="0" rIns="0" bIns="0" rtlCol="0" anchor="ctr"/>
          <a:lstStyle/>
          <a:p>
            <a:pPr algn="ctr" indent="0" marL="0">
              <a:buNone/>
            </a:pPr>
            <a:r>
              <a:rPr lang="en-US" sz="2280" dirty="0">
                <a:solidFill>
                  <a:srgbClr val="000000"/>
                </a:solidFill>
              </a:rPr>
              <a:t>👥</a:t>
            </a:r>
            <a:endParaRPr lang="en-US" sz="2280" dirty="0"/>
          </a:p>
        </p:txBody>
      </p:sp>
      <p:sp>
        <p:nvSpPr>
          <p:cNvPr id="25" name="Shape 23"/>
          <p:cNvSpPr/>
          <p:nvPr/>
        </p:nvSpPr>
        <p:spPr>
          <a:xfrm>
            <a:off x="7242886" y="2926080"/>
            <a:ext cx="310896" cy="310896"/>
          </a:xfrm>
          <a:prstGeom prst="ellipse">
            <a:avLst/>
          </a:prstGeom>
          <a:solidFill>
            <a:srgbClr val="DA9F4E"/>
          </a:solidFill>
          <a:ln w="19050">
            <a:solidFill>
              <a:srgbClr val="0F1923"/>
            </a:solidFill>
            <a:prstDash val="solid"/>
          </a:ln>
        </p:spPr>
      </p:sp>
      <p:sp>
        <p:nvSpPr>
          <p:cNvPr id="26" name="Text 24"/>
          <p:cNvSpPr/>
          <p:nvPr/>
        </p:nvSpPr>
        <p:spPr>
          <a:xfrm>
            <a:off x="7242886" y="2926080"/>
            <a:ext cx="310896" cy="310896"/>
          </a:xfrm>
          <a:prstGeom prst="rect">
            <a:avLst/>
          </a:prstGeom>
          <a:noFill/>
          <a:ln/>
        </p:spPr>
        <p:txBody>
          <a:bodyPr wrap="square" lIns="0" tIns="0" rIns="0" bIns="0" rtlCol="0" anchor="ctr"/>
          <a:lstStyle/>
          <a:p>
            <a:pPr algn="ctr" indent="0" marL="0">
              <a:buNone/>
            </a:pPr>
            <a:r>
              <a:rPr lang="en-US" sz="1100" b="1" dirty="0">
                <a:solidFill>
                  <a:srgbClr val="0F1923"/>
                </a:solidFill>
                <a:latin typeface="Calibri" pitchFamily="34" charset="0"/>
                <a:ea typeface="Calibri" pitchFamily="34" charset="-122"/>
                <a:cs typeface="Calibri" pitchFamily="34" charset="-120"/>
              </a:rPr>
              <a:t>4</a:t>
            </a:r>
            <a:endParaRPr lang="en-US" sz="1100" dirty="0"/>
          </a:p>
        </p:txBody>
      </p:sp>
      <p:sp>
        <p:nvSpPr>
          <p:cNvPr id="27" name="Text 25"/>
          <p:cNvSpPr/>
          <p:nvPr/>
        </p:nvSpPr>
        <p:spPr>
          <a:xfrm>
            <a:off x="6095848" y="4114800"/>
            <a:ext cx="1864309"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Équipe</a:t>
            </a:r>
            <a:endParaRPr lang="en-US" sz="1300" dirty="0"/>
          </a:p>
        </p:txBody>
      </p:sp>
      <p:sp>
        <p:nvSpPr>
          <p:cNvPr id="28" name="Text 26"/>
          <p:cNvSpPr/>
          <p:nvPr/>
        </p:nvSpPr>
        <p:spPr>
          <a:xfrm>
            <a:off x="6187288" y="4480560"/>
            <a:ext cx="1681429" cy="822960"/>
          </a:xfrm>
          <a:prstGeom prst="rect">
            <a:avLst/>
          </a:prstGeom>
          <a:noFill/>
          <a:ln/>
        </p:spPr>
        <p:txBody>
          <a:bodyPr wrap="square" lIns="0" tIns="0" rIns="0" bIns="0" rtlCol="0" anchor="ctr"/>
          <a:lstStyle/>
          <a:p>
            <a:pPr algn="ctr" indent="0" marL="0">
              <a:lnSpc>
                <a:spcPct val="115000"/>
              </a:lnSpc>
              <a:buNone/>
            </a:pPr>
            <a:r>
              <a:rPr lang="en-US" sz="1000" dirty="0">
                <a:solidFill>
                  <a:srgbClr val="CBAF91"/>
                </a:solidFill>
                <a:latin typeface="Calibri" pitchFamily="34" charset="0"/>
                <a:ea typeface="Calibri" pitchFamily="34" charset="-122"/>
                <a:cs typeface="Calibri" pitchFamily="34" charset="-120"/>
              </a:rPr>
              <a:t>Comptes, activation, statut Principal</a:t>
            </a:r>
            <a:endParaRPr lang="en-US" sz="1000" dirty="0"/>
          </a:p>
        </p:txBody>
      </p:sp>
      <p:sp>
        <p:nvSpPr>
          <p:cNvPr id="29" name="Shape 27"/>
          <p:cNvSpPr/>
          <p:nvPr/>
        </p:nvSpPr>
        <p:spPr>
          <a:xfrm>
            <a:off x="8457971" y="3017520"/>
            <a:ext cx="868680" cy="868680"/>
          </a:xfrm>
          <a:prstGeom prst="ellipse">
            <a:avLst/>
          </a:prstGeom>
          <a:solidFill>
            <a:srgbClr val="1C2B3A"/>
          </a:solidFill>
          <a:ln w="25400">
            <a:solidFill>
              <a:srgbClr val="DA9F4E"/>
            </a:solidFill>
            <a:prstDash val="solid"/>
          </a:ln>
        </p:spPr>
      </p:sp>
      <p:sp>
        <p:nvSpPr>
          <p:cNvPr id="30" name="Text 28"/>
          <p:cNvSpPr/>
          <p:nvPr/>
        </p:nvSpPr>
        <p:spPr>
          <a:xfrm>
            <a:off x="8457971" y="3017520"/>
            <a:ext cx="868680" cy="868680"/>
          </a:xfrm>
          <a:prstGeom prst="rect">
            <a:avLst/>
          </a:prstGeom>
          <a:noFill/>
          <a:ln/>
        </p:spPr>
        <p:txBody>
          <a:bodyPr wrap="square" lIns="0" tIns="0" rIns="0" bIns="0" rtlCol="0" anchor="ctr"/>
          <a:lstStyle/>
          <a:p>
            <a:pPr algn="ctr" indent="0" marL="0">
              <a:buNone/>
            </a:pPr>
            <a:r>
              <a:rPr lang="en-US" sz="2280" dirty="0">
                <a:solidFill>
                  <a:srgbClr val="000000"/>
                </a:solidFill>
              </a:rPr>
              <a:t>🛠️</a:t>
            </a:r>
            <a:endParaRPr lang="en-US" sz="2280" dirty="0"/>
          </a:p>
        </p:txBody>
      </p:sp>
      <p:sp>
        <p:nvSpPr>
          <p:cNvPr id="31" name="Shape 29"/>
          <p:cNvSpPr/>
          <p:nvPr/>
        </p:nvSpPr>
        <p:spPr>
          <a:xfrm>
            <a:off x="9107195" y="2926080"/>
            <a:ext cx="310896" cy="310896"/>
          </a:xfrm>
          <a:prstGeom prst="ellipse">
            <a:avLst/>
          </a:prstGeom>
          <a:solidFill>
            <a:srgbClr val="DA9F4E"/>
          </a:solidFill>
          <a:ln w="19050">
            <a:solidFill>
              <a:srgbClr val="0F1923"/>
            </a:solidFill>
            <a:prstDash val="solid"/>
          </a:ln>
        </p:spPr>
      </p:sp>
      <p:sp>
        <p:nvSpPr>
          <p:cNvPr id="32" name="Text 30"/>
          <p:cNvSpPr/>
          <p:nvPr/>
        </p:nvSpPr>
        <p:spPr>
          <a:xfrm>
            <a:off x="9107195" y="2926080"/>
            <a:ext cx="310896" cy="310896"/>
          </a:xfrm>
          <a:prstGeom prst="rect">
            <a:avLst/>
          </a:prstGeom>
          <a:noFill/>
          <a:ln/>
        </p:spPr>
        <p:txBody>
          <a:bodyPr wrap="square" lIns="0" tIns="0" rIns="0" bIns="0" rtlCol="0" anchor="ctr"/>
          <a:lstStyle/>
          <a:p>
            <a:pPr algn="ctr" indent="0" marL="0">
              <a:buNone/>
            </a:pPr>
            <a:r>
              <a:rPr lang="en-US" sz="1100" b="1" dirty="0">
                <a:solidFill>
                  <a:srgbClr val="0F1923"/>
                </a:solidFill>
                <a:latin typeface="Calibri" pitchFamily="34" charset="0"/>
                <a:ea typeface="Calibri" pitchFamily="34" charset="-122"/>
                <a:cs typeface="Calibri" pitchFamily="34" charset="-120"/>
              </a:rPr>
              <a:t>5</a:t>
            </a:r>
            <a:endParaRPr lang="en-US" sz="1100" dirty="0"/>
          </a:p>
        </p:txBody>
      </p:sp>
      <p:sp>
        <p:nvSpPr>
          <p:cNvPr id="33" name="Text 31"/>
          <p:cNvSpPr/>
          <p:nvPr/>
        </p:nvSpPr>
        <p:spPr>
          <a:xfrm>
            <a:off x="7960157" y="4114800"/>
            <a:ext cx="1864309"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État système</a:t>
            </a:r>
            <a:endParaRPr lang="en-US" sz="1300" dirty="0"/>
          </a:p>
        </p:txBody>
      </p:sp>
      <p:sp>
        <p:nvSpPr>
          <p:cNvPr id="34" name="Text 32"/>
          <p:cNvSpPr/>
          <p:nvPr/>
        </p:nvSpPr>
        <p:spPr>
          <a:xfrm>
            <a:off x="8051597" y="4480560"/>
            <a:ext cx="1681429" cy="822960"/>
          </a:xfrm>
          <a:prstGeom prst="rect">
            <a:avLst/>
          </a:prstGeom>
          <a:noFill/>
          <a:ln/>
        </p:spPr>
        <p:txBody>
          <a:bodyPr wrap="square" lIns="0" tIns="0" rIns="0" bIns="0" rtlCol="0" anchor="ctr"/>
          <a:lstStyle/>
          <a:p>
            <a:pPr algn="ctr" indent="0" marL="0">
              <a:lnSpc>
                <a:spcPct val="115000"/>
              </a:lnSpc>
              <a:buNone/>
            </a:pPr>
            <a:r>
              <a:rPr lang="en-US" sz="1000" dirty="0">
                <a:solidFill>
                  <a:srgbClr val="CBAF91"/>
                </a:solidFill>
                <a:latin typeface="Calibri" pitchFamily="34" charset="0"/>
                <a:ea typeface="Calibri" pitchFamily="34" charset="-122"/>
                <a:cs typeface="Calibri" pitchFamily="34" charset="-120"/>
              </a:rPr>
              <a:t>Sauvegardes (Principal) et diagnostic</a:t>
            </a:r>
            <a:endParaRPr lang="en-US" sz="1000" dirty="0"/>
          </a:p>
        </p:txBody>
      </p:sp>
      <p:sp>
        <p:nvSpPr>
          <p:cNvPr id="35" name="Shape 33"/>
          <p:cNvSpPr/>
          <p:nvPr/>
        </p:nvSpPr>
        <p:spPr>
          <a:xfrm>
            <a:off x="10322281" y="3017520"/>
            <a:ext cx="868680" cy="868680"/>
          </a:xfrm>
          <a:prstGeom prst="ellipse">
            <a:avLst/>
          </a:prstGeom>
          <a:solidFill>
            <a:srgbClr val="1C2B3A"/>
          </a:solidFill>
          <a:ln w="25400">
            <a:solidFill>
              <a:srgbClr val="DA9F4E"/>
            </a:solidFill>
            <a:prstDash val="solid"/>
          </a:ln>
        </p:spPr>
      </p:sp>
      <p:sp>
        <p:nvSpPr>
          <p:cNvPr id="36" name="Text 34"/>
          <p:cNvSpPr/>
          <p:nvPr/>
        </p:nvSpPr>
        <p:spPr>
          <a:xfrm>
            <a:off x="10322281" y="3017520"/>
            <a:ext cx="868680" cy="868680"/>
          </a:xfrm>
          <a:prstGeom prst="rect">
            <a:avLst/>
          </a:prstGeom>
          <a:noFill/>
          <a:ln/>
        </p:spPr>
        <p:txBody>
          <a:bodyPr wrap="square" lIns="0" tIns="0" rIns="0" bIns="0" rtlCol="0" anchor="ctr"/>
          <a:lstStyle/>
          <a:p>
            <a:pPr algn="ctr" indent="0" marL="0">
              <a:buNone/>
            </a:pPr>
            <a:r>
              <a:rPr lang="en-US" sz="2280" dirty="0">
                <a:solidFill>
                  <a:srgbClr val="000000"/>
                </a:solidFill>
              </a:rPr>
              <a:t>📊</a:t>
            </a:r>
            <a:endParaRPr lang="en-US" sz="2280" dirty="0"/>
          </a:p>
        </p:txBody>
      </p:sp>
      <p:sp>
        <p:nvSpPr>
          <p:cNvPr id="37" name="Shape 35"/>
          <p:cNvSpPr/>
          <p:nvPr/>
        </p:nvSpPr>
        <p:spPr>
          <a:xfrm>
            <a:off x="10971505" y="2926080"/>
            <a:ext cx="310896" cy="310896"/>
          </a:xfrm>
          <a:prstGeom prst="ellipse">
            <a:avLst/>
          </a:prstGeom>
          <a:solidFill>
            <a:srgbClr val="DA9F4E"/>
          </a:solidFill>
          <a:ln w="19050">
            <a:solidFill>
              <a:srgbClr val="0F1923"/>
            </a:solidFill>
            <a:prstDash val="solid"/>
          </a:ln>
        </p:spPr>
      </p:sp>
      <p:sp>
        <p:nvSpPr>
          <p:cNvPr id="38" name="Text 36"/>
          <p:cNvSpPr/>
          <p:nvPr/>
        </p:nvSpPr>
        <p:spPr>
          <a:xfrm>
            <a:off x="10971505" y="2926080"/>
            <a:ext cx="310896" cy="310896"/>
          </a:xfrm>
          <a:prstGeom prst="rect">
            <a:avLst/>
          </a:prstGeom>
          <a:noFill/>
          <a:ln/>
        </p:spPr>
        <p:txBody>
          <a:bodyPr wrap="square" lIns="0" tIns="0" rIns="0" bIns="0" rtlCol="0" anchor="ctr"/>
          <a:lstStyle/>
          <a:p>
            <a:pPr algn="ctr" indent="0" marL="0">
              <a:buNone/>
            </a:pPr>
            <a:r>
              <a:rPr lang="en-US" sz="1100" b="1" dirty="0">
                <a:solidFill>
                  <a:srgbClr val="0F1923"/>
                </a:solidFill>
                <a:latin typeface="Calibri" pitchFamily="34" charset="0"/>
                <a:ea typeface="Calibri" pitchFamily="34" charset="-122"/>
                <a:cs typeface="Calibri" pitchFamily="34" charset="-120"/>
              </a:rPr>
              <a:t>6</a:t>
            </a:r>
            <a:endParaRPr lang="en-US" sz="1100" dirty="0"/>
          </a:p>
        </p:txBody>
      </p:sp>
      <p:sp>
        <p:nvSpPr>
          <p:cNvPr id="39" name="Text 37"/>
          <p:cNvSpPr/>
          <p:nvPr/>
        </p:nvSpPr>
        <p:spPr>
          <a:xfrm>
            <a:off x="9824466" y="4114800"/>
            <a:ext cx="1864309"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Rapports &amp; audit</a:t>
            </a:r>
            <a:endParaRPr lang="en-US" sz="1300" dirty="0"/>
          </a:p>
        </p:txBody>
      </p:sp>
      <p:sp>
        <p:nvSpPr>
          <p:cNvPr id="40" name="Text 38"/>
          <p:cNvSpPr/>
          <p:nvPr/>
        </p:nvSpPr>
        <p:spPr>
          <a:xfrm>
            <a:off x="9915906" y="4480560"/>
            <a:ext cx="1681429" cy="822960"/>
          </a:xfrm>
          <a:prstGeom prst="rect">
            <a:avLst/>
          </a:prstGeom>
          <a:noFill/>
          <a:ln/>
        </p:spPr>
        <p:txBody>
          <a:bodyPr wrap="square" lIns="0" tIns="0" rIns="0" bIns="0" rtlCol="0" anchor="ctr"/>
          <a:lstStyle/>
          <a:p>
            <a:pPr algn="ctr" indent="0" marL="0">
              <a:lnSpc>
                <a:spcPct val="115000"/>
              </a:lnSpc>
              <a:buNone/>
            </a:pPr>
            <a:r>
              <a:rPr lang="en-US" sz="1000" dirty="0">
                <a:solidFill>
                  <a:srgbClr val="CBAF91"/>
                </a:solidFill>
                <a:latin typeface="Calibri" pitchFamily="34" charset="0"/>
                <a:ea typeface="Calibri" pitchFamily="34" charset="-122"/>
                <a:cs typeface="Calibri" pitchFamily="34" charset="-120"/>
              </a:rPr>
              <a:t>Vue d'ensemble de toute l'équipe</a:t>
            </a:r>
            <a:endParaRPr lang="en-US" sz="1000" dirty="0"/>
          </a:p>
        </p:txBody>
      </p:sp>
      <p:sp>
        <p:nvSpPr>
          <p:cNvPr id="41" name="Text 39"/>
          <p:cNvSpPr/>
          <p:nvPr/>
        </p:nvSpPr>
        <p:spPr>
          <a:xfrm>
            <a:off x="502920" y="6400800"/>
            <a:ext cx="11185855" cy="292608"/>
          </a:xfrm>
          <a:prstGeom prst="rect">
            <a:avLst/>
          </a:prstGeom>
          <a:noFill/>
          <a:ln/>
        </p:spPr>
        <p:txBody>
          <a:bodyPr wrap="square" lIns="0" tIns="0" rIns="0" bIns="0" rtlCol="0" anchor="ctr"/>
          <a:lstStyle/>
          <a:p>
            <a:pPr algn="l" indent="0" marL="0">
              <a:buNone/>
            </a:pPr>
            <a:r>
              <a:rPr lang="en-US" sz="950" dirty="0">
                <a:solidFill>
                  <a:srgbClr val="6B7684"/>
                </a:solidFill>
                <a:latin typeface="Calibri" pitchFamily="34" charset="0"/>
                <a:ea typeface="Calibri" pitchFamily="34" charset="-122"/>
                <a:cs typeface="Calibri" pitchFamily="34" charset="-120"/>
              </a:rPr>
              <a:t>17 / 18</a:t>
            </a:r>
            <a:endParaRPr lang="en-US" sz="950" dirty="0"/>
          </a:p>
        </p:txBody>
      </p:sp>
      <p:sp>
        <p:nvSpPr>
          <p:cNvPr id="42" name="Text 40"/>
          <p:cNvSpPr/>
          <p:nvPr/>
        </p:nvSpPr>
        <p:spPr>
          <a:xfrm>
            <a:off x="502920" y="6400800"/>
            <a:ext cx="11185855" cy="292608"/>
          </a:xfrm>
          <a:prstGeom prst="rect">
            <a:avLst/>
          </a:prstGeom>
          <a:noFill/>
          <a:ln/>
        </p:spPr>
        <p:txBody>
          <a:bodyPr wrap="square" lIns="0" tIns="0" rIns="0" bIns="0" rtlCol="0" anchor="ctr"/>
          <a:lstStyle/>
          <a:p>
            <a:pPr algn="r" indent="0" marL="0">
              <a:buNone/>
            </a:pPr>
            <a:r>
              <a:rPr lang="en-US" sz="950" dirty="0">
                <a:solidFill>
                  <a:srgbClr val="6B7684"/>
                </a:solidFill>
                <a:latin typeface="Calibri" pitchFamily="34" charset="0"/>
                <a:ea typeface="Calibri" pitchFamily="34" charset="-122"/>
                <a:cs typeface="Calibri" pitchFamily="34" charset="-120"/>
              </a:rPr>
              <a:t>Boulangerie Lomoto — Guide Administrateur</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923"/>
        </a:solidFill>
      </p:bgPr>
    </p:bg>
    <p:spTree>
      <p:nvGrpSpPr>
        <p:cNvPr id="1" name=""/>
        <p:cNvGrpSpPr/>
        <p:nvPr/>
      </p:nvGrpSpPr>
      <p:grpSpPr>
        <a:xfrm>
          <a:off x="0" y="0"/>
          <a:ext cx="0" cy="0"/>
          <a:chOff x="0" y="0"/>
          <a:chExt cx="0" cy="0"/>
        </a:xfrm>
      </p:grpSpPr>
      <p:pic>
        <p:nvPicPr>
          <p:cNvPr id="2" name="Image 0" descr="/home/user/Boulangerie/apps/web/public/logo-lomoto.png">    </p:cNvPr>
          <p:cNvPicPr>
            <a:picLocks noChangeAspect="1"/>
          </p:cNvPicPr>
          <p:nvPr/>
        </p:nvPicPr>
        <p:blipFill>
          <a:blip r:embed="rId1"/>
          <a:stretch>
            <a:fillRect/>
          </a:stretch>
        </p:blipFill>
        <p:spPr>
          <a:xfrm>
            <a:off x="5455768" y="1371600"/>
            <a:ext cx="1280160" cy="1280160"/>
          </a:xfrm>
          <a:prstGeom prst="ellipse">
            <a:avLst/>
          </a:prstGeom>
        </p:spPr>
      </p:pic>
      <p:sp>
        <p:nvSpPr>
          <p:cNvPr id="3" name="Text 0"/>
          <p:cNvSpPr/>
          <p:nvPr/>
        </p:nvSpPr>
        <p:spPr>
          <a:xfrm>
            <a:off x="0" y="2834640"/>
            <a:ext cx="12191695"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Merci !</a:t>
            </a:r>
            <a:endParaRPr lang="en-US" sz="4000" dirty="0"/>
          </a:p>
        </p:txBody>
      </p:sp>
      <p:sp>
        <p:nvSpPr>
          <p:cNvPr id="4" name="Text 1"/>
          <p:cNvSpPr/>
          <p:nvPr/>
        </p:nvSpPr>
        <p:spPr>
          <a:xfrm>
            <a:off x="1798168" y="3703320"/>
            <a:ext cx="8595360" cy="457200"/>
          </a:xfrm>
          <a:prstGeom prst="rect">
            <a:avLst/>
          </a:prstGeom>
          <a:noFill/>
          <a:ln/>
        </p:spPr>
        <p:txBody>
          <a:bodyPr wrap="square" lIns="0" tIns="0" rIns="0" bIns="0" rtlCol="0" anchor="ctr"/>
          <a:lstStyle/>
          <a:p>
            <a:pPr algn="ctr" indent="0" marL="0">
              <a:buNone/>
            </a:pPr>
            <a:r>
              <a:rPr lang="en-US" sz="1400" dirty="0">
                <a:solidFill>
                  <a:srgbClr val="CBAF91"/>
                </a:solidFill>
                <a:latin typeface="Calibri" pitchFamily="34" charset="0"/>
                <a:ea typeface="Calibri" pitchFamily="34" charset="-122"/>
                <a:cs typeface="Calibri" pitchFamily="34" charset="-120"/>
              </a:rPr>
              <a:t>Une question sur une nuance Principal / secondaire ? Ouvrez l'Assistant et écrivez à l'équipe.</a:t>
            </a:r>
            <a:endParaRPr lang="en-US" sz="1400" dirty="0"/>
          </a:p>
        </p:txBody>
      </p:sp>
      <p:sp>
        <p:nvSpPr>
          <p:cNvPr id="5" name="Shape 2"/>
          <p:cNvSpPr/>
          <p:nvPr/>
        </p:nvSpPr>
        <p:spPr>
          <a:xfrm>
            <a:off x="4998568" y="4434840"/>
            <a:ext cx="2194560" cy="0"/>
          </a:xfrm>
          <a:prstGeom prst="line">
            <a:avLst/>
          </a:prstGeom>
          <a:noFill/>
          <a:ln w="12700">
            <a:solidFill>
              <a:srgbClr val="DA9F4E"/>
            </a:solidFill>
            <a:prstDash val="solid"/>
          </a:ln>
        </p:spPr>
      </p:sp>
      <p:sp>
        <p:nvSpPr>
          <p:cNvPr id="6" name="Text 3"/>
          <p:cNvSpPr/>
          <p:nvPr/>
        </p:nvSpPr>
        <p:spPr>
          <a:xfrm>
            <a:off x="0" y="4663440"/>
            <a:ext cx="12191695" cy="365760"/>
          </a:xfrm>
          <a:prstGeom prst="rect">
            <a:avLst/>
          </a:prstGeom>
          <a:noFill/>
          <a:ln/>
        </p:spPr>
        <p:txBody>
          <a:bodyPr wrap="square" lIns="0" tIns="0" rIns="0" bIns="0" rtlCol="0" anchor="ctr"/>
          <a:lstStyle/>
          <a:p>
            <a:pPr algn="ctr" indent="0" marL="0">
              <a:buNone/>
            </a:pPr>
            <a:r>
              <a:rPr lang="en-US" sz="1400" i="1" dirty="0">
                <a:solidFill>
                  <a:srgbClr val="DA9F4E"/>
                </a:solidFill>
                <a:latin typeface="Cambria" pitchFamily="34" charset="0"/>
                <a:ea typeface="Cambria" pitchFamily="34" charset="-122"/>
                <a:cs typeface="Cambria" pitchFamily="34" charset="-120"/>
              </a:rPr>
              <a:t>Boulangerie Lomoto · « Pain Lia o Tonda »</a:t>
            </a:r>
            <a:endParaRPr lang="en-US" sz="1400" dirty="0"/>
          </a:p>
        </p:txBody>
      </p:sp>
      <p:sp>
        <p:nvSpPr>
          <p:cNvPr id="7" name="Text 4"/>
          <p:cNvSpPr/>
          <p:nvPr/>
        </p:nvSpPr>
        <p:spPr>
          <a:xfrm>
            <a:off x="502920" y="6400800"/>
            <a:ext cx="11185855" cy="292608"/>
          </a:xfrm>
          <a:prstGeom prst="rect">
            <a:avLst/>
          </a:prstGeom>
          <a:noFill/>
          <a:ln/>
        </p:spPr>
        <p:txBody>
          <a:bodyPr wrap="square" lIns="0" tIns="0" rIns="0" bIns="0" rtlCol="0" anchor="ctr"/>
          <a:lstStyle/>
          <a:p>
            <a:pPr algn="l" indent="0" marL="0">
              <a:buNone/>
            </a:pPr>
            <a:r>
              <a:rPr lang="en-US" sz="950" dirty="0">
                <a:solidFill>
                  <a:srgbClr val="6B7684"/>
                </a:solidFill>
                <a:latin typeface="Calibri" pitchFamily="34" charset="0"/>
                <a:ea typeface="Calibri" pitchFamily="34" charset="-122"/>
                <a:cs typeface="Calibri" pitchFamily="34" charset="-120"/>
              </a:rPr>
              <a:t>18 / 18</a:t>
            </a:r>
            <a:endParaRPr lang="en-US" sz="950" dirty="0"/>
          </a:p>
        </p:txBody>
      </p:sp>
      <p:sp>
        <p:nvSpPr>
          <p:cNvPr id="8" name="Text 5"/>
          <p:cNvSpPr/>
          <p:nvPr/>
        </p:nvSpPr>
        <p:spPr>
          <a:xfrm>
            <a:off x="502920" y="6400800"/>
            <a:ext cx="11185855" cy="292608"/>
          </a:xfrm>
          <a:prstGeom prst="rect">
            <a:avLst/>
          </a:prstGeom>
          <a:noFill/>
          <a:ln/>
        </p:spPr>
        <p:txBody>
          <a:bodyPr wrap="square" lIns="0" tIns="0" rIns="0" bIns="0" rtlCol="0" anchor="ctr"/>
          <a:lstStyle/>
          <a:p>
            <a:pPr algn="r" indent="0" marL="0">
              <a:buNone/>
            </a:pPr>
            <a:r>
              <a:rPr lang="en-US" sz="950" dirty="0">
                <a:solidFill>
                  <a:srgbClr val="6B7684"/>
                </a:solidFill>
                <a:latin typeface="Calibri" pitchFamily="34" charset="0"/>
                <a:ea typeface="Calibri" pitchFamily="34" charset="-122"/>
                <a:cs typeface="Calibri" pitchFamily="34" charset="-120"/>
              </a:rPr>
              <a:t>Boulangerie Lomoto — Guide Administrateur</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Guide utilisateur — Administrateur</dc:title>
  <dc:subject>PptxGenJS Presentation</dc:subject>
  <dc:creator>Boulangerie Lomoto</dc:creator>
  <cp:lastModifiedBy>Boulangerie Lomoto</cp:lastModifiedBy>
  <cp:revision>1</cp:revision>
  <dcterms:created xsi:type="dcterms:W3CDTF">2026-08-07T05:52:20Z</dcterms:created>
  <dcterms:modified xsi:type="dcterms:W3CDTF">2026-08-07T05:52:20Z</dcterms:modified>
</cp:coreProperties>
</file>