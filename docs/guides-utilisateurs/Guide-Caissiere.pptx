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3"/>
          </a:solidFill>
          <a:ln/>
        </p:spPr>
      </p:sp>
      <p:pic>
        <p:nvPicPr>
          <p:cNvPr id="3" name="Image 0" descr="/home/user/Boulangerie/apps/web/public/logo-lo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685800"/>
            <a:ext cx="1645920" cy="164592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Boulangerie </a:t>
            </a:r>
            <a:pPr algn="ctr" indent="0" marL="0">
              <a:buNone/>
            </a:pPr>
            <a:r>
              <a:rPr lang="en-US" sz="32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Lomoto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0" y="312724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BAF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Pain Lia o Tonda »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998568" y="3794760"/>
            <a:ext cx="2194560" cy="0"/>
          </a:xfrm>
          <a:prstGeom prst="line">
            <a:avLst/>
          </a:prstGeom>
          <a:noFill/>
          <a:ln w="12700">
            <a:solidFill>
              <a:srgbClr val="DA9F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utilisateur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44348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Caissier(ère)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0" y="5349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 (registre journalier) · Commandes · Commissions · Production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gestion commerciale — édition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guide est fait pour vous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guide s'adresse à vous si vous occupez le poste de Caissier(ère) à la Boulangerie Lomoto.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accompagne pas à pas dans votre usage quotidien de l'application : tenir le registre de caisse, consulter les commandes et les commissions, suivre la production, et rester informé(e) en temps réel des événements qui vous concernent.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008" dirty="0"/>
          </a:p>
        </p:txBody>
      </p:sp>
      <p:sp>
        <p:nvSpPr>
          <p:cNvPr id="9" name="Text 7"/>
          <p:cNvSpPr/>
          <p:nvPr/>
        </p:nvSpPr>
        <p:spPr>
          <a:xfrm>
            <a:off x="1417320" y="39776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connecter avec votre adresse professionnelle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507992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1008" dirty="0"/>
          </a:p>
        </p:txBody>
      </p:sp>
      <p:sp>
        <p:nvSpPr>
          <p:cNvPr id="12" name="Text 10"/>
          <p:cNvSpPr/>
          <p:nvPr/>
        </p:nvSpPr>
        <p:spPr>
          <a:xfrm>
            <a:off x="1417320" y="45079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le registre de caisse au quotidien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038344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008" dirty="0"/>
          </a:p>
        </p:txBody>
      </p:sp>
      <p:sp>
        <p:nvSpPr>
          <p:cNvPr id="15" name="Text 13"/>
          <p:cNvSpPr/>
          <p:nvPr/>
        </p:nvSpPr>
        <p:spPr>
          <a:xfrm>
            <a:off x="1417320" y="50383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Commandes, Commissions et Production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568696"/>
            <a:ext cx="384048" cy="384048"/>
          </a:xfrm>
          <a:prstGeom prst="ellipse">
            <a:avLst/>
          </a:prstGeom>
          <a:solidFill>
            <a:srgbClr val="F3E3C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68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8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008" dirty="0"/>
          </a:p>
        </p:txBody>
      </p:sp>
      <p:sp>
        <p:nvSpPr>
          <p:cNvPr id="18" name="Text 16"/>
          <p:cNvSpPr/>
          <p:nvPr/>
        </p:nvSpPr>
        <p:spPr>
          <a:xfrm>
            <a:off x="1417320" y="55686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les notifications et écrire à un Admin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80960" y="2526030"/>
            <a:ext cx="4096512" cy="26289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20" name="Image 0" descr="/tmp/claude-0/-home-user-Boulangerie/f122e8ab-b408-5ce6-930c-e0c5bddf9e4c/scratchpad/captures/caissiere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617470"/>
            <a:ext cx="3913632" cy="24460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ACCÈS DANS L'APPLICATION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pouvez faire — et voir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créez et modifiez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408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 — registre journalier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seule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872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consultez, sans modifier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3872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clients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336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F1923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Toujours accessible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7336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que soit votre rôle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336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(catalogue)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(votre historique)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691640"/>
            <a:ext cx="2670048" cy="4343400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08008" y="1947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A8F98"/>
          </a:solidFill>
          <a:ln/>
        </p:spPr>
      </p:sp>
      <p:sp>
        <p:nvSpPr>
          <p:cNvPr id="21" name="Text 19"/>
          <p:cNvSpPr/>
          <p:nvPr/>
        </p:nvSpPr>
        <p:spPr>
          <a:xfrm>
            <a:off x="9208008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Hors de votre périmètre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08008" y="256032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Grisé dans le menu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08008" y="3200400"/>
            <a:ext cx="22677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Stocks, Fournisseurs, Équipe,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Travailleurs, Paramètres,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Approbations, État système,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9AA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d'audit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10819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DG et les deux niveaux d'Administrateur voient toujours plus que vous (lecture étendue) — c'est la hiérarchie de permissions de l'application, pas une anomalie.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ÉTAPE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 à l'application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733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l'application dans votre navigateur (ordinateur, tablette ou téléphone).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5877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votre adresse professionnelle — format prenom.nom@boulangerie-lomoto.com.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5021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le mot de passe qui vous a été communiqué par l'Administrateur.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457200" cy="457200"/>
          </a:xfrm>
          <a:prstGeom prst="ellipse">
            <a:avLst/>
          </a:prstGeom>
          <a:solidFill>
            <a:srgbClr val="0F192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41655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Se connecter ».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539496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3E3C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486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identifiant de connexion est toujours l'adresse professionnelle liée à votre fiche — vous ne pouvez pas la choisir ni la modifier vous-même.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9" name="Image 0" descr="/tmp/claude-0/-home-user-Boulangerie/f122e8ab-b408-5ce6-930c-e0c5bddf9e4c/scratchpad/captures/caissiere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REPÉRER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menu et la navigation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09294" y="1371600"/>
            <a:ext cx="1650492" cy="5074920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12700">
            <a:solidFill>
              <a:srgbClr val="0F1923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caissiere/03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734" y="1463040"/>
            <a:ext cx="1467612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77640" y="1600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A9F4E"/>
          </a:solidFill>
          <a:ln/>
        </p:spPr>
      </p:sp>
      <p:sp>
        <p:nvSpPr>
          <p:cNvPr id="7" name="Text 4"/>
          <p:cNvSpPr/>
          <p:nvPr/>
        </p:nvSpPr>
        <p:spPr>
          <a:xfrm>
            <a:off x="4315968" y="1508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clair et cliquable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15968" y="189280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Caisse (votre écriture), Commandes, Commissions, Production, Tableau de bord, Produits, Rapports, Assistant, À propos.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977640" y="29718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8A8F98"/>
          </a:solidFill>
          <a:ln/>
        </p:spPr>
      </p:sp>
      <p:sp>
        <p:nvSpPr>
          <p:cNvPr id="10" name="Text 7"/>
          <p:cNvSpPr/>
          <p:nvPr/>
        </p:nvSpPr>
        <p:spPr>
          <a:xfrm>
            <a:off x="4315968" y="2880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Grisé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15968" y="326440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de votre périmètre — Stocks, Fournisseurs, Équipe, Travailleurs, Paramètres, Approbations, État système, Journal d'audit.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77640" y="4846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votre nom et votre rôle sont toujours visibles en bas de la barre latérale, avec le bouton « Se déconnecter ».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CAISSE — ÉCRITURE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deux réflexes quotidiens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15361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 taux du jour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tâche de la journée. Tant qu'aucun taux n'est défini pour aujourd'hui, la dépense farine automatique reste indisponible — le reste du registre, lui, fonctionne normalement.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36938" y="2880360"/>
            <a:ext cx="4189764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tmp/claude-0/-home-user-Boulangerie/f122e8ab-b408-5ce6-930c-e0c5bddf9e4c/scratchpad/captures/caissiere/06-caisse-dialog-tau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8" y="2971800"/>
            <a:ext cx="4006884" cy="1737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812280" y="15361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dépense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09360" y="201168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motif en texte libre, un montant en Fc. Toute dépense réelle de caisse s'enregistre ici — carburant, réparation, petites fournitures…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34017" y="2880360"/>
            <a:ext cx="3208487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1" descr="/tmp/claude-0/-home-user-Boulangerie/f122e8ab-b408-5ce6-930c-e0c5bddf9e4c/scratchpad/captures/caissiere/05-caisse-dialog-depen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457" y="2971800"/>
            <a:ext cx="3025607" cy="17373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5166360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F3E3C3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à éviter —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4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case « Dépense farine » reste grisée tant qu'il manque le taux du jour OU qu'aucune production n'a été enregistrée ce jour-là. Ce n'est pas un bug : l'application refuse de calculer sur une valeur absente plutôt que d'afficher un montant faux.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CAISSE — EXEMPLE CHIFFRÉ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registre du jour, calcul réel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2078545"/>
            <a:ext cx="5806440" cy="3697605"/>
          </a:xfrm>
          <a:prstGeom prst="roundRect">
            <a:avLst>
              <a:gd name="adj" fmla="val 1484"/>
            </a:avLst>
          </a:prstGeom>
          <a:solidFill>
            <a:srgbClr val="FFFFFF"/>
          </a:solidFill>
          <a:ln w="12700">
            <a:solidFill>
              <a:srgbClr val="0F1923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/tmp/claude-0/-home-user-Boulangerie/f122e8ab-b408-5ce6-930c-e0c5bddf9e4c/scratchpad/captures/caissiere/07-caisse-registre-farine-a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69986"/>
            <a:ext cx="5623560" cy="35147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778240" y="14630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187.250 Fc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89320" y="176479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 reçu à la création des commandes du jour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89320" y="23042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Dettes payées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78240" y="23042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30.000 Fc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89320" y="2606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encaissé aujourd'hui (commande de la veille)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320" y="31455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Dépenses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778240" y="314553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117.800 Fc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89320" y="34472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94.300 Fc de farine + 15.000 + 8.500 Fc de dépenses manuelles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941064"/>
            <a:ext cx="5669280" cy="0"/>
          </a:xfrm>
          <a:prstGeom prst="line">
            <a:avLst/>
          </a:prstGeom>
          <a:noFill/>
          <a:ln w="15875">
            <a:solidFill>
              <a:srgbClr val="CBAF9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41239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 farine, la formule 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9320" y="439826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3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[(33,5 × taux du jour) + 500] × sacs utilisés = [(33,5 × 2.800) + 500] × 1 = 94.300 Fc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89320" y="4946904"/>
            <a:ext cx="5669280" cy="868680"/>
          </a:xfrm>
          <a:prstGeom prst="roundRect">
            <a:avLst>
              <a:gd name="adj" fmla="val 7368"/>
            </a:avLst>
          </a:prstGeom>
          <a:solidFill>
            <a:srgbClr val="0F1923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0" y="494690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du jour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03920" y="4946904"/>
            <a:ext cx="292608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99.450 Fc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COMMANDES — LECTURE SEULE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Suivre les commandes clients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voyez toutes les commandes créées par le Chargé des commandes : quantité de bacs, montant brut, avance utilisée, montant reçu et dette éventuelle.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impayée créée avant aujourd'hui déclenche une alerte visible en haut de l'écran — pratique pour répondre à un client qui affirme avoir déjà payé.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31596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qualité de client et par période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471830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46542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identiques à ceux qui alimentent votre registre de Caisse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/tmp/claude-0/-home-user-Boulangerie/f122e8ab-b408-5ce6-930c-e0c5bddf9e4c/scratchpad/captures/caissiere/08-commandes-li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COMMISSIONS — LECTURE SEULE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Consulter les commissions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dédiée aux commandes des clientes « Maman » — les seules à générer une commission. Le calcul est entièrement automatique : 1.650 Fc par bac reçu, aucune saisie de votre part.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49300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des commissions sur la période affichée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89534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possible en PDF ou impression directe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/tmp/claude-0/-home-user-Boulangerie/f122e8ab-b408-5ce6-930c-e0c5bddf9e4c/scratchpad/captures/caissiere/09-commissions-li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PRODUCTION — LECTURE SEULE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Voir la production du jour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DA9F4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91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comprendre votre registre de Caisse : le nombre de sacs de farine utilisés, saisi ici par le Responsable de production, est exactement ce qui alimente le calcul de la dépense farine automatique.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53872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prévu / réalisé, bacs produits et leur destination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94106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3877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Ingrédients réellement consommés par production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0" descr="/tmp/claude-0/-home-user-Boulangerie/f122e8ab-b408-5ce6-930c-e0c5bddf9e4c/scratchpad/captures/caissiere/10b-production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INFORMÉ(E)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en temps réel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cloche en haut à droite affiche un badge dès qu'un événement vous concerne — nouvelle commande, règlement encaissé, ou une dette qui traîne depuis la veille.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alertes marquées « Priorité haute » (comme une dette non payée) ressortent en rouge : elles méritent un coup d'œil rapide, mais aucune action n'est obligatoire depuis la cloche elle-même.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04164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 lire » marque toutes les notifications comme vues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44398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379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installer : ça fonctionne tant que vous êtes connecté(e)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caissiere/11-notifications-ouver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D'AIDE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Écrire à un Administrateur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Assistant, écrivez votre question dans la zone de texte en bas de l'écran puis cliquez sur « Envoyer ». Vous pouvez aussi joindre une capture d'écran pour montrer exactement ce que vous voyez.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message part directement à la file des Administrateurs — n'importe lequel des trois comptes Admin peut vous répondre, en temps réel.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17880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conversation active à la fois, tout l'historique reste visible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58114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517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un cas comme une dette qui semble déjà réglée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caissiere/13-assistant-envo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5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HISTORIQUE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9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Consulter vos rapports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 Rapports affiche votre propre journal d'activité — élargi aux rôles qui vous rapportent hiérarchiquement, comme le Chargé des commandes.</a:t>
            </a:r>
            <a:endParaRPr lang="en-US" sz="1300" dirty="0"/>
          </a:p>
          <a:p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par personne, par type d'action ou par période, puis imprimez ou téléchargez en PDF pour vos archives.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4041648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Toute ma portée » = vous + vos subordonnés hiérarchiques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443984"/>
            <a:ext cx="82296" cy="82296"/>
          </a:xfrm>
          <a:prstGeom prst="ellipse">
            <a:avLst/>
          </a:prstGeom>
          <a:solidFill>
            <a:srgbClr val="AD5416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4379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indique qui a agi, quand, et un résumé clair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080260"/>
            <a:ext cx="566928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CBAF91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/tmp/claude-0/-home-user-Boulangerie/f122e8ab-b408-5ce6-930c-e0c5bddf9e4c/scratchpad/captures/caissiere/14-rapports-perso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171700"/>
            <a:ext cx="548640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9A1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A9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routine quotidienne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35075" y="3451860"/>
            <a:ext cx="9321546" cy="0"/>
          </a:xfrm>
          <a:prstGeom prst="line">
            <a:avLst/>
          </a:prstGeom>
          <a:noFill/>
          <a:ln w="19050">
            <a:solidFill>
              <a:srgbClr val="DA9F4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00735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0735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🔑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1649959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9959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professionnelle + mot de passe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65044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5044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💱</a:t>
            </a:r>
            <a:endParaRPr lang="en-US" sz="2280" dirty="0"/>
          </a:p>
        </p:txBody>
      </p:sp>
      <p:sp>
        <p:nvSpPr>
          <p:cNvPr id="13" name="Shape 11"/>
          <p:cNvSpPr/>
          <p:nvPr/>
        </p:nvSpPr>
        <p:spPr>
          <a:xfrm>
            <a:off x="3514268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4268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67229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du jour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58669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réflexe, avant tout le reste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9353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9353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🧾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5378577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8577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31538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22978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 manuelles + dépense farine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93662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3662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👁</a:t>
            </a:r>
            <a:endParaRPr lang="en-US" sz="2280" dirty="0"/>
          </a:p>
        </p:txBody>
      </p:sp>
      <p:sp>
        <p:nvSpPr>
          <p:cNvPr id="25" name="Shape 23"/>
          <p:cNvSpPr/>
          <p:nvPr/>
        </p:nvSpPr>
        <p:spPr>
          <a:xfrm>
            <a:off x="7242886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886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95848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87288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Commandes, dettes, commissions du jour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57971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7971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🔔</a:t>
            </a:r>
            <a:endParaRPr lang="en-US" sz="2280" dirty="0"/>
          </a:p>
        </p:txBody>
      </p:sp>
      <p:sp>
        <p:nvSpPr>
          <p:cNvPr id="31" name="Shape 29"/>
          <p:cNvSpPr/>
          <p:nvPr/>
        </p:nvSpPr>
        <p:spPr>
          <a:xfrm>
            <a:off x="9107195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0719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60157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51597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haute traitée en premier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22281" y="3017520"/>
            <a:ext cx="868680" cy="868680"/>
          </a:xfrm>
          <a:prstGeom prst="ellipse">
            <a:avLst/>
          </a:prstGeom>
          <a:solidFill>
            <a:srgbClr val="1C2B3A"/>
          </a:solidFill>
          <a:ln w="25400">
            <a:solidFill>
              <a:srgbClr val="DA9F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22281" y="3017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dirty="0">
                <a:solidFill>
                  <a:srgbClr val="000000"/>
                </a:solidFill>
              </a:rPr>
              <a:t>📊</a:t>
            </a:r>
            <a:endParaRPr lang="en-US" sz="2280" dirty="0"/>
          </a:p>
        </p:txBody>
      </p:sp>
      <p:sp>
        <p:nvSpPr>
          <p:cNvPr id="37" name="Shape 35"/>
          <p:cNvSpPr/>
          <p:nvPr/>
        </p:nvSpPr>
        <p:spPr>
          <a:xfrm>
            <a:off x="10971505" y="2926080"/>
            <a:ext cx="310896" cy="310896"/>
          </a:xfrm>
          <a:prstGeom prst="ellipse">
            <a:avLst/>
          </a:prstGeom>
          <a:solidFill>
            <a:srgbClr val="DA9F4E"/>
          </a:solidFill>
          <a:ln w="19050">
            <a:solidFill>
              <a:srgbClr val="0F19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1505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24466" y="4114800"/>
            <a:ext cx="18643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915906" y="4480560"/>
            <a:ext cx="168142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votre journée, export si besoin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Boulangerie/apps/web/public/logo-lom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371600"/>
            <a:ext cx="1280160" cy="1280160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981048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A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question, un doute sur un écran ? Ouvrez l'Assistant et écrivez à un Administrateur.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998568" y="4434840"/>
            <a:ext cx="2194560" cy="0"/>
          </a:xfrm>
          <a:prstGeom prst="line">
            <a:avLst/>
          </a:prstGeom>
          <a:noFill/>
          <a:ln w="12700">
            <a:solidFill>
              <a:srgbClr val="DA9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9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Boulangerie Lomoto · « Pain Lia o Tonda »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Boulangerie Lomoto — Guide Caissier(ère)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utilisateur — Caissier(ère)</dc:title>
  <dc:subject>PptxGenJS Presentation</dc:subject>
  <dc:creator>Boulangerie Lomoto</dc:creator>
  <cp:lastModifiedBy>Boulangerie Lomoto</cp:lastModifiedBy>
  <cp:revision>1</cp:revision>
  <dcterms:created xsi:type="dcterms:W3CDTF">2026-08-06T19:45:50Z</dcterms:created>
  <dcterms:modified xsi:type="dcterms:W3CDTF">2026-08-06T19:45:50Z</dcterms:modified>
</cp:coreProperties>
</file>