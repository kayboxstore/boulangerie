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oulangerie/apps/web/public/logo-lomo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2888" y="685800"/>
            <a:ext cx="1645920" cy="164592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51460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Boulangerie </a:t>
            </a:r>
            <a:pPr algn="ctr" indent="0" marL="0">
              <a:buNone/>
            </a:pPr>
            <a:r>
              <a:rPr lang="en-US" sz="3200" b="1" dirty="0">
                <a:solidFill>
                  <a:srgbClr val="DA9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Lomoto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0" y="3127248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BAF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Pain Lia o Tonda »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998568" y="3794760"/>
            <a:ext cx="2194560" cy="0"/>
          </a:xfrm>
          <a:prstGeom prst="line">
            <a:avLst/>
          </a:prstGeom>
          <a:noFill/>
          <a:ln w="12700">
            <a:solidFill>
              <a:srgbClr val="DA9F4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utilisateur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44348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Responsable Stock/Achats et Fournisseurs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0" y="53035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A9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(écriture) · Fournisseurs (écriture)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0" y="626364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 gestion commerciale — édition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guide est fait pour vous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6492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guide s'adresse à vous si vous occupez le poste de Responsable Stock/Achats et Fournisseurs à la Boulangerie Lomoto.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vous accompagne pas à pas dans votre usage quotidien de l'application : suivre les matières premières et leurs seuils d'alerte, enregistrer les mouvements de stock, et passer puis réceptionner les commandes fournisseurs.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4096512"/>
            <a:ext cx="384048" cy="384048"/>
          </a:xfrm>
          <a:prstGeom prst="ellipse">
            <a:avLst/>
          </a:prstGeom>
          <a:solidFill>
            <a:srgbClr val="F3E3C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1008" dirty="0"/>
          </a:p>
        </p:txBody>
      </p:sp>
      <p:sp>
        <p:nvSpPr>
          <p:cNvPr id="9" name="Text 7"/>
          <p:cNvSpPr/>
          <p:nvPr/>
        </p:nvSpPr>
        <p:spPr>
          <a:xfrm>
            <a:off x="1417320" y="409651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connecter avec votre adresse professionnelle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4581144"/>
            <a:ext cx="384048" cy="384048"/>
          </a:xfrm>
          <a:prstGeom prst="ellipse">
            <a:avLst/>
          </a:prstGeom>
          <a:solidFill>
            <a:srgbClr val="F3E3C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008" dirty="0"/>
          </a:p>
        </p:txBody>
      </p:sp>
      <p:sp>
        <p:nvSpPr>
          <p:cNvPr id="12" name="Text 10"/>
          <p:cNvSpPr/>
          <p:nvPr/>
        </p:nvSpPr>
        <p:spPr>
          <a:xfrm>
            <a:off x="1417320" y="458114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les matières premières et leurs seuils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5065776"/>
            <a:ext cx="384048" cy="384048"/>
          </a:xfrm>
          <a:prstGeom prst="ellipse">
            <a:avLst/>
          </a:prstGeom>
          <a:solidFill>
            <a:srgbClr val="F3E3C3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065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↕️</a:t>
            </a:r>
            <a:endParaRPr lang="en-US" sz="1008" dirty="0"/>
          </a:p>
        </p:txBody>
      </p:sp>
      <p:sp>
        <p:nvSpPr>
          <p:cNvPr id="15" name="Text 13"/>
          <p:cNvSpPr/>
          <p:nvPr/>
        </p:nvSpPr>
        <p:spPr>
          <a:xfrm>
            <a:off x="1417320" y="506577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Enregistrer une entrée ou une sortie de stock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5550408"/>
            <a:ext cx="384048" cy="384048"/>
          </a:xfrm>
          <a:prstGeom prst="ellipse">
            <a:avLst/>
          </a:prstGeom>
          <a:solidFill>
            <a:srgbClr val="F3E3C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550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</a:t>
            </a:r>
            <a:endParaRPr lang="en-US" sz="1008" dirty="0"/>
          </a:p>
        </p:txBody>
      </p:sp>
      <p:sp>
        <p:nvSpPr>
          <p:cNvPr id="18" name="Text 16"/>
          <p:cNvSpPr/>
          <p:nvPr/>
        </p:nvSpPr>
        <p:spPr>
          <a:xfrm>
            <a:off x="1417320" y="55504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et réceptionner un bon de commande fournisseur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680960" y="2526030"/>
            <a:ext cx="4096512" cy="262890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20" name="Image 0" descr="/tmp/claude-0/-home-user-Boulangerie/f122e8ab-b408-5ce6-930c-e0c5bddf9e4c/scratchpad/captures/stockachats/../caissiere/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617470"/>
            <a:ext cx="3913632" cy="24460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Responsable Stock/Achats et Fournisseurs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ACCÈS DANS L'APPLICATION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vous pouvez faire — et voir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670048" cy="434340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94767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D5416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214884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Écriture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4088" y="256032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créez et modifiez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04088" y="3200400"/>
            <a:ext cx="22677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1691640"/>
            <a:ext cx="2670048" cy="434340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8728" y="194767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A9F4E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214884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seule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38728" y="256032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consultez, sans modifier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38728" y="3200400"/>
            <a:ext cx="22677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module en lecture seule pour votre rôle — en dehors de Stocks et Fournisseurs, tout le reste vous est fermé.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691640"/>
            <a:ext cx="2670048" cy="434340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73368" y="194767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0F1923"/>
          </a:solidFill>
          <a:ln/>
        </p:spPr>
      </p:sp>
      <p:sp>
        <p:nvSpPr>
          <p:cNvPr id="16" name="Text 14"/>
          <p:cNvSpPr/>
          <p:nvPr/>
        </p:nvSpPr>
        <p:spPr>
          <a:xfrm>
            <a:off x="6373368" y="214884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Toujours accessible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73368" y="256032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que soit votre rôle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3368" y="3200400"/>
            <a:ext cx="22677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(catalogue)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(votre historique)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06840" y="1691640"/>
            <a:ext cx="2670048" cy="434340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08008" y="194767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8A8F98"/>
          </a:solidFill>
          <a:ln/>
        </p:spPr>
      </p:sp>
      <p:sp>
        <p:nvSpPr>
          <p:cNvPr id="21" name="Text 19"/>
          <p:cNvSpPr/>
          <p:nvPr/>
        </p:nvSpPr>
        <p:spPr>
          <a:xfrm>
            <a:off x="9208008" y="214884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Hors de votre périmètre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08008" y="256032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Grisé dans le menu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208008" y="3200400"/>
            <a:ext cx="22677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Caisse, Commandes,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Commissions, Production,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Équipe, Travailleurs,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Paramètres, Approbations,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système, Journal d'audit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10819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DG et les Admins voient toujours plus que vous — c'est la hiérarchie de permissions de l'application, pas une anomalie.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Responsable Stock/Achats et Fournisseurs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ÉTAPE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connecter à l'application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457200" cy="457200"/>
          </a:xfrm>
          <a:prstGeom prst="ellipse">
            <a:avLst/>
          </a:prstGeom>
          <a:solidFill>
            <a:srgbClr val="0F192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A9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6733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l'application dans votre navigateur (ordinateur, tablette ou téléphone).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457200" cy="457200"/>
          </a:xfrm>
          <a:prstGeom prst="ellipse">
            <a:avLst/>
          </a:prstGeom>
          <a:solidFill>
            <a:srgbClr val="0F192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A9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5877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Saisissez votre adresse professionnelle — format prenom.nom@boulangerie-lomoto.com.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520440"/>
            <a:ext cx="457200" cy="457200"/>
          </a:xfrm>
          <a:prstGeom prst="ellipse">
            <a:avLst/>
          </a:prstGeom>
          <a:solidFill>
            <a:srgbClr val="0F1923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A9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35021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Saisissez le mot de passe qui vous a été communiqué par l'Administrateur.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434840"/>
            <a:ext cx="457200" cy="457200"/>
          </a:xfrm>
          <a:prstGeom prst="ellipse">
            <a:avLst/>
          </a:prstGeom>
          <a:solidFill>
            <a:srgbClr val="0F1923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A9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44165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Se connecter ».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539496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F3E3C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4864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identifiant de connexion est toujours l'adresse professionnelle liée à votre fiche — vous ne pouvez pas la choisir ni la modifier vous-même.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2080260"/>
            <a:ext cx="56692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19" name="Image 0" descr="/tmp/claude-0/-home-user-Boulangerie/f122e8ab-b408-5ce6-930c-e0c5bddf9e4c/scratchpad/captures/stockachats/../caissiere/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171700"/>
            <a:ext cx="5486400" cy="34290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Responsable Stock/Achats et Fournisseurs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REPÉRER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menu et la navigation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09294" y="1371600"/>
            <a:ext cx="1650492" cy="5074920"/>
          </a:xfrm>
          <a:prstGeom prst="roundRect">
            <a:avLst>
              <a:gd name="adj" fmla="val 3324"/>
            </a:avLst>
          </a:prstGeom>
          <a:solidFill>
            <a:srgbClr val="FFFFFF"/>
          </a:solidFill>
          <a:ln w="12700">
            <a:solidFill>
              <a:srgbClr val="0F1923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tmp/claude-0/-home-user-Boulangerie/f122e8ab-b408-5ce6-930c-e0c5bddf9e4c/scratchpad/captures/stockachats/02-me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0734" y="1463040"/>
            <a:ext cx="1467612" cy="4892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977640" y="160020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DA9F4E"/>
          </a:solidFill>
          <a:ln/>
        </p:spPr>
      </p:sp>
      <p:sp>
        <p:nvSpPr>
          <p:cNvPr id="7" name="Text 4"/>
          <p:cNvSpPr/>
          <p:nvPr/>
        </p:nvSpPr>
        <p:spPr>
          <a:xfrm>
            <a:off x="4315968" y="1508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clair et cliquable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315968" y="1892808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et Fournisseurs (votre écriture), Tableau de bord, Produits, Rapports, Assistant, À propos.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977640" y="310896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8A8F98"/>
          </a:solidFill>
          <a:ln/>
        </p:spPr>
      </p:sp>
      <p:sp>
        <p:nvSpPr>
          <p:cNvPr id="10" name="Text 7"/>
          <p:cNvSpPr/>
          <p:nvPr/>
        </p:nvSpPr>
        <p:spPr>
          <a:xfrm>
            <a:off x="4315968" y="30175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Grisé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315968" y="3401568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de votre périmètre — Caisse, Commandes, Commissions, Production, Équipe, Travailleurs, Paramètres, Approbations, État système, Journal d'audit.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977640" y="5074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votre nom et votre rôle sont toujours visibles en bas de la barre latérale, avec le bouton « Se déconnecter ».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Responsable Stock/Achats et Fournisseurs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STOCKS — ÉCRITURE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Ajouter une matière première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806833"/>
            <a:ext cx="5577840" cy="4250174"/>
          </a:xfrm>
          <a:prstGeom prst="roundRect">
            <a:avLst>
              <a:gd name="adj" fmla="val 1291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tmp/claude-0/-home-user-Boulangerie/f122e8ab-b408-5ce6-930c-e0c5bddf9e4c/scratchpad/captures/stockachats/04-dialog-nouvelle-matie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98273"/>
            <a:ext cx="5394960" cy="40672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9360" y="1371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9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675120" y="137160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Matière première », en haut de l'écran Stocks.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09360" y="208483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9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75120" y="208483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Donnez un nom clair et l'unité de mesure (kg, L, sac, paquet, pièce…).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09360" y="2798064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9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75120" y="2798064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Fixez le seuil d'alerte — en dessous, la matière apparaît en « Sous le seuil » et déclenche le bandeau d'alerte du Tableau de bord.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309360" y="351129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9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75120" y="3511296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stock de départ (optionnel) est journalisé comme un premier mouvement « Stock initial ».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09360" y="4270248"/>
            <a:ext cx="5257800" cy="868680"/>
          </a:xfrm>
          <a:prstGeom prst="roundRect">
            <a:avLst>
              <a:gd name="adj" fmla="val 7368"/>
            </a:avLst>
          </a:prstGeom>
          <a:solidFill>
            <a:srgbClr val="F3E3C3"/>
          </a:solidFill>
          <a:ln/>
        </p:spPr>
      </p:sp>
      <p:sp>
        <p:nvSpPr>
          <p:cNvPr id="15" name="Text 12"/>
          <p:cNvSpPr/>
          <p:nvPr/>
        </p:nvSpPr>
        <p:spPr>
          <a:xfrm>
            <a:off x="6537960" y="436168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chiffré —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Levure chimique (poudre), unité kg, seuil d'alerte 1 kg, stock de départ 4 kg.
</a:t>
            </a:r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5B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 que le stock reste au-dessus de 1 kg, la matière s'affiche « OK ».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309360" y="5230368"/>
            <a:ext cx="5257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stock lui-même ne se modifie jamais depuis la fiche « Modifier » — seuls les mouvements d'entrée/sortie changent une quantité en stock.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Responsable Stock/Achats et Fournisseurs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STOCKS — ÉCRITURE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Enregistrer un mouvement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912203"/>
            <a:ext cx="5577840" cy="4039433"/>
          </a:xfrm>
          <a:prstGeom prst="roundRect">
            <a:avLst>
              <a:gd name="adj" fmla="val 1358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tmp/claude-0/-home-user-Boulangerie/f122e8ab-b408-5ce6-930c-e0c5bddf9e4c/scratchpad/captures/stockachats/05-dialog-mouv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03643"/>
            <a:ext cx="5394960" cy="38565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9360" y="1371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9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675120" y="137160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Entrée » ou « Sortie » selon le sens du mouvement.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09360" y="208483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9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75120" y="208483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la matière première concernée — le stock actuel s'affiche pour repère.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09360" y="2798064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9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75120" y="2798064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Saisissez la quantité et, si besoin, une référence libre (bon de livraison, casse, inventaire…).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309360" y="351129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9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75120" y="3511296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Enregistrez — le mouvement rejoint l'historique, qui n'est jamais modifié après coup.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09360" y="4270248"/>
            <a:ext cx="5257800" cy="868680"/>
          </a:xfrm>
          <a:prstGeom prst="roundRect">
            <a:avLst>
              <a:gd name="adj" fmla="val 7368"/>
            </a:avLst>
          </a:prstGeom>
          <a:solidFill>
            <a:srgbClr val="F3E3C3"/>
          </a:solidFill>
          <a:ln/>
        </p:spPr>
      </p:sp>
      <p:sp>
        <p:nvSpPr>
          <p:cNvPr id="15" name="Text 12"/>
          <p:cNvSpPr/>
          <p:nvPr/>
        </p:nvSpPr>
        <p:spPr>
          <a:xfrm>
            <a:off x="6537960" y="436168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chiffré —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de 1 kg de Sel, référence « Perte constatée à l'inventaire ».
</a:t>
            </a:r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5B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21,5 kg − 1 kg = 20,5 kg en stock, mouvement daté et signé automatiquement.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309360" y="5230368"/>
            <a:ext cx="5257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dialogue sert aux cas exceptionnels — casse, perte, correction d'inventaire. Production et réception mettent déjà le stock à jour automatiquement.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Responsable Stock/Achats et Fournisseurs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FOURNISSEURS — ÉCRITURE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Passer un bon de commande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596092"/>
            <a:ext cx="5577840" cy="4671655"/>
          </a:xfrm>
          <a:prstGeom prst="roundRect">
            <a:avLst>
              <a:gd name="adj" fmla="val 1174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tmp/claude-0/-home-user-Boulangerie/f122e8ab-b408-5ce6-930c-e0c5bddf9e4c/scratchpad/captures/stockachats/08-dialog-bon-comman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87532"/>
            <a:ext cx="5394960" cy="44887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9360" y="14173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9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675120" y="141732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Bon de commande », choisissez le fournisseur.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09360" y="22402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9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75120" y="224028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matière : sélectionnez-la, indiquez la quantité et le prix unitaire en Fc.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09360" y="30632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9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75120" y="306324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Ajouter une ligne » pour commander plusieurs matières en une seule fois — le total se calcule tout seul.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309360" y="3886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9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75120" y="38862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commande reste « En attente » tant qu'elle n'est pas réceptionnée — le stock n'est pas encore touché.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09360" y="475488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F3E3C3"/>
          </a:solidFill>
          <a:ln/>
        </p:spPr>
      </p:sp>
      <p:sp>
        <p:nvSpPr>
          <p:cNvPr id="15" name="Text 12"/>
          <p:cNvSpPr/>
          <p:nvPr/>
        </p:nvSpPr>
        <p:spPr>
          <a:xfrm>
            <a:off x="6537960" y="484632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chiffré —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reconstitution du stock critique chez Ets Kivu Distribution :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5B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kg Beurre × 3.200 = 48.000 · 20 kg Sucre × 2.400 = 48.000 · 100 pièce Œufs × 350 = 35.000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5B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131.000 Fc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Responsable Stock/Achats et Fournisseurs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FOURNISSEURS — ÉCRITURE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Réceptionner une commande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2396907"/>
            <a:ext cx="5577840" cy="3070027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tmp/claude-0/-home-user-Boulangerie/f122e8ab-b408-5ce6-930c-e0c5bddf9e4c/scratchpad/captures/stockachats/09-dialog-recep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488347"/>
            <a:ext cx="5394960" cy="28871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9360" y="1463040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« Commandes en attente », cliquez sur « Marquer reçue ». L'application récapitule les quantités qui seront ajoutées au stock, ligne par ligne.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309360" y="260604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3E3C3"/>
          </a:solidFill>
          <a:ln/>
        </p:spPr>
      </p:sp>
      <p:sp>
        <p:nvSpPr>
          <p:cNvPr id="8" name="Text 5"/>
          <p:cNvSpPr/>
          <p:nvPr/>
        </p:nvSpPr>
        <p:spPr>
          <a:xfrm>
            <a:off x="6537960" y="2715768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 à éviter —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réception incrémente le stock avec les quantités du bon d'origine, pas ce qui a été physiquement compté à la livraison.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livraison ne correspond pas au bon, signalez l'écart au fournisseur et corrigez le bon avant de confirmer — sinon le stock affichera un chiffre faux.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09360" y="425196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la réception est définitif — la commande passe « Reçue » et les mouvements d'entrée générés portent la commande comme référence.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Responsable Stock/Achats et Fournisseurs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RESTER INFORMÉ(E)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 en temps réel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cloche en haut à droite affiche un badge dès qu'une réception de commande ou un mouvement de stock est enregistré — le vôtre comme celui de vos supérieurs.</a:t>
            </a:r>
            <a:endParaRPr lang="en-US" sz="1300" dirty="0"/>
          </a:p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Tableau de bord, lui, résume en permanence les matières sous le seuil et les commandes en attente : c'est votre premier réflexe en arrivant.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4178808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4114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Tout lire » marque toutes les notifications comme vues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4581144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45171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à installer : ça fonctionne tant que vous êtes connecté(e)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2080260"/>
            <a:ext cx="56692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/tmp/claude-0/-home-user-Boulangerie/f122e8ab-b408-5ce6-930c-e0c5bddf9e4c/scratchpad/captures/stockachats/11-notifications-ouver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171700"/>
            <a:ext cx="548640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Responsable Stock/Achats et Fournisseurs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D'AIDE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Écrire à un Administrateur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Assistant, écrivez votre question dans la zone de texte en bas de l'écran puis cliquez sur « Envoyer ». Vous pouvez aussi joindre une capture d'écran pour montrer exactement ce que vous voyez.</a:t>
            </a:r>
            <a:endParaRPr lang="en-US" sz="1300" dirty="0"/>
          </a:p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message part directement à la file des Administrateurs — n'importe lequel des trois comptes Admin peut vous répondre, en temps réel, comme dans l'exemple ci-contre sur un écart de livraison.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4270248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conversation active à la fois, tout l'historique reste visible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4672584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46085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pour toute question sur une règle de saisie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2080260"/>
            <a:ext cx="56692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/tmp/claude-0/-home-user-Boulangerie/f122e8ab-b408-5ce6-930c-e0c5bddf9e4c/scratchpad/captures/stockachats/12-assistant-convers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171700"/>
            <a:ext cx="548640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Responsable Stock/Achats et Fournisseurs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HISTORIQUE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Consulter vos rapports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L'écran Rapports affiche votre propre journal d'activité — chaque mouvement de stock, chaque bon de commande passé ou réceptionné, avec la date et un résumé clair.</a:t>
            </a:r>
            <a:endParaRPr lang="en-US" sz="1300" dirty="0"/>
          </a:p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Filtrez par type d'action ou par période, puis imprimez ou téléchargez en PDF pour vos archives.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4041648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strictement personnel — pas de subordonné à votre poste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4443984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43799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ligne indique quand et un résumé chiffré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2080260"/>
            <a:ext cx="56692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/tmp/claude-0/-home-user-Boulangerie/f122e8ab-b408-5ce6-930c-e0c5bddf9e4c/scratchpad/captures/stockachats/13-rapports-personn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171700"/>
            <a:ext cx="548640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Responsable Stock/Achats et Fournisseurs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A9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 routine quotidienne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35075" y="3451860"/>
            <a:ext cx="9321546" cy="0"/>
          </a:xfrm>
          <a:prstGeom prst="line">
            <a:avLst/>
          </a:prstGeom>
          <a:noFill/>
          <a:ln w="19050">
            <a:solidFill>
              <a:srgbClr val="DA9F4E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000735" y="3017520"/>
            <a:ext cx="868680" cy="868680"/>
          </a:xfrm>
          <a:prstGeom prst="ellipse">
            <a:avLst/>
          </a:prstGeom>
          <a:solidFill>
            <a:srgbClr val="1C2B3A"/>
          </a:solidFill>
          <a:ln w="25400">
            <a:solidFill>
              <a:srgbClr val="DA9F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0735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dirty="0">
                <a:solidFill>
                  <a:srgbClr val="000000"/>
                </a:solidFill>
              </a:rPr>
              <a:t>🔑</a:t>
            </a:r>
            <a:endParaRPr lang="en-US" sz="2280" dirty="0"/>
          </a:p>
        </p:txBody>
      </p:sp>
      <p:sp>
        <p:nvSpPr>
          <p:cNvPr id="7" name="Shape 5"/>
          <p:cNvSpPr/>
          <p:nvPr/>
        </p:nvSpPr>
        <p:spPr>
          <a:xfrm>
            <a:off x="1649959" y="2926080"/>
            <a:ext cx="310896" cy="310896"/>
          </a:xfrm>
          <a:prstGeom prst="ellipse">
            <a:avLst/>
          </a:prstGeom>
          <a:solidFill>
            <a:srgbClr val="DA9F4E"/>
          </a:solidFill>
          <a:ln w="19050">
            <a:solidFill>
              <a:srgbClr val="0F19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9959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4114800"/>
            <a:ext cx="1864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4480560"/>
            <a:ext cx="16814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professionnelle + mot de passe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65044" y="3017520"/>
            <a:ext cx="868680" cy="868680"/>
          </a:xfrm>
          <a:prstGeom prst="ellipse">
            <a:avLst/>
          </a:prstGeom>
          <a:solidFill>
            <a:srgbClr val="1C2B3A"/>
          </a:solidFill>
          <a:ln w="25400">
            <a:solidFill>
              <a:srgbClr val="DA9F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65044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dirty="0">
                <a:solidFill>
                  <a:srgbClr val="000000"/>
                </a:solidFill>
              </a:rPr>
              <a:t>📦</a:t>
            </a:r>
            <a:endParaRPr lang="en-US" sz="2280" dirty="0"/>
          </a:p>
        </p:txBody>
      </p:sp>
      <p:sp>
        <p:nvSpPr>
          <p:cNvPr id="13" name="Shape 11"/>
          <p:cNvSpPr/>
          <p:nvPr/>
        </p:nvSpPr>
        <p:spPr>
          <a:xfrm>
            <a:off x="3514268" y="2926080"/>
            <a:ext cx="310896" cy="310896"/>
          </a:xfrm>
          <a:prstGeom prst="ellipse">
            <a:avLst/>
          </a:prstGeom>
          <a:solidFill>
            <a:srgbClr val="DA9F4E"/>
          </a:solidFill>
          <a:ln w="19050">
            <a:solidFill>
              <a:srgbClr val="0F19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4268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67229" y="4114800"/>
            <a:ext cx="1864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58669" y="4480560"/>
            <a:ext cx="16814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les matières sous le seuil d'alerte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29353" y="3017520"/>
            <a:ext cx="868680" cy="868680"/>
          </a:xfrm>
          <a:prstGeom prst="ellipse">
            <a:avLst/>
          </a:prstGeom>
          <a:solidFill>
            <a:srgbClr val="1C2B3A"/>
          </a:solidFill>
          <a:ln w="25400">
            <a:solidFill>
              <a:srgbClr val="DA9F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9353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dirty="0">
                <a:solidFill>
                  <a:srgbClr val="000000"/>
                </a:solidFill>
              </a:rPr>
              <a:t>↕️</a:t>
            </a:r>
            <a:endParaRPr lang="en-US" sz="2280" dirty="0"/>
          </a:p>
        </p:txBody>
      </p:sp>
      <p:sp>
        <p:nvSpPr>
          <p:cNvPr id="19" name="Shape 17"/>
          <p:cNvSpPr/>
          <p:nvPr/>
        </p:nvSpPr>
        <p:spPr>
          <a:xfrm>
            <a:off x="5378577" y="2926080"/>
            <a:ext cx="310896" cy="310896"/>
          </a:xfrm>
          <a:prstGeom prst="ellipse">
            <a:avLst/>
          </a:prstGeom>
          <a:solidFill>
            <a:srgbClr val="DA9F4E"/>
          </a:solidFill>
          <a:ln w="19050">
            <a:solidFill>
              <a:srgbClr val="0F19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8577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31538" y="4114800"/>
            <a:ext cx="1864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Mouvements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22978" y="4480560"/>
            <a:ext cx="16814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Entrées/sorties exceptionnelles, avec référence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93662" y="3017520"/>
            <a:ext cx="868680" cy="868680"/>
          </a:xfrm>
          <a:prstGeom prst="ellipse">
            <a:avLst/>
          </a:prstGeom>
          <a:solidFill>
            <a:srgbClr val="1C2B3A"/>
          </a:solidFill>
          <a:ln w="25400">
            <a:solidFill>
              <a:srgbClr val="DA9F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93662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dirty="0">
                <a:solidFill>
                  <a:srgbClr val="000000"/>
                </a:solidFill>
              </a:rPr>
              <a:t>🚚</a:t>
            </a:r>
            <a:endParaRPr lang="en-US" sz="2280" dirty="0"/>
          </a:p>
        </p:txBody>
      </p:sp>
      <p:sp>
        <p:nvSpPr>
          <p:cNvPr id="25" name="Shape 23"/>
          <p:cNvSpPr/>
          <p:nvPr/>
        </p:nvSpPr>
        <p:spPr>
          <a:xfrm>
            <a:off x="7242886" y="2926080"/>
            <a:ext cx="310896" cy="310896"/>
          </a:xfrm>
          <a:prstGeom prst="ellipse">
            <a:avLst/>
          </a:prstGeom>
          <a:solidFill>
            <a:srgbClr val="DA9F4E"/>
          </a:solidFill>
          <a:ln w="19050">
            <a:solidFill>
              <a:srgbClr val="0F19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42886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95848" y="4114800"/>
            <a:ext cx="1864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87288" y="4480560"/>
            <a:ext cx="16814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Bons de commande fournisseurs, multi-lignes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457971" y="3017520"/>
            <a:ext cx="868680" cy="868680"/>
          </a:xfrm>
          <a:prstGeom prst="ellipse">
            <a:avLst/>
          </a:prstGeom>
          <a:solidFill>
            <a:srgbClr val="1C2B3A"/>
          </a:solidFill>
          <a:ln w="25400">
            <a:solidFill>
              <a:srgbClr val="DA9F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57971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dirty="0">
                <a:solidFill>
                  <a:srgbClr val="000000"/>
                </a:solidFill>
              </a:rPr>
              <a:t>✅</a:t>
            </a:r>
            <a:endParaRPr lang="en-US" sz="2280" dirty="0"/>
          </a:p>
        </p:txBody>
      </p:sp>
      <p:sp>
        <p:nvSpPr>
          <p:cNvPr id="31" name="Shape 29"/>
          <p:cNvSpPr/>
          <p:nvPr/>
        </p:nvSpPr>
        <p:spPr>
          <a:xfrm>
            <a:off x="9107195" y="2926080"/>
            <a:ext cx="310896" cy="310896"/>
          </a:xfrm>
          <a:prstGeom prst="ellipse">
            <a:avLst/>
          </a:prstGeom>
          <a:solidFill>
            <a:srgbClr val="DA9F4E"/>
          </a:solidFill>
          <a:ln w="19050">
            <a:solidFill>
              <a:srgbClr val="0F19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07195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960157" y="4114800"/>
            <a:ext cx="1864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51597" y="4480560"/>
            <a:ext cx="16814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la livraison avant de confirmer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322281" y="3017520"/>
            <a:ext cx="868680" cy="868680"/>
          </a:xfrm>
          <a:prstGeom prst="ellipse">
            <a:avLst/>
          </a:prstGeom>
          <a:solidFill>
            <a:srgbClr val="1C2B3A"/>
          </a:solidFill>
          <a:ln w="25400">
            <a:solidFill>
              <a:srgbClr val="DA9F4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22281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dirty="0">
                <a:solidFill>
                  <a:srgbClr val="000000"/>
                </a:solidFill>
              </a:rPr>
              <a:t>📊</a:t>
            </a:r>
            <a:endParaRPr lang="en-US" sz="2280" dirty="0"/>
          </a:p>
        </p:txBody>
      </p:sp>
      <p:sp>
        <p:nvSpPr>
          <p:cNvPr id="37" name="Shape 35"/>
          <p:cNvSpPr/>
          <p:nvPr/>
        </p:nvSpPr>
        <p:spPr>
          <a:xfrm>
            <a:off x="10971505" y="2926080"/>
            <a:ext cx="310896" cy="310896"/>
          </a:xfrm>
          <a:prstGeom prst="ellipse">
            <a:avLst/>
          </a:prstGeom>
          <a:solidFill>
            <a:srgbClr val="DA9F4E"/>
          </a:solidFill>
          <a:ln w="19050">
            <a:solidFill>
              <a:srgbClr val="0F19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971505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824466" y="4114800"/>
            <a:ext cx="1864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915906" y="4480560"/>
            <a:ext cx="16814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de votre journée, export si besoin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Responsable Stock/Achats et Fournisseurs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oulangerie/apps/web/public/logo-lomo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5768" y="1371600"/>
            <a:ext cx="1280160" cy="128016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346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!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1981048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question, un doute sur un écran ? Ouvrez l'Assistant et écrivez à un Administrateur.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998568" y="4434840"/>
            <a:ext cx="2194560" cy="0"/>
          </a:xfrm>
          <a:prstGeom prst="line">
            <a:avLst/>
          </a:prstGeom>
          <a:noFill/>
          <a:ln w="12700">
            <a:solidFill>
              <a:srgbClr val="DA9F4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6634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A9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Boulangerie Lomoto · « Pain Lia o Tonda »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Responsable Stock/Achats et Fournisseurs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 utilisateur — Responsable Stock/Achats et Fournisseurs</dc:title>
  <dc:subject>PptxGenJS Presentation</dc:subject>
  <dc:creator>Boulangerie Lomoto</dc:creator>
  <cp:lastModifiedBy>Boulangerie Lomoto</cp:lastModifiedBy>
  <cp:revision>1</cp:revision>
  <dcterms:created xsi:type="dcterms:W3CDTF">2026-08-07T01:03:26Z</dcterms:created>
  <dcterms:modified xsi:type="dcterms:W3CDTF">2026-08-07T01:03:26Z</dcterms:modified>
</cp:coreProperties>
</file>